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" name="Picture 2" descr="sqlserver.png">
            <a:extLst>
              <a:ext uri="{FF2B5EF4-FFF2-40B4-BE49-F238E27FC236}">
                <a16:creationId xmlns:a16="http://schemas.microsoft.com/office/drawing/2014/main" id="{32FD20CA-7083-AF8D-CE90-2D36A48E7459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2193" t="4481" r="3658" b="6674"/>
          <a:stretch>
            <a:fillRect/>
          </a:stretch>
        </p:blipFill>
        <p:spPr bwMode="auto">
          <a:xfrm>
            <a:off x="131736" y="1619573"/>
            <a:ext cx="6540285" cy="166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SQL Server provides a variety of data types, each with unique strengths and limitations.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SQL Server Data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b="1" dirty="0"/>
              <a:t>Numeric</a:t>
            </a:r>
            <a:r>
              <a:rPr sz="1800" dirty="0"/>
              <a:t> data types are used to store numbers. There are several different numeric data types available, each with its own range and precision. The most common numeric data types are:</a:t>
            </a:r>
          </a:p>
          <a:p>
            <a:pPr lvl="1"/>
            <a:r>
              <a:rPr sz="1800" b="1" dirty="0"/>
              <a:t>INT</a:t>
            </a:r>
            <a:r>
              <a:rPr sz="1800" dirty="0"/>
              <a:t> - Stores whole numbers from -2147483648 to 2147483647.</a:t>
            </a:r>
          </a:p>
          <a:p>
            <a:pPr lvl="2"/>
            <a:r>
              <a:rPr sz="1400" b="1" dirty="0"/>
              <a:t>Example:</a:t>
            </a:r>
            <a:r>
              <a:rPr sz="1400" dirty="0"/>
              <a:t> </a:t>
            </a:r>
            <a:r>
              <a:rPr sz="1400" dirty="0">
                <a:latin typeface="Courier"/>
              </a:rPr>
              <a:t>quantity INT</a:t>
            </a:r>
            <a:r>
              <a:rPr sz="1400" dirty="0"/>
              <a:t>.</a:t>
            </a:r>
          </a:p>
          <a:p>
            <a:pPr lvl="1"/>
            <a:r>
              <a:rPr sz="1800" b="1" dirty="0"/>
              <a:t>BIGINT</a:t>
            </a:r>
            <a:r>
              <a:rPr sz="1800" dirty="0"/>
              <a:t> - Stores whole numbers from -9223372036854775808 to 9223372036854775807.</a:t>
            </a:r>
          </a:p>
          <a:p>
            <a:pPr lvl="2"/>
            <a:r>
              <a:rPr sz="1400" b="1" dirty="0"/>
              <a:t>Example:</a:t>
            </a:r>
            <a:r>
              <a:rPr sz="1400" dirty="0"/>
              <a:t> </a:t>
            </a:r>
            <a:r>
              <a:rPr sz="1400" dirty="0" err="1">
                <a:latin typeface="Courier"/>
              </a:rPr>
              <a:t>employee_id</a:t>
            </a:r>
            <a:r>
              <a:rPr sz="1400" dirty="0">
                <a:latin typeface="Courier"/>
              </a:rPr>
              <a:t> BIGINT</a:t>
            </a:r>
            <a:r>
              <a:rPr sz="1400" dirty="0"/>
              <a:t>.</a:t>
            </a:r>
          </a:p>
          <a:p>
            <a:pPr lvl="1"/>
            <a:r>
              <a:rPr sz="1800" b="1" dirty="0"/>
              <a:t>DECIMAL - Stores exact numbers with fixed precision and scale. For example, DECIMAL(5,2) can store values from -999.99 to 999.99.</a:t>
            </a:r>
            <a:r>
              <a:rPr sz="1800" dirty="0"/>
              <a:t/>
            </a:r>
          </a:p>
          <a:p>
            <a:pPr lvl="2"/>
            <a:r>
              <a:rPr sz="1400" b="1" dirty="0"/>
              <a:t>Example:</a:t>
            </a:r>
            <a:r>
              <a:rPr sz="1400" dirty="0"/>
              <a:t> </a:t>
            </a:r>
            <a:r>
              <a:rPr sz="1400" dirty="0">
                <a:latin typeface="Courier"/>
              </a:rPr>
              <a:t>price DECIMAL(10,2)</a:t>
            </a:r>
            <a:r>
              <a:rPr sz="1400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Commonly used data types: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1"/>
            <a:r>
              <a:rPr sz="1800" b="1" dirty="0"/>
              <a:t>NUMERIC - A synonym for DECIMAL; stores exact numbers with fixed precision and scale.</a:t>
            </a:r>
            <a:r>
              <a:rPr sz="1800" dirty="0"/>
              <a:t/>
            </a:r>
          </a:p>
          <a:p>
            <a:pPr lvl="2"/>
            <a:r>
              <a:rPr sz="1400" b="1" dirty="0"/>
              <a:t>Example:</a:t>
            </a:r>
            <a:r>
              <a:rPr sz="1400" dirty="0"/>
              <a:t> </a:t>
            </a:r>
            <a:r>
              <a:rPr sz="1400" dirty="0">
                <a:latin typeface="Courier"/>
              </a:rPr>
              <a:t>quantity NUMERIC(7,2)</a:t>
            </a:r>
            <a:r>
              <a:rPr sz="1400" dirty="0"/>
              <a:t>.</a:t>
            </a:r>
          </a:p>
          <a:p>
            <a:pPr lvl="1"/>
            <a:r>
              <a:rPr sz="1800" b="1" dirty="0"/>
              <a:t>FLOAT</a:t>
            </a:r>
            <a:r>
              <a:rPr sz="1800" dirty="0"/>
              <a:t> - Stores floating-point numbers.</a:t>
            </a:r>
          </a:p>
          <a:p>
            <a:pPr lvl="2"/>
            <a:r>
              <a:rPr sz="1400" b="1" dirty="0"/>
              <a:t>Example:</a:t>
            </a:r>
            <a:r>
              <a:rPr sz="1400" dirty="0"/>
              <a:t> </a:t>
            </a:r>
            <a:r>
              <a:rPr sz="1400" dirty="0">
                <a:latin typeface="Courier"/>
              </a:rPr>
              <a:t>temperature FLOAT</a:t>
            </a:r>
            <a:r>
              <a:rPr sz="1400" dirty="0"/>
              <a:t>.</a:t>
            </a:r>
          </a:p>
          <a:p>
            <a:pPr lvl="0"/>
            <a:r>
              <a:rPr sz="1800" b="1" dirty="0"/>
              <a:t>Date and Time</a:t>
            </a:r>
            <a:r>
              <a:rPr sz="1800" dirty="0"/>
              <a:t> data types are used to store dates and times. The most common date and time data types are:</a:t>
            </a:r>
          </a:p>
          <a:p>
            <a:pPr lvl="1"/>
            <a:r>
              <a:rPr sz="1800" b="1" dirty="0"/>
              <a:t>DATE</a:t>
            </a:r>
            <a:r>
              <a:rPr sz="1800" dirty="0"/>
              <a:t> - Stores a date in the format YYYY-MM-DD.</a:t>
            </a:r>
          </a:p>
          <a:p>
            <a:pPr lvl="2"/>
            <a:r>
              <a:rPr sz="1400" b="1" dirty="0"/>
              <a:t>Example:</a:t>
            </a:r>
            <a:r>
              <a:rPr sz="1400" dirty="0"/>
              <a:t> </a:t>
            </a:r>
            <a:r>
              <a:rPr sz="1400" dirty="0">
                <a:latin typeface="Courier"/>
              </a:rPr>
              <a:t>birthdate DATE</a:t>
            </a:r>
            <a:r>
              <a:rPr sz="1400" dirty="0"/>
              <a:t>.</a:t>
            </a:r>
          </a:p>
          <a:p>
            <a:pPr lvl="1"/>
            <a:r>
              <a:rPr sz="1800" b="1" dirty="0"/>
              <a:t>DATETIME</a:t>
            </a:r>
            <a:r>
              <a:rPr sz="1800" dirty="0"/>
              <a:t> - Stores a date and time without </a:t>
            </a:r>
            <a:r>
              <a:rPr sz="1800" dirty="0" err="1"/>
              <a:t>timezone</a:t>
            </a:r>
            <a:r>
              <a:rPr sz="1800" dirty="0"/>
              <a:t> in the format YYYY-MM-DD HH:MM:SS.</a:t>
            </a:r>
          </a:p>
          <a:p>
            <a:pPr lvl="2"/>
            <a:r>
              <a:rPr sz="1400" b="1" dirty="0"/>
              <a:t>Example:</a:t>
            </a:r>
            <a:r>
              <a:rPr sz="1400" dirty="0"/>
              <a:t> </a:t>
            </a:r>
            <a:r>
              <a:rPr sz="1400" dirty="0" err="1">
                <a:latin typeface="Courier"/>
              </a:rPr>
              <a:t>created_at</a:t>
            </a:r>
            <a:r>
              <a:rPr sz="1400" dirty="0">
                <a:latin typeface="Courier"/>
              </a:rPr>
              <a:t> DATETIME</a:t>
            </a:r>
            <a:r>
              <a:rPr sz="1400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Commonly used data types: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1"/>
            <a:r>
              <a:rPr sz="1800" b="1" dirty="0"/>
              <a:t>SMALLDATETIME</a:t>
            </a:r>
            <a:r>
              <a:rPr sz="1800" dirty="0"/>
              <a:t> - Stores a date and time in the format YYYY-MM-DD HH:MM.</a:t>
            </a:r>
          </a:p>
          <a:p>
            <a:pPr lvl="2"/>
            <a:r>
              <a:rPr sz="1400" b="1" dirty="0"/>
              <a:t>Example:</a:t>
            </a:r>
            <a:r>
              <a:rPr sz="1400" dirty="0"/>
              <a:t> </a:t>
            </a:r>
            <a:r>
              <a:rPr sz="1400" dirty="0" err="1">
                <a:latin typeface="Courier"/>
              </a:rPr>
              <a:t>order_date</a:t>
            </a:r>
            <a:r>
              <a:rPr sz="1400" dirty="0">
                <a:latin typeface="Courier"/>
              </a:rPr>
              <a:t> SMALLDATETIME</a:t>
            </a:r>
            <a:r>
              <a:rPr sz="1400" dirty="0"/>
              <a:t>.</a:t>
            </a:r>
          </a:p>
          <a:p>
            <a:pPr lvl="1"/>
            <a:r>
              <a:rPr sz="1800" b="1" dirty="0"/>
              <a:t>DATETIMEOFFSET</a:t>
            </a:r>
            <a:r>
              <a:rPr sz="1800" dirty="0"/>
              <a:t> - Stores a date and time with </a:t>
            </a:r>
            <a:r>
              <a:rPr sz="1800" dirty="0" err="1"/>
              <a:t>timezone</a:t>
            </a:r>
            <a:r>
              <a:rPr sz="1800" dirty="0"/>
              <a:t> in the format YYYY-MM-DD HH:MM:SS+TZ.</a:t>
            </a:r>
          </a:p>
          <a:p>
            <a:pPr lvl="2"/>
            <a:r>
              <a:rPr sz="1400" b="1" dirty="0"/>
              <a:t>Example:</a:t>
            </a:r>
            <a:r>
              <a:rPr sz="1400" dirty="0"/>
              <a:t> </a:t>
            </a:r>
            <a:r>
              <a:rPr sz="1400" dirty="0" err="1">
                <a:latin typeface="Courier"/>
              </a:rPr>
              <a:t>updated_at</a:t>
            </a:r>
            <a:r>
              <a:rPr sz="1400" dirty="0">
                <a:latin typeface="Courier"/>
              </a:rPr>
              <a:t> DATETIMEOFFSET</a:t>
            </a:r>
            <a:r>
              <a:rPr sz="1400" dirty="0"/>
              <a:t>.</a:t>
            </a:r>
          </a:p>
          <a:p>
            <a:pPr lvl="1"/>
            <a:r>
              <a:rPr sz="1800" b="1" dirty="0"/>
              <a:t>TIME</a:t>
            </a:r>
            <a:r>
              <a:rPr sz="1800" dirty="0"/>
              <a:t> - Stores a time of day.</a:t>
            </a:r>
          </a:p>
          <a:p>
            <a:pPr lvl="2"/>
            <a:r>
              <a:rPr sz="1400" b="1" dirty="0"/>
              <a:t>Example:</a:t>
            </a:r>
            <a:r>
              <a:rPr sz="1400" dirty="0"/>
              <a:t> </a:t>
            </a:r>
            <a:r>
              <a:rPr sz="1400" dirty="0" err="1">
                <a:latin typeface="Courier"/>
              </a:rPr>
              <a:t>appointment_time</a:t>
            </a:r>
            <a:r>
              <a:rPr sz="1400" dirty="0">
                <a:latin typeface="Courier"/>
              </a:rPr>
              <a:t> TIME</a:t>
            </a:r>
            <a:r>
              <a:rPr sz="1400" dirty="0"/>
              <a:t>.</a:t>
            </a:r>
          </a:p>
          <a:p>
            <a:pPr lvl="1"/>
            <a:r>
              <a:rPr sz="1800" b="1" dirty="0"/>
              <a:t>DATETIME2</a:t>
            </a:r>
            <a:r>
              <a:rPr sz="1800" dirty="0"/>
              <a:t> - Stores a date and time with more precision than DATETIME.</a:t>
            </a:r>
          </a:p>
          <a:p>
            <a:pPr lvl="2"/>
            <a:r>
              <a:rPr sz="1400" b="1" dirty="0"/>
              <a:t>Example:</a:t>
            </a:r>
            <a:r>
              <a:rPr sz="1400" dirty="0"/>
              <a:t> </a:t>
            </a:r>
            <a:r>
              <a:rPr sz="1400" dirty="0">
                <a:latin typeface="Courier"/>
              </a:rPr>
              <a:t>timestamp DATETIME2</a:t>
            </a:r>
            <a:r>
              <a:rPr sz="1400" dirty="0"/>
              <a:t>.</a:t>
            </a:r>
          </a:p>
          <a:p>
            <a:pPr lvl="0"/>
            <a:r>
              <a:rPr sz="1800" b="1" dirty="0"/>
              <a:t>String</a:t>
            </a:r>
            <a:r>
              <a:rPr sz="1800" dirty="0"/>
              <a:t> data types are used to store text. The most common string data types are:</a:t>
            </a:r>
          </a:p>
          <a:p>
            <a:pPr lvl="1"/>
            <a:r>
              <a:rPr sz="1800" b="1" dirty="0"/>
              <a:t>CHAR(n)</a:t>
            </a:r>
            <a:r>
              <a:rPr sz="1800" dirty="0"/>
              <a:t> - Stores a fixed-length string of length n. </a:t>
            </a:r>
          </a:p>
          <a:p>
            <a:pPr lvl="2"/>
            <a:r>
              <a:rPr sz="1400" b="1" dirty="0"/>
              <a:t>Example:</a:t>
            </a:r>
            <a:r>
              <a:rPr sz="1400" dirty="0"/>
              <a:t> </a:t>
            </a:r>
            <a:r>
              <a:rPr sz="1400" dirty="0" err="1">
                <a:latin typeface="Courier"/>
              </a:rPr>
              <a:t>country_code</a:t>
            </a:r>
            <a:r>
              <a:rPr sz="1400" dirty="0">
                <a:latin typeface="Courier"/>
              </a:rPr>
              <a:t> CHAR(2)</a:t>
            </a:r>
            <a:r>
              <a:rPr sz="1400" dirty="0"/>
              <a:t>.</a:t>
            </a:r>
            <a:endParaRPr lang="en-IN" sz="1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Commonly used data types: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1"/>
            <a:r>
              <a:rPr lang="en-IN" sz="1800" b="1" dirty="0"/>
              <a:t>VARCHAR(n)</a:t>
            </a:r>
            <a:r>
              <a:rPr lang="en-IN" sz="1800" dirty="0"/>
              <a:t> - Stores a variable-length string with a maximum length of n. </a:t>
            </a:r>
          </a:p>
          <a:p>
            <a:pPr lvl="2"/>
            <a:r>
              <a:rPr lang="en-IN" sz="1400" b="1" dirty="0"/>
              <a:t>Example:</a:t>
            </a:r>
            <a:r>
              <a:rPr lang="en-IN" sz="1400" dirty="0"/>
              <a:t> </a:t>
            </a:r>
            <a:r>
              <a:rPr lang="en-IN" sz="1400" dirty="0">
                <a:latin typeface="Courier"/>
              </a:rPr>
              <a:t>name VARCHAR(50)</a:t>
            </a:r>
            <a:r>
              <a:rPr lang="en-IN" sz="1400" dirty="0"/>
              <a:t>.</a:t>
            </a:r>
          </a:p>
          <a:p>
            <a:pPr lvl="1"/>
            <a:r>
              <a:rPr lang="en-IN" sz="1800" b="1" dirty="0"/>
              <a:t>TEXT - Stores variable-length non-Unicode text up to 2^31-1 bytes. It is deprecated; use VARCHAR(MAX) for new development.</a:t>
            </a:r>
            <a:r>
              <a:rPr lang="en-IN" sz="1800" dirty="0"/>
              <a:t/>
            </a:r>
          </a:p>
          <a:p>
            <a:pPr lvl="2"/>
            <a:r>
              <a:rPr lang="en-IN" sz="1400" b="1" dirty="0"/>
              <a:t>Example:</a:t>
            </a:r>
            <a:r>
              <a:rPr lang="en-IN" sz="1400" dirty="0"/>
              <a:t> </a:t>
            </a:r>
            <a:r>
              <a:rPr lang="en-IN" sz="1400" dirty="0">
                <a:latin typeface="Courier"/>
              </a:rPr>
              <a:t>description TEXT</a:t>
            </a:r>
            <a:r>
              <a:rPr lang="en-IN" sz="1400" dirty="0"/>
              <a:t>.</a:t>
            </a:r>
          </a:p>
          <a:p>
            <a:pPr lvl="0"/>
            <a:r>
              <a:rPr lang="en-IN" sz="1800" b="1" dirty="0"/>
              <a:t>Binary</a:t>
            </a:r>
            <a:r>
              <a:rPr lang="en-IN" sz="1800" dirty="0"/>
              <a:t> data types are used to store binary data, such as images or files.</a:t>
            </a:r>
          </a:p>
          <a:p>
            <a:pPr lvl="1"/>
            <a:r>
              <a:rPr lang="en-IN" sz="1800" b="1" dirty="0"/>
              <a:t>BINARY</a:t>
            </a:r>
            <a:r>
              <a:rPr lang="en-IN" sz="1800" dirty="0"/>
              <a:t> - Stores a fixed-length binary string.</a:t>
            </a:r>
          </a:p>
          <a:p>
            <a:pPr lvl="2"/>
            <a:r>
              <a:rPr lang="en-IN" sz="1400" b="1" dirty="0"/>
              <a:t>Example:</a:t>
            </a:r>
            <a:r>
              <a:rPr lang="en-IN" sz="1400" dirty="0"/>
              <a:t> </a:t>
            </a:r>
            <a:r>
              <a:rPr lang="en-IN" sz="1400" dirty="0" err="1">
                <a:latin typeface="Courier"/>
              </a:rPr>
              <a:t>binary_data</a:t>
            </a:r>
            <a:r>
              <a:rPr lang="en-IN" sz="1400" dirty="0">
                <a:latin typeface="Courier"/>
              </a:rPr>
              <a:t> BINARY(10)</a:t>
            </a:r>
            <a:r>
              <a:rPr lang="en-IN" sz="1400" dirty="0"/>
              <a:t>.</a:t>
            </a:r>
          </a:p>
          <a:p>
            <a:pPr lvl="1"/>
            <a:r>
              <a:rPr lang="en-IN" sz="1800" b="1" dirty="0"/>
              <a:t>VARBINARY</a:t>
            </a:r>
            <a:r>
              <a:rPr lang="en-IN" sz="1800" dirty="0"/>
              <a:t> - Stores binary data in variable-length format.</a:t>
            </a:r>
          </a:p>
          <a:p>
            <a:pPr lvl="2"/>
            <a:r>
              <a:rPr lang="en-IN" sz="1400" b="1" dirty="0"/>
              <a:t>Example:</a:t>
            </a:r>
            <a:r>
              <a:rPr lang="en-IN" sz="1400" dirty="0"/>
              <a:t> </a:t>
            </a:r>
            <a:r>
              <a:rPr lang="en-IN" sz="1400" dirty="0">
                <a:latin typeface="Courier"/>
              </a:rPr>
              <a:t>image VARBINARY(MAX)</a:t>
            </a:r>
            <a:r>
              <a:rPr lang="en-IN" sz="1400" dirty="0"/>
              <a:t>.</a:t>
            </a:r>
          </a:p>
          <a:p>
            <a:pPr lvl="0"/>
            <a:r>
              <a:rPr lang="en-IN" sz="1800" b="1" dirty="0"/>
              <a:t>Additional Data types</a:t>
            </a:r>
            <a:r>
              <a:rPr lang="en-IN" sz="1800" dirty="0"/>
              <a:t> include:</a:t>
            </a:r>
          </a:p>
          <a:p>
            <a:pPr lvl="1"/>
            <a:r>
              <a:rPr lang="en-IN" sz="1800" b="1" dirty="0"/>
              <a:t>XML</a:t>
            </a:r>
            <a:r>
              <a:rPr lang="en-IN" sz="1800" dirty="0"/>
              <a:t> - Stores XML data.</a:t>
            </a:r>
          </a:p>
          <a:p>
            <a:pPr lvl="2"/>
            <a:r>
              <a:rPr lang="en-IN" sz="1400" b="1" dirty="0"/>
              <a:t>Example:</a:t>
            </a:r>
            <a:r>
              <a:rPr lang="en-IN" sz="1400" dirty="0"/>
              <a:t> </a:t>
            </a:r>
            <a:r>
              <a:rPr lang="en-IN" sz="1400" dirty="0">
                <a:latin typeface="Courier"/>
              </a:rPr>
              <a:t>document XML</a:t>
            </a:r>
            <a:r>
              <a:rPr lang="en-IN" sz="1400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Commonly used data types: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1"/>
            <a:r>
              <a:rPr lang="en-IN" sz="1800" b="1" dirty="0"/>
              <a:t>UNIQUEIDENTIFIER</a:t>
            </a:r>
            <a:r>
              <a:rPr lang="en-IN" sz="1800" dirty="0"/>
              <a:t> - Stores a globally unique identifier.</a:t>
            </a:r>
          </a:p>
          <a:p>
            <a:pPr lvl="2"/>
            <a:r>
              <a:rPr lang="en-IN" sz="1400" b="1" dirty="0"/>
              <a:t>Example:</a:t>
            </a:r>
            <a:r>
              <a:rPr lang="en-IN" sz="1400" dirty="0"/>
              <a:t> </a:t>
            </a:r>
            <a:r>
              <a:rPr lang="en-IN" sz="1400" dirty="0" err="1">
                <a:latin typeface="Courier"/>
              </a:rPr>
              <a:t>session_id</a:t>
            </a:r>
            <a:r>
              <a:rPr lang="en-IN" sz="1400" dirty="0">
                <a:latin typeface="Courier"/>
              </a:rPr>
              <a:t> UNIQUEIDENTIFIER</a:t>
            </a:r>
            <a:r>
              <a:rPr lang="en-IN" sz="1400" dirty="0"/>
              <a:t>.</a:t>
            </a:r>
          </a:p>
          <a:p>
            <a:pPr lvl="1"/>
            <a:r>
              <a:rPr lang="en-IN" sz="1800" b="1" dirty="0"/>
              <a:t>BIT</a:t>
            </a:r>
            <a:r>
              <a:rPr lang="en-IN" sz="1800" dirty="0"/>
              <a:t> - Stores true or false values(Boolean - 0 or 1).</a:t>
            </a:r>
          </a:p>
          <a:p>
            <a:pPr lvl="2"/>
            <a:r>
              <a:rPr lang="en-IN" sz="1400" b="1" dirty="0"/>
              <a:t>Example:</a:t>
            </a:r>
            <a:r>
              <a:rPr lang="en-IN" sz="1400" dirty="0"/>
              <a:t> </a:t>
            </a:r>
            <a:r>
              <a:rPr lang="en-IN" sz="1400" dirty="0" err="1">
                <a:latin typeface="Courier"/>
              </a:rPr>
              <a:t>is_active</a:t>
            </a:r>
            <a:r>
              <a:rPr lang="en-IN" sz="1400" dirty="0">
                <a:latin typeface="Courier"/>
              </a:rPr>
              <a:t> BIT</a:t>
            </a:r>
            <a:r>
              <a:rPr lang="en-IN" sz="1400" dirty="0"/>
              <a:t>.</a:t>
            </a:r>
          </a:p>
          <a:p>
            <a:pPr lvl="1"/>
            <a:r>
              <a:rPr lang="en-IN" sz="1800" b="1" dirty="0"/>
              <a:t>MONEY</a:t>
            </a:r>
            <a:r>
              <a:rPr lang="en-IN" sz="1800" dirty="0"/>
              <a:t> - Stores monetary values.</a:t>
            </a:r>
          </a:p>
          <a:p>
            <a:pPr lvl="2"/>
            <a:r>
              <a:rPr lang="en-IN" sz="1400" b="1" dirty="0"/>
              <a:t>Example:</a:t>
            </a:r>
            <a:r>
              <a:rPr lang="en-IN" sz="1400" dirty="0"/>
              <a:t> </a:t>
            </a:r>
            <a:r>
              <a:rPr lang="en-IN" sz="1400" dirty="0">
                <a:latin typeface="Courier"/>
              </a:rPr>
              <a:t>salary MONEY</a:t>
            </a:r>
            <a:r>
              <a:rPr lang="en-IN" sz="1400" dirty="0"/>
              <a:t>.</a:t>
            </a:r>
          </a:p>
          <a:p>
            <a:pPr lvl="1"/>
            <a:r>
              <a:rPr lang="en-IN" sz="1800" b="1" dirty="0"/>
              <a:t>SMALLMONEY</a:t>
            </a:r>
            <a:r>
              <a:rPr lang="en-IN" sz="1800" dirty="0"/>
              <a:t> - Stores monetary values with less precision than MONEY.</a:t>
            </a:r>
          </a:p>
          <a:p>
            <a:pPr lvl="2"/>
            <a:r>
              <a:rPr lang="en-IN" sz="1400" b="1" dirty="0"/>
              <a:t>Example:</a:t>
            </a:r>
            <a:r>
              <a:rPr lang="en-IN" sz="1400" dirty="0"/>
              <a:t> </a:t>
            </a:r>
            <a:r>
              <a:rPr lang="en-IN" sz="1400" dirty="0">
                <a:latin typeface="Courier"/>
              </a:rPr>
              <a:t>total SMALLMONEY</a:t>
            </a:r>
            <a:r>
              <a:rPr lang="en-IN" sz="1400" dirty="0"/>
              <a:t>.</a:t>
            </a:r>
          </a:p>
          <a:p>
            <a:pPr lvl="1"/>
            <a:r>
              <a:rPr lang="en-IN" sz="1800" b="1" dirty="0"/>
              <a:t>GEOGRAPHY</a:t>
            </a:r>
            <a:r>
              <a:rPr lang="en-IN" sz="1800" dirty="0"/>
              <a:t> - Stores geographic data.</a:t>
            </a:r>
          </a:p>
          <a:p>
            <a:pPr lvl="2"/>
            <a:r>
              <a:rPr lang="en-IN" sz="1400" b="1" dirty="0"/>
              <a:t>Example:</a:t>
            </a:r>
            <a:r>
              <a:rPr lang="en-IN" sz="1400" dirty="0"/>
              <a:t> </a:t>
            </a:r>
            <a:r>
              <a:rPr lang="en-IN" sz="1400" dirty="0">
                <a:latin typeface="Courier"/>
              </a:rPr>
              <a:t>location GEOGRAPHY</a:t>
            </a:r>
            <a:r>
              <a:rPr lang="en-IN" sz="1400" dirty="0"/>
              <a:t>.</a:t>
            </a:r>
          </a:p>
          <a:p>
            <a:pPr lvl="1"/>
            <a:r>
              <a:rPr lang="en-IN" sz="1800" b="1" dirty="0"/>
              <a:t>GEOMETRY</a:t>
            </a:r>
            <a:r>
              <a:rPr lang="en-IN" sz="1800" dirty="0"/>
              <a:t> - Stores geometric data.</a:t>
            </a:r>
          </a:p>
          <a:p>
            <a:pPr lvl="2"/>
            <a:r>
              <a:rPr lang="en-IN" sz="1400" b="1" dirty="0"/>
              <a:t>Example:</a:t>
            </a:r>
            <a:r>
              <a:rPr lang="en-IN" sz="1400" dirty="0"/>
              <a:t> </a:t>
            </a:r>
            <a:r>
              <a:rPr lang="en-IN" sz="1400" dirty="0">
                <a:latin typeface="Courier"/>
              </a:rPr>
              <a:t>shape GEOMETRY</a:t>
            </a:r>
            <a:r>
              <a:rPr lang="en-IN" sz="1400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Commonly used data types: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1"/>
            <a:r>
              <a:rPr lang="en-IN" sz="1800" b="1" dirty="0"/>
              <a:t>HIERARCHYID</a:t>
            </a:r>
            <a:r>
              <a:rPr lang="en-IN" sz="1800" dirty="0"/>
              <a:t> - Stores a hierarchical data, like organization structures.</a:t>
            </a:r>
          </a:p>
          <a:p>
            <a:pPr lvl="2"/>
            <a:r>
              <a:rPr lang="en-IN" sz="1400" b="1" dirty="0"/>
              <a:t>Example:</a:t>
            </a:r>
            <a:r>
              <a:rPr lang="en-IN" sz="1400" dirty="0"/>
              <a:t> </a:t>
            </a:r>
            <a:r>
              <a:rPr lang="en-IN" sz="1400" dirty="0" err="1">
                <a:latin typeface="Courier"/>
              </a:rPr>
              <a:t>node_hierarchy</a:t>
            </a:r>
            <a:r>
              <a:rPr lang="en-IN" sz="1400" dirty="0">
                <a:latin typeface="Courier"/>
              </a:rPr>
              <a:t> HIERARCHYID</a:t>
            </a:r>
            <a:r>
              <a:rPr lang="en-IN" sz="1400" dirty="0"/>
              <a:t>.</a:t>
            </a:r>
          </a:p>
          <a:p>
            <a:pPr lvl="1"/>
            <a:r>
              <a:rPr lang="en-IN" sz="1800" b="1" dirty="0"/>
              <a:t>ROWVERSION</a:t>
            </a:r>
            <a:r>
              <a:rPr lang="en-IN" sz="1800" dirty="0"/>
              <a:t> - Stores a unique binary number for versioning rows.</a:t>
            </a:r>
          </a:p>
          <a:p>
            <a:pPr lvl="2"/>
            <a:r>
              <a:rPr lang="en-IN" sz="1400" b="1" dirty="0"/>
              <a:t>Example:</a:t>
            </a:r>
            <a:r>
              <a:rPr lang="en-IN" sz="1400" dirty="0"/>
              <a:t> </a:t>
            </a:r>
            <a:r>
              <a:rPr lang="en-IN" sz="1400" dirty="0" err="1">
                <a:latin typeface="Courier"/>
              </a:rPr>
              <a:t>row_version</a:t>
            </a:r>
            <a:r>
              <a:rPr lang="en-IN" sz="1400" dirty="0">
                <a:latin typeface="Courier"/>
              </a:rPr>
              <a:t> ROWVERSION</a:t>
            </a:r>
            <a:r>
              <a:rPr lang="en-IN" sz="1400" dirty="0"/>
              <a:t>.</a:t>
            </a:r>
          </a:p>
          <a:p>
            <a:pPr lvl="1"/>
            <a:r>
              <a:rPr lang="en-IN" sz="1800" b="1" dirty="0"/>
              <a:t>CURSOR</a:t>
            </a:r>
            <a:r>
              <a:rPr lang="en-IN" sz="1800" dirty="0"/>
              <a:t> - Stores a cursor which is used to reference a cursor object for row-by-row operations.</a:t>
            </a:r>
          </a:p>
          <a:p>
            <a:pPr lvl="2"/>
            <a:r>
              <a:rPr lang="en-IN" sz="1400" b="1" dirty="0"/>
              <a:t>Example:</a:t>
            </a:r>
            <a:r>
              <a:rPr lang="en-IN" sz="1400" dirty="0"/>
              <a:t> </a:t>
            </a:r>
            <a:r>
              <a:rPr lang="en-IN" sz="1400" dirty="0" err="1">
                <a:latin typeface="Courier"/>
              </a:rPr>
              <a:t>cursor_data</a:t>
            </a:r>
            <a:r>
              <a:rPr lang="en-IN" sz="1400" dirty="0">
                <a:latin typeface="Courier"/>
              </a:rPr>
              <a:t> CURSOR</a:t>
            </a:r>
            <a:r>
              <a:rPr lang="en-IN" sz="1400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Commonly used data types: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