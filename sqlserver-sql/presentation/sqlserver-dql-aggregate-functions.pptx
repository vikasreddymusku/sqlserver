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5" r:id="rId5"/>
    <p:sldId id="260" r:id="rId6"/>
    <p:sldId id="266" r:id="rId7"/>
    <p:sldId id="261" r:id="rId8"/>
    <p:sldId id="267" r:id="rId9"/>
    <p:sldId id="262" r:id="rId10"/>
    <p:sldId id="268" r:id="rId11"/>
    <p:sldId id="263" r:id="rId12"/>
    <p:sldId id="269" r:id="rId13"/>
    <p:sldId id="270" r:id="rId14"/>
    <p:sldId id="271" r:id="rId15"/>
    <p:sldId id="272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226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3" name="Picture 2" descr="sqlserver.png">
            <a:extLst>
              <a:ext uri="{FF2B5EF4-FFF2-40B4-BE49-F238E27FC236}">
                <a16:creationId xmlns:a16="http://schemas.microsoft.com/office/drawing/2014/main" id="{AC49FCCE-B1DF-D7FC-4355-63E2B85FB109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l="2193" t="4481" r="3658" b="6674"/>
          <a:stretch>
            <a:fillRect/>
          </a:stretch>
        </p:blipFill>
        <p:spPr bwMode="auto">
          <a:xfrm>
            <a:off x="131736" y="1619573"/>
            <a:ext cx="6540285" cy="16663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/>
            <a:r>
              <a:rPr sz="1800" dirty="0"/>
              <a:t>Aggregate functions in SQL Server are used to perform calculations on a set of values and return a single value as a result.</a:t>
            </a:r>
          </a:p>
          <a:p>
            <a:pPr lvl="0"/>
            <a:r>
              <a:rPr sz="1800" dirty="0"/>
              <a:t>They allow you to derive summary statistics or perform calculations across multiple rows in a table.</a:t>
            </a:r>
          </a:p>
          <a:p>
            <a:pPr lvl="0"/>
            <a:r>
              <a:rPr sz="1800" dirty="0"/>
              <a:t>These functions can be combined with other clauses like GROUP BY, HAVING, and DISTINCT to perform more sophisticated analysis and summarization of data in SQL Server.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4511A5C-04F0-BB68-EDF4-6C70A6DAA6F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DQL - Aggregate Functions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7538C9-F36B-CADF-E005-64E75A5F6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446EE36-4866-2554-B087-09BA399F377D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/>
            <a:r>
              <a:rPr sz="1800" dirty="0"/>
              <a:t>Counts the number of rows in a result set.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Counts the number of rows in a emp table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COUNT</a:t>
            </a:r>
            <a:r>
              <a:rPr sz="1400" dirty="0">
                <a:latin typeface="Courier"/>
              </a:rPr>
              <a:t>(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total_employees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;</a:t>
            </a:r>
            <a:br>
              <a:rPr sz="1400" dirty="0"/>
            </a:b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Count the number of employees in each department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deptno</a:t>
            </a:r>
            <a:r>
              <a:rPr sz="1400" dirty="0">
                <a:latin typeface="Courier"/>
              </a:rPr>
              <a:t>,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COUNT</a:t>
            </a:r>
            <a:r>
              <a:rPr sz="1400" dirty="0">
                <a:latin typeface="Courier"/>
              </a:rPr>
              <a:t>(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num_employees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GROUP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deptno</a:t>
            </a:r>
            <a:r>
              <a:rPr sz="1400" dirty="0">
                <a:latin typeface="Courier"/>
              </a:rPr>
              <a:t>;</a:t>
            </a:r>
            <a:br>
              <a:rPr sz="1400" dirty="0"/>
            </a:b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Count the number of employees hired after 1985 in each department and</a:t>
            </a: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only display departments with more than 3 employees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deptno</a:t>
            </a:r>
            <a:r>
              <a:rPr sz="1400" dirty="0">
                <a:latin typeface="Courier"/>
              </a:rPr>
              <a:t>,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COUNT</a:t>
            </a:r>
            <a:r>
              <a:rPr sz="1400" dirty="0">
                <a:latin typeface="Courier"/>
              </a:rPr>
              <a:t>(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num_employees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204A87"/>
                </a:solidFill>
                <a:latin typeface="Courier"/>
              </a:rPr>
              <a:t>YEAR</a:t>
            </a:r>
            <a:r>
              <a:rPr sz="1400" dirty="0">
                <a:latin typeface="Courier"/>
              </a:rPr>
              <a:t>(</a:t>
            </a:r>
            <a:r>
              <a:rPr sz="1400" dirty="0" err="1">
                <a:latin typeface="Courier"/>
              </a:rPr>
              <a:t>hiredate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&gt;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1985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GROUP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deptno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HAVING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COUNT</a:t>
            </a:r>
            <a:r>
              <a:rPr sz="1400" dirty="0">
                <a:latin typeface="Courier"/>
              </a:rPr>
              <a:t>(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&gt;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3</a:t>
            </a:r>
            <a:r>
              <a:rPr sz="14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8219E9F-1FC1-EE22-E902-D4724B15BE2D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COUNT: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E36553-8879-EC7B-D252-BF1566AEA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617A1D2-9BAC-D779-CFFA-1F538F6415A6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2FF5B-8AAC-B5F7-6D54-84E629257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EC3C-22E6-12E4-EDCF-CEA5B3FBD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Identify the number of employees hired each year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204A87"/>
                </a:solidFill>
                <a:latin typeface="Courier"/>
              </a:rPr>
              <a:t>YEAR</a:t>
            </a:r>
            <a:r>
              <a:rPr sz="1400" dirty="0">
                <a:latin typeface="Courier"/>
              </a:rPr>
              <a:t>(</a:t>
            </a:r>
            <a:r>
              <a:rPr sz="1400" dirty="0" err="1">
                <a:latin typeface="Courier"/>
              </a:rPr>
              <a:t>hiredate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hire_year</a:t>
            </a:r>
            <a:r>
              <a:rPr sz="1400" dirty="0">
                <a:latin typeface="Courier"/>
              </a:rPr>
              <a:t>,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COUNT</a:t>
            </a:r>
            <a:r>
              <a:rPr sz="1400" dirty="0">
                <a:latin typeface="Courier"/>
              </a:rPr>
              <a:t>(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num_employees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GROUP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204A87"/>
                </a:solidFill>
                <a:latin typeface="Courier"/>
              </a:rPr>
              <a:t>YEAR</a:t>
            </a:r>
            <a:r>
              <a:rPr sz="1400" dirty="0">
                <a:latin typeface="Courier"/>
              </a:rPr>
              <a:t>(</a:t>
            </a:r>
            <a:r>
              <a:rPr sz="1400" dirty="0" err="1">
                <a:latin typeface="Courier"/>
              </a:rPr>
              <a:t>hiredate</a:t>
            </a:r>
            <a:r>
              <a:rPr sz="1400" dirty="0">
                <a:latin typeface="Courier"/>
              </a:rPr>
              <a:t>);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90E840A-B3BB-3DBC-EB94-428E4396D39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COUNT: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6CF55E-91C6-8772-E9C0-DDA76D1E5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A793DE1-A833-133B-99EB-7041D60D9A31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130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/>
            <a:r>
              <a:rPr sz="1800" dirty="0"/>
              <a:t>Calculates the sum of values in a numeric column.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Calculate the sum of salary of all employees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SUM</a:t>
            </a:r>
            <a:r>
              <a:rPr sz="1400" dirty="0">
                <a:latin typeface="Courier"/>
              </a:rPr>
              <a:t>(</a:t>
            </a:r>
            <a:r>
              <a:rPr sz="1400" dirty="0" err="1">
                <a:latin typeface="Courier"/>
              </a:rPr>
              <a:t>sal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total_salary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;</a:t>
            </a:r>
            <a:br>
              <a:rPr sz="1400" dirty="0"/>
            </a:b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Calculate the total salary budget for each department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deptno</a:t>
            </a:r>
            <a:r>
              <a:rPr sz="1400" dirty="0">
                <a:latin typeface="Courier"/>
              </a:rPr>
              <a:t>,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SUM</a:t>
            </a:r>
            <a:r>
              <a:rPr sz="1400" dirty="0">
                <a:latin typeface="Courier"/>
              </a:rPr>
              <a:t>(</a:t>
            </a:r>
            <a:r>
              <a:rPr sz="1400" dirty="0" err="1">
                <a:latin typeface="Courier"/>
              </a:rPr>
              <a:t>sal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total_salary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GROUP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deptno</a:t>
            </a:r>
            <a:r>
              <a:rPr sz="1400" dirty="0">
                <a:latin typeface="Courier"/>
              </a:rPr>
              <a:t>;</a:t>
            </a:r>
            <a:br>
              <a:rPr sz="1400" dirty="0"/>
            </a:b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Calculate the total salary budget for each department,</a:t>
            </a: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ordered by the total budget in descending order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deptno</a:t>
            </a:r>
            <a:r>
              <a:rPr sz="1400" dirty="0">
                <a:latin typeface="Courier"/>
              </a:rPr>
              <a:t>,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SUM</a:t>
            </a:r>
            <a:r>
              <a:rPr sz="1400" dirty="0">
                <a:latin typeface="Courier"/>
              </a:rPr>
              <a:t>(</a:t>
            </a:r>
            <a:r>
              <a:rPr sz="1400" dirty="0" err="1">
                <a:latin typeface="Courier"/>
              </a:rPr>
              <a:t>sal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total_salary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GROUP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deptno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ORDER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total_salary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DESC</a:t>
            </a:r>
            <a:r>
              <a:rPr sz="14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603B073-233C-9E87-B315-6749E39F36D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SUM: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60CADD-BA46-500B-F2DC-4B90C6FB0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E0CA114-9110-E636-59F6-A10D14EED1A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BF213-D30D-2E7E-CF85-98BCBE2D8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38C61-AD59-A766-F882-3C3905094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Calculate the total commission earned by each department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deptno</a:t>
            </a:r>
            <a:r>
              <a:rPr sz="1400" dirty="0">
                <a:latin typeface="Courier"/>
              </a:rPr>
              <a:t>,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SUM</a:t>
            </a:r>
            <a:r>
              <a:rPr sz="1400" dirty="0">
                <a:latin typeface="Courier"/>
              </a:rPr>
              <a:t>(commission)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total_commission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GROUP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deptno</a:t>
            </a:r>
            <a:r>
              <a:rPr sz="1400" dirty="0">
                <a:latin typeface="Courier"/>
              </a:rPr>
              <a:t>;</a:t>
            </a:r>
            <a:br>
              <a:rPr sz="1400" dirty="0"/>
            </a:b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Calculate the total commission earned by each department and display</a:t>
            </a: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departments with commissions exceeding 500, ordered by total commission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deptno</a:t>
            </a:r>
            <a:r>
              <a:rPr sz="1400" dirty="0">
                <a:latin typeface="Courier"/>
              </a:rPr>
              <a:t>,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SUM</a:t>
            </a:r>
            <a:r>
              <a:rPr sz="1400" dirty="0">
                <a:latin typeface="Courier"/>
              </a:rPr>
              <a:t>(commission)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total_commission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GROUP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deptno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HAVING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SUM</a:t>
            </a:r>
            <a:r>
              <a:rPr sz="1400" dirty="0">
                <a:latin typeface="Courier"/>
              </a:rPr>
              <a:t>(commission)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&gt;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500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ORDER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total_commission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DESC</a:t>
            </a:r>
            <a:r>
              <a:rPr sz="14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C76E771-684E-5E4F-B788-96F06030BB2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SUM: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42111E-9A5E-6690-7EA1-3961399B9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8A084AD-428E-5454-BF1D-FAACA061C2E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33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/>
            <a:r>
              <a:rPr sz="1800" dirty="0"/>
              <a:t>Computes the average of values in a numeric column.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Calculates the average value of </a:t>
            </a:r>
            <a:r>
              <a:rPr sz="1400" i="1" dirty="0" err="1">
                <a:solidFill>
                  <a:srgbClr val="8F5902"/>
                </a:solidFill>
                <a:latin typeface="Courier"/>
              </a:rPr>
              <a:t>sal</a:t>
            </a:r>
            <a:r>
              <a:rPr sz="1400" i="1" dirty="0">
                <a:solidFill>
                  <a:srgbClr val="8F5902"/>
                </a:solidFill>
                <a:latin typeface="Courier"/>
              </a:rPr>
              <a:t> column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AVG</a:t>
            </a:r>
            <a:r>
              <a:rPr sz="1400" dirty="0">
                <a:latin typeface="Courier"/>
              </a:rPr>
              <a:t>(</a:t>
            </a:r>
            <a:r>
              <a:rPr sz="1400" dirty="0" err="1">
                <a:latin typeface="Courier"/>
              </a:rPr>
              <a:t>sal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avg_salary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;</a:t>
            </a:r>
            <a:br>
              <a:rPr sz="1400" dirty="0"/>
            </a:b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Find the average salary of employees in each job position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job,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AVG</a:t>
            </a:r>
            <a:r>
              <a:rPr sz="1400" dirty="0">
                <a:latin typeface="Courier"/>
              </a:rPr>
              <a:t>(</a:t>
            </a:r>
            <a:r>
              <a:rPr sz="1400" dirty="0" err="1">
                <a:latin typeface="Courier"/>
              </a:rPr>
              <a:t>sal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avg_salary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GROUP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sz="1400" dirty="0">
                <a:latin typeface="Courier"/>
              </a:rPr>
              <a:t> job;</a:t>
            </a:r>
            <a:br>
              <a:rPr sz="1400" dirty="0"/>
            </a:b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Find the average salary of employees hired after 1985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AVG</a:t>
            </a:r>
            <a:r>
              <a:rPr sz="1400" dirty="0">
                <a:latin typeface="Courier"/>
              </a:rPr>
              <a:t>(</a:t>
            </a:r>
            <a:r>
              <a:rPr sz="1400" dirty="0" err="1">
                <a:latin typeface="Courier"/>
              </a:rPr>
              <a:t>sal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avg_salary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204A87"/>
                </a:solidFill>
                <a:latin typeface="Courier"/>
              </a:rPr>
              <a:t>YEAR</a:t>
            </a:r>
            <a:r>
              <a:rPr sz="1400" dirty="0">
                <a:latin typeface="Courier"/>
              </a:rPr>
              <a:t>(</a:t>
            </a:r>
            <a:r>
              <a:rPr sz="1400" dirty="0" err="1">
                <a:latin typeface="Courier"/>
              </a:rPr>
              <a:t>hiredate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&gt;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1985</a:t>
            </a:r>
            <a:r>
              <a:rPr sz="14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8A06E5-60E4-3728-6BF8-767F51DE886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AVG: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51997B-F4CC-2C77-E5BA-F4D9B35D8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F51706D-E56B-68CB-9FD0-1C8D9B4A8718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83C43-AE38-17BF-4D71-442E89434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F211A-5827-3007-CD7E-32D3AE496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Identify the departments where the average salary is higher than $1500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deptno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GROUP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deptno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HAVING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AVG</a:t>
            </a:r>
            <a:r>
              <a:rPr sz="1400" dirty="0">
                <a:latin typeface="Courier"/>
              </a:rPr>
              <a:t>(</a:t>
            </a:r>
            <a:r>
              <a:rPr sz="1400" dirty="0" err="1">
                <a:latin typeface="Courier"/>
              </a:rPr>
              <a:t>sal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&gt;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1500</a:t>
            </a:r>
            <a:r>
              <a:rPr sz="1400" dirty="0">
                <a:latin typeface="Courier"/>
              </a:rPr>
              <a:t>;</a:t>
            </a:r>
            <a:br>
              <a:rPr sz="1400" dirty="0"/>
            </a:b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Find the job position with the highest average salary and</a:t>
            </a: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display the result along with the average salary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TOP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</a:t>
            </a:r>
            <a:r>
              <a:rPr sz="1400" dirty="0">
                <a:latin typeface="Courier"/>
              </a:rPr>
              <a:t> job,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AVG</a:t>
            </a:r>
            <a:r>
              <a:rPr sz="1400" dirty="0">
                <a:latin typeface="Courier"/>
              </a:rPr>
              <a:t>(</a:t>
            </a:r>
            <a:r>
              <a:rPr sz="1400" dirty="0" err="1">
                <a:latin typeface="Courier"/>
              </a:rPr>
              <a:t>sal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avg_salary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GROUP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sz="1400" dirty="0">
                <a:latin typeface="Courier"/>
              </a:rPr>
              <a:t> job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ORDER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avg_salary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DESC</a:t>
            </a:r>
            <a:r>
              <a:rPr sz="14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69B8635-2668-6AD6-BD10-45F27387143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AVG: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9DC31E-E1B5-5B3A-2138-E8F50A090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1B58DBB-B262-F79A-049D-7391C647BBF3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518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/>
            <a:r>
              <a:rPr sz="1800" dirty="0"/>
              <a:t>Retrieves the maximum value in a column.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Retrieves the maximum value in </a:t>
            </a:r>
            <a:r>
              <a:rPr sz="1400" i="1" dirty="0" err="1">
                <a:solidFill>
                  <a:srgbClr val="8F5902"/>
                </a:solidFill>
                <a:latin typeface="Courier"/>
              </a:rPr>
              <a:t>sal</a:t>
            </a:r>
            <a:r>
              <a:rPr sz="1400" i="1" dirty="0">
                <a:solidFill>
                  <a:srgbClr val="8F5902"/>
                </a:solidFill>
                <a:latin typeface="Courier"/>
              </a:rPr>
              <a:t> column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MAX</a:t>
            </a:r>
            <a:r>
              <a:rPr sz="1400" dirty="0">
                <a:latin typeface="Courier"/>
              </a:rPr>
              <a:t>(</a:t>
            </a:r>
            <a:r>
              <a:rPr sz="1400" dirty="0" err="1">
                <a:latin typeface="Courier"/>
              </a:rPr>
              <a:t>sal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max_salary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;</a:t>
            </a:r>
            <a:br>
              <a:rPr sz="1400" dirty="0"/>
            </a:b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Find the employee(s) with the highest salary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sal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400" dirty="0">
                <a:latin typeface="Courier"/>
              </a:rPr>
              <a:t> (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MAX</a:t>
            </a:r>
            <a:r>
              <a:rPr sz="1400" dirty="0">
                <a:latin typeface="Courier"/>
              </a:rPr>
              <a:t>(</a:t>
            </a:r>
            <a:r>
              <a:rPr sz="1400" dirty="0" err="1">
                <a:latin typeface="Courier"/>
              </a:rPr>
              <a:t>sal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);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070D58-AEDF-45C3-9058-C80CAA8B97A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MAX: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9C17A2-57FB-4F9C-D00F-11BDE203C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AC4F82A-ACD3-0A34-EF02-63B1DA5AD36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97D43-D6B0-DE29-44D9-F9D190C26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DCFEB-A842-FAEA-1EE9-974720BD8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Find the employee(s) with the highest salary in each department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e.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 e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JOIN</a:t>
            </a:r>
            <a:r>
              <a:rPr sz="1400" dirty="0">
                <a:latin typeface="Courier"/>
              </a:rPr>
              <a:t> (</a:t>
            </a:r>
            <a:br>
              <a:rPr sz="1400" dirty="0"/>
            </a:br>
            <a:r>
              <a:rPr sz="1400" dirty="0">
                <a:latin typeface="Courier"/>
              </a:rPr>
              <a:t>  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deptno</a:t>
            </a:r>
            <a:r>
              <a:rPr sz="1400" dirty="0">
                <a:latin typeface="Courier"/>
              </a:rPr>
              <a:t>,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MAX</a:t>
            </a:r>
            <a:r>
              <a:rPr sz="1400" dirty="0">
                <a:latin typeface="Courier"/>
              </a:rPr>
              <a:t>(</a:t>
            </a:r>
            <a:r>
              <a:rPr sz="1400" dirty="0" err="1">
                <a:latin typeface="Courier"/>
              </a:rPr>
              <a:t>sal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max_salary</a:t>
            </a:r>
            <a:br>
              <a:rPr sz="1400" dirty="0"/>
            </a:br>
            <a:r>
              <a:rPr sz="1400" dirty="0">
                <a:latin typeface="Courier"/>
              </a:rPr>
              <a:t>  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br>
              <a:rPr sz="1400" dirty="0"/>
            </a:br>
            <a:r>
              <a:rPr sz="1400" dirty="0">
                <a:latin typeface="Courier"/>
              </a:rPr>
              <a:t>  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GROUP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deptno</a:t>
            </a:r>
            <a:br>
              <a:rPr sz="1400" dirty="0"/>
            </a:b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max_salaries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ON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e.deptno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max_salaries.deptno</a:t>
            </a:r>
            <a:br>
              <a:rPr sz="1400" dirty="0"/>
            </a:b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AND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e.sal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max_salaries.max_salary</a:t>
            </a:r>
            <a:r>
              <a:rPr sz="14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E1AC557-B09E-B290-207A-E24DFA5C770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MAX: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BD48A5-765B-2243-EDAD-8E51E983C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5DE6E6B-1803-CD7A-C9E5-11B6FA214F53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6429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/>
            <a:r>
              <a:rPr sz="1800" dirty="0"/>
              <a:t>Retrieves the minimum value in a column.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Retrieves the minimum value in </a:t>
            </a:r>
            <a:r>
              <a:rPr sz="1400" i="1" dirty="0" err="1">
                <a:solidFill>
                  <a:srgbClr val="8F5902"/>
                </a:solidFill>
                <a:latin typeface="Courier"/>
              </a:rPr>
              <a:t>sal</a:t>
            </a:r>
            <a:r>
              <a:rPr sz="1400" i="1" dirty="0">
                <a:solidFill>
                  <a:srgbClr val="8F5902"/>
                </a:solidFill>
                <a:latin typeface="Courier"/>
              </a:rPr>
              <a:t> column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MIN</a:t>
            </a:r>
            <a:r>
              <a:rPr sz="1400" dirty="0">
                <a:latin typeface="Courier"/>
              </a:rPr>
              <a:t>(</a:t>
            </a:r>
            <a:r>
              <a:rPr sz="1400" dirty="0" err="1">
                <a:latin typeface="Courier"/>
              </a:rPr>
              <a:t>sal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min_salary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;</a:t>
            </a:r>
            <a:br>
              <a:rPr sz="1400" dirty="0"/>
            </a:b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Find the employee(s) with the lowest commission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commission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400" dirty="0">
                <a:latin typeface="Courier"/>
              </a:rPr>
              <a:t> (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MIN</a:t>
            </a:r>
            <a:r>
              <a:rPr sz="1400" dirty="0">
                <a:latin typeface="Courier"/>
              </a:rPr>
              <a:t>(commission)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br>
              <a:rPr sz="1400" dirty="0"/>
            </a:b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commission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IS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NOT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NULL</a:t>
            </a:r>
            <a:r>
              <a:rPr sz="1400" dirty="0">
                <a:latin typeface="Courier"/>
              </a:rPr>
              <a:t>);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9AC4544-3823-A9C5-B470-5A0A0C8CA09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MIN: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B5A857-80DE-3422-1EB0-26B2118A6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D88B35F-CE42-60D2-0CC8-093495D1FBA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887E1-EBFB-7F0E-CFE2-ECE0214FD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2C6C6-5590-FE1A-45D6-B36812144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 indent="0">
              <a:buNone/>
            </a:pPr>
            <a:r>
              <a:rPr lang="en-US" sz="1400" i="1" dirty="0">
                <a:solidFill>
                  <a:srgbClr val="8F5902"/>
                </a:solidFill>
                <a:latin typeface="Courier"/>
              </a:rPr>
              <a:t>-- Find the employee(s) with the lowest salary in each department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e.</a:t>
            </a:r>
            <a:r>
              <a:rPr lang="en-US" sz="1400" b="1" dirty="0">
                <a:solidFill>
                  <a:srgbClr val="CE5C00"/>
                </a:solidFill>
                <a:latin typeface="Courier"/>
              </a:rPr>
              <a:t>*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r>
              <a:rPr lang="en-US" sz="1400" dirty="0">
                <a:latin typeface="Courier"/>
              </a:rPr>
              <a:t> e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JOIN</a:t>
            </a:r>
            <a:r>
              <a:rPr lang="en-US" sz="1400" dirty="0">
                <a:latin typeface="Courier"/>
              </a:rPr>
              <a:t> (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   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deptno</a:t>
            </a:r>
            <a:r>
              <a:rPr lang="en-US" sz="1400" dirty="0">
                <a:latin typeface="Courier"/>
              </a:rPr>
              <a:t>,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MIN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 err="1">
                <a:latin typeface="Courier"/>
              </a:rPr>
              <a:t>sal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min_salary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   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   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GROUP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deptno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min_salaries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ON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e.deptno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min_salaries.deptno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AND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e.sal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min_salaries.min_salary</a:t>
            </a:r>
            <a:r>
              <a:rPr lang="en-US" sz="1400" dirty="0">
                <a:latin typeface="Courier"/>
              </a:rPr>
              <a:t>;</a:t>
            </a:r>
            <a:endParaRPr sz="14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0E8DF1B-A48C-AE5E-F98C-2A8D5B3C62D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MIN: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334DC2-C1CB-05A5-47C5-F5822411B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2E0B8A7-8E5D-D441-284D-2DEDD6045896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438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CFA83-C466-6E86-E704-CCEC3FA15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B6095-0553-E4B2-4A97-F19255AEA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 indent="0">
              <a:buNone/>
            </a:pPr>
            <a:r>
              <a:rPr lang="en-US" sz="1400" i="1" dirty="0">
                <a:solidFill>
                  <a:srgbClr val="8F5902"/>
                </a:solidFill>
                <a:latin typeface="Courier"/>
              </a:rPr>
              <a:t>-- Find the department(s) with the lowest average salary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dname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 err="1">
                <a:latin typeface="Courier"/>
              </a:rPr>
              <a:t>avg_salary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(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   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d.dname</a:t>
            </a:r>
            <a:r>
              <a:rPr lang="en-US" sz="1400" dirty="0">
                <a:latin typeface="Courier"/>
              </a:rPr>
              <a:t>,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AVG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 err="1">
                <a:latin typeface="Courier"/>
              </a:rPr>
              <a:t>e.sal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avg_salary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   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r>
              <a:rPr lang="en-US" sz="1400" dirty="0">
                <a:latin typeface="Courier"/>
              </a:rPr>
              <a:t> e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   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JOIN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employees.dept</a:t>
            </a:r>
            <a:r>
              <a:rPr lang="en-US" sz="1400" dirty="0">
                <a:latin typeface="Courier"/>
              </a:rPr>
              <a:t> d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ON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e.deptno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d.deptno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   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GROUP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d.dname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dept_avg_salary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avg_salary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lang="en-US" sz="1400" dirty="0">
                <a:latin typeface="Courier"/>
              </a:rPr>
              <a:t> (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MIN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 err="1">
                <a:latin typeface="Courier"/>
              </a:rPr>
              <a:t>avg_salary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(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                       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AVG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 err="1">
                <a:latin typeface="Courier"/>
              </a:rPr>
              <a:t>sal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avg_salary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                        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GROUP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deptno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                    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dept_avg</a:t>
            </a:r>
            <a:r>
              <a:rPr lang="en-US" sz="1400" dirty="0">
                <a:latin typeface="Courier"/>
              </a:rPr>
              <a:t>);</a:t>
            </a:r>
            <a:br>
              <a:rPr lang="en-US" sz="1400" dirty="0"/>
            </a:br>
            <a:br>
              <a:rPr lang="en-US" sz="1400" dirty="0"/>
            </a:br>
            <a:r>
              <a:rPr lang="en-US" sz="1400" i="1" dirty="0">
                <a:solidFill>
                  <a:srgbClr val="8F5902"/>
                </a:solidFill>
                <a:latin typeface="Courier"/>
              </a:rPr>
              <a:t>-- Using both max and min</a:t>
            </a:r>
            <a:br>
              <a:rPr lang="en-US" sz="1400" dirty="0"/>
            </a:br>
            <a:r>
              <a:rPr lang="en-US" sz="1400" i="1" dirty="0">
                <a:solidFill>
                  <a:srgbClr val="8F5902"/>
                </a:solidFill>
                <a:latin typeface="Courier"/>
              </a:rPr>
              <a:t>-- Determine the highest and lowest salary in each department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deptno</a:t>
            </a:r>
            <a:r>
              <a:rPr lang="en-US" sz="1400" dirty="0">
                <a:latin typeface="Courier"/>
              </a:rPr>
              <a:t>,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MAX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 err="1">
                <a:latin typeface="Courier"/>
              </a:rPr>
              <a:t>sal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max_salary</a:t>
            </a:r>
            <a:r>
              <a:rPr lang="en-US" sz="1400" dirty="0">
                <a:latin typeface="Courier"/>
              </a:rPr>
              <a:t>,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MIN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 err="1">
                <a:latin typeface="Courier"/>
              </a:rPr>
              <a:t>sal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min_salary</a:t>
            </a:r>
            <a:r>
              <a:rPr lang="en-US" sz="1400" dirty="0">
                <a:latin typeface="Courier"/>
              </a:rPr>
              <a:t> 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r>
              <a:rPr lang="en-US" sz="1400" dirty="0">
                <a:latin typeface="Courier"/>
              </a:rPr>
              <a:t> 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GROUP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deptno</a:t>
            </a:r>
            <a:r>
              <a:rPr lang="en-US" sz="1400" dirty="0">
                <a:latin typeface="Courier"/>
              </a:rPr>
              <a:t>;</a:t>
            </a:r>
            <a:endParaRPr sz="14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D585A5C-895E-6E09-80F8-FD86689D30A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MIN: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561BFB-50B3-8005-24DB-C47ED1163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8E4AAE5-2544-891D-5E53-28DE3ED6DC9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533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20188-C1FD-0F4B-B20F-8C991CD8E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2D97F-ADFD-8959-5BBF-58BB83DC5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 indent="0">
              <a:buNone/>
            </a:pPr>
            <a:r>
              <a:rPr lang="en-US" sz="1400" i="1" dirty="0">
                <a:solidFill>
                  <a:srgbClr val="8F5902"/>
                </a:solidFill>
                <a:latin typeface="Courier"/>
              </a:rPr>
              <a:t>--Find the department(s) with the highest and lowest average salary,</a:t>
            </a:r>
            <a:br>
              <a:rPr lang="en-US" sz="1400" dirty="0"/>
            </a:br>
            <a:r>
              <a:rPr lang="en-US" sz="1400" i="1" dirty="0">
                <a:solidFill>
                  <a:srgbClr val="8F5902"/>
                </a:solidFill>
                <a:latin typeface="Courier"/>
              </a:rPr>
              <a:t>-- along with their respective average salaries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dname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 err="1">
                <a:latin typeface="Courier"/>
              </a:rPr>
              <a:t>avg_salary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(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   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d.dname</a:t>
            </a:r>
            <a:r>
              <a:rPr lang="en-US" sz="1400" dirty="0">
                <a:latin typeface="Courier"/>
              </a:rPr>
              <a:t>,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AVG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 err="1">
                <a:latin typeface="Courier"/>
              </a:rPr>
              <a:t>e.sal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avg_salary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   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r>
              <a:rPr lang="en-US" sz="1400" dirty="0">
                <a:latin typeface="Courier"/>
              </a:rPr>
              <a:t> e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   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JOIN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employees.dept</a:t>
            </a:r>
            <a:r>
              <a:rPr lang="en-US" sz="1400" dirty="0">
                <a:latin typeface="Courier"/>
              </a:rPr>
              <a:t> d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ON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e.deptno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d.deptno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   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GROUP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d.dname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dept_avg_salary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avg_salary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lang="en-US" sz="1400" dirty="0">
                <a:latin typeface="Courier"/>
              </a:rPr>
              <a:t> (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MAX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 err="1">
                <a:latin typeface="Courier"/>
              </a:rPr>
              <a:t>avg_salary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(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                       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AVG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 err="1">
                <a:latin typeface="Courier"/>
              </a:rPr>
              <a:t>sal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avg_salary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                        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GROUP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deptno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                    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dept_avg</a:t>
            </a:r>
            <a:r>
              <a:rPr lang="en-US" sz="1400" dirty="0">
                <a:latin typeface="Courier"/>
              </a:rPr>
              <a:t>)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OR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avg_salary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lang="en-US" sz="1400" dirty="0">
                <a:latin typeface="Courier"/>
              </a:rPr>
              <a:t> (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MIN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 err="1">
                <a:latin typeface="Courier"/>
              </a:rPr>
              <a:t>avg_salary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(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                       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AVG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 err="1">
                <a:latin typeface="Courier"/>
              </a:rPr>
              <a:t>sal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avg_salary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                        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GROUP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deptno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                    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dept_avg</a:t>
            </a:r>
            <a:r>
              <a:rPr lang="en-US" sz="1400" dirty="0">
                <a:latin typeface="Courier"/>
              </a:rPr>
              <a:t>);</a:t>
            </a:r>
            <a:endParaRPr sz="14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266CD7-7DBF-0D89-2F3C-ED2739AA3A0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MIN: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FFBD38-645E-379E-FF97-9D23101F5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021E606-3FDF-DAAC-DF8A-3DBA5819458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7835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9BE3D-5D7A-A919-D780-7EC884C57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15CCE-7050-AF51-327D-EAB6BE9C9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 indent="0">
              <a:buNone/>
            </a:pPr>
            <a:r>
              <a:rPr lang="en-US" sz="1400" i="1" dirty="0">
                <a:solidFill>
                  <a:srgbClr val="8F5902"/>
                </a:solidFill>
                <a:latin typeface="Courier"/>
              </a:rPr>
              <a:t>-- Find the employee(s) with the highest salary and</a:t>
            </a:r>
            <a:br>
              <a:rPr lang="en-US" sz="1400" dirty="0"/>
            </a:br>
            <a:r>
              <a:rPr lang="en-US" sz="1400" i="1" dirty="0">
                <a:solidFill>
                  <a:srgbClr val="8F5902"/>
                </a:solidFill>
                <a:latin typeface="Courier"/>
              </a:rPr>
              <a:t>-- the employee(s) with the lowest salary in each department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e.</a:t>
            </a:r>
            <a:r>
              <a:rPr lang="en-US" sz="1400" b="1" dirty="0">
                <a:solidFill>
                  <a:srgbClr val="CE5C00"/>
                </a:solidFill>
                <a:latin typeface="Courier"/>
              </a:rPr>
              <a:t>*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r>
              <a:rPr lang="en-US" sz="1400" dirty="0">
                <a:latin typeface="Courier"/>
              </a:rPr>
              <a:t> e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JOIN</a:t>
            </a:r>
            <a:r>
              <a:rPr lang="en-US" sz="1400" dirty="0">
                <a:latin typeface="Courier"/>
              </a:rPr>
              <a:t> (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   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deptno</a:t>
            </a:r>
            <a:r>
              <a:rPr lang="en-US" sz="1400" dirty="0">
                <a:latin typeface="Courier"/>
              </a:rPr>
              <a:t>,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MAX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 err="1">
                <a:latin typeface="Courier"/>
              </a:rPr>
              <a:t>sal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max_salary</a:t>
            </a:r>
            <a:r>
              <a:rPr lang="en-US" sz="1400" dirty="0">
                <a:latin typeface="Courier"/>
              </a:rPr>
              <a:t>,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MIN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 err="1">
                <a:latin typeface="Courier"/>
              </a:rPr>
              <a:t>sal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min_salary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   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   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GROUP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deptno</a:t>
            </a:r>
            <a:br>
              <a:rPr lang="en-US" sz="1400" dirty="0"/>
            </a:b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salary_extremes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ON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e.deptno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salary_extremes.deptno</a:t>
            </a:r>
            <a:r>
              <a:rPr lang="en-US" sz="1400" dirty="0">
                <a:latin typeface="Courier"/>
              </a:rPr>
              <a:t> 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AND</a:t>
            </a:r>
            <a:r>
              <a:rPr lang="en-US" sz="1400" dirty="0">
                <a:latin typeface="Courier"/>
              </a:rPr>
              <a:t> (</a:t>
            </a:r>
            <a:r>
              <a:rPr lang="en-US" sz="1400" dirty="0" err="1">
                <a:latin typeface="Courier"/>
              </a:rPr>
              <a:t>e.sal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salary_extremes.max_salary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OR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e.sal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salary_extremes.min_salary</a:t>
            </a:r>
            <a:r>
              <a:rPr lang="en-US" sz="1400" dirty="0">
                <a:latin typeface="Courier"/>
              </a:rPr>
              <a:t>);</a:t>
            </a:r>
            <a:endParaRPr sz="14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AF2AB9-741C-A849-47E0-3E2A825C63A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MIN: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15FFD7-EE24-79A9-D211-D3CE8883D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2346630-E352-F9D0-169F-ADBC24C67A71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11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6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1485</Words>
  <Application>Microsoft Office PowerPoint</Application>
  <PresentationFormat>On-screen Show (16:9)</PresentationFormat>
  <Paragraphs>49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2025-08-01T10:18:01Z</dcterms:created>
  <dcterms:modified xsi:type="dcterms:W3CDTF">2025-08-12T09:10:11Z</dcterms:modified>
</cp:coreProperties>
</file>