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app0.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package/2006/relationships/metadata/extended-properties" Target="docProps/app0.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8" r:id="rId3"/>
    <p:sldId id="269" r:id="rId4"/>
    <p:sldId id="259" r:id="rId5"/>
    <p:sldId id="270" r:id="rId6"/>
    <p:sldId id="260" r:id="rId7"/>
    <p:sldId id="271" r:id="rId8"/>
    <p:sldId id="272" r:id="rId9"/>
    <p:sldId id="261" r:id="rId10"/>
    <p:sldId id="262" r:id="rId11"/>
    <p:sldId id="273" r:id="rId12"/>
    <p:sldId id="263" r:id="rId13"/>
    <p:sldId id="264" r:id="rId14"/>
    <p:sldId id="265" r:id="rId15"/>
    <p:sldId id="274" r:id="rId16"/>
    <p:sldId id="266" r:id="rId17"/>
    <p:sldId id="267" r:id="rId18"/>
    <p:sldId id="275" r:id="rId19"/>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43" autoAdjust="0"/>
    <p:restoredTop sz="94694" autoAdjust="0"/>
  </p:normalViewPr>
  <p:slideViewPr>
    <p:cSldViewPr snapToGrid="0" snapToObjects="1">
      <p:cViewPr varScale="1">
        <p:scale>
          <a:sx n="99" d="100"/>
          <a:sy n="99" d="100"/>
        </p:scale>
        <p:origin x="226" y="72"/>
      </p:cViewPr>
      <p:guideLst>
        <p:guide orient="horz" pos="1620"/>
        <p:guide pos="2880"/>
      </p:guideLst>
    </p:cSldViewPr>
  </p:slideViewPr>
  <p:outlineViewPr>
    <p:cViewPr>
      <p:scale>
        <a:sx n="33" d="100"/>
        <a:sy n="33" d="100"/>
      </p:scale>
      <p:origin x="0" y="0"/>
    </p:cViewPr>
  </p:outlin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8/12/2025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8/12/2025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8/12/2025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8/12/2025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8/12/2025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8/12/2025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8/12/2025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8/12/2025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8/12/2025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8/12/2025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8/12/2025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241EB5C9-1307-BA42-ABA2-0BC069CD8E7F}" type="datetimeFigureOut">
              <a:rPr lang="en-US" smtClean="0"/>
              <a:t>8/12/2025</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rtl="0" eaLnBrk="1" latinLnBrk="0" hangingPunct="1">
        <a:spcBef>
          <a:spcPct val="0"/>
        </a:spcBef>
        <a:buNone/>
        <a:defRPr sz="3300" kern="1200">
          <a:solidFill>
            <a:schemeClr val="tx1"/>
          </a:solidFill>
          <a:latin typeface="+mj-lt"/>
          <a:ea typeface="+mj-ea"/>
          <a:cs typeface="+mj-cs"/>
        </a:defRPr>
      </a:lvl1pPr>
    </p:titleStyle>
    <p:bodyStyle>
      <a:lvl1pPr marL="342900" indent="-342900" algn="l" defTabSz="342900" rtl="0" eaLnBrk="1" latinLnBrk="0" hangingPunct="1">
        <a:spcBef>
          <a:spcPct val="20000"/>
        </a:spcBef>
        <a:buFont typeface="Arial"/>
        <a:buChar char="•"/>
        <a:defRPr sz="2400" kern="1200">
          <a:solidFill>
            <a:schemeClr val="tx1"/>
          </a:solidFill>
          <a:latin typeface="+mn-lt"/>
          <a:ea typeface="+mn-ea"/>
          <a:cs typeface="+mn-cs"/>
        </a:defRPr>
      </a:lvl1pPr>
      <a:lvl2pPr marL="685800" indent="-342900" algn="l" defTabSz="342900" rtl="0" eaLnBrk="1" latinLnBrk="0" hangingPunct="1">
        <a:spcBef>
          <a:spcPct val="20000"/>
        </a:spcBef>
        <a:buFont typeface="Arial"/>
        <a:buChar char="–"/>
        <a:defRPr sz="2100" kern="1200">
          <a:solidFill>
            <a:schemeClr val="tx1"/>
          </a:solidFill>
          <a:latin typeface="+mn-lt"/>
          <a:ea typeface="+mn-ea"/>
          <a:cs typeface="+mn-cs"/>
        </a:defRPr>
      </a:lvl2pPr>
      <a:lvl3pPr marL="1028700" indent="-342900" algn="l" defTabSz="342900" rtl="0" eaLnBrk="1" latinLnBrk="0" hangingPunct="1">
        <a:spcBef>
          <a:spcPct val="20000"/>
        </a:spcBef>
        <a:buFont typeface="Arial"/>
        <a:buChar char="•"/>
        <a:defRPr sz="1800" kern="1200">
          <a:solidFill>
            <a:schemeClr val="tx1"/>
          </a:solidFill>
          <a:latin typeface="+mn-lt"/>
          <a:ea typeface="+mn-ea"/>
          <a:cs typeface="+mn-cs"/>
        </a:defRPr>
      </a:lvl3pPr>
      <a:lvl4pPr marL="1371600" indent="-342900" algn="l" defTabSz="342900" rtl="0" eaLnBrk="1" latinLnBrk="0" hangingPunct="1">
        <a:spcBef>
          <a:spcPct val="20000"/>
        </a:spcBef>
        <a:buFont typeface="Arial"/>
        <a:buChar char="–"/>
        <a:defRPr sz="1500" kern="1200">
          <a:solidFill>
            <a:schemeClr val="tx1"/>
          </a:solidFill>
          <a:latin typeface="+mn-lt"/>
          <a:ea typeface="+mn-ea"/>
          <a:cs typeface="+mn-cs"/>
        </a:defRPr>
      </a:lvl4pPr>
      <a:lvl5pPr marL="1714500" indent="-342900" algn="l" defTabSz="342900" rtl="0" eaLnBrk="1" latinLnBrk="0" hangingPunct="1">
        <a:spcBef>
          <a:spcPct val="20000"/>
        </a:spcBef>
        <a:buFont typeface="Arial"/>
        <a:buChar char="»"/>
        <a:defRPr sz="1500" kern="1200">
          <a:solidFill>
            <a:schemeClr val="tx1"/>
          </a:solidFill>
          <a:latin typeface="+mn-lt"/>
          <a:ea typeface="+mn-ea"/>
          <a:cs typeface="+mn-cs"/>
        </a:defRPr>
      </a:lvl5pPr>
      <a:lvl6pPr marL="2057400" indent="-34290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400300" indent="-34290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743200" indent="-342900" algn="l" defTabSz="342900" rtl="0" eaLnBrk="1" latinLnBrk="0" hangingPunct="1">
        <a:spcBef>
          <a:spcPct val="20000"/>
        </a:spcBef>
        <a:buFont typeface="Arial"/>
        <a:buChar char="•"/>
        <a:defRPr sz="1500" kern="1200">
          <a:solidFill>
            <a:schemeClr val="tx1"/>
          </a:solidFill>
          <a:latin typeface="+mn-lt"/>
          <a:ea typeface="+mn-ea"/>
          <a:cs typeface="+mn-cs"/>
        </a:defRPr>
      </a:lvl8pPr>
      <a:lvl9pPr marL="3086100" indent="-34290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B761509-3B9A-49A6-A84B-C3D8681169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9143998" cy="51435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9" name="Freeform: Shape 8">
            <a:extLst>
              <a:ext uri="{FF2B5EF4-FFF2-40B4-BE49-F238E27FC236}">
                <a16:creationId xmlns:a16="http://schemas.microsoft.com/office/drawing/2014/main" id="{91DE43FD-EB47-414A-B0AB-169B0FFFA5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954691" cy="5143500"/>
          </a:xfrm>
          <a:custGeom>
            <a:avLst/>
            <a:gdLst>
              <a:gd name="connsiteX0" fmla="*/ 0 w 9272922"/>
              <a:gd name="connsiteY0" fmla="*/ 0 h 6858000"/>
              <a:gd name="connsiteX1" fmla="*/ 1733417 w 9272922"/>
              <a:gd name="connsiteY1" fmla="*/ 0 h 6858000"/>
              <a:gd name="connsiteX2" fmla="*/ 3307976 w 9272922"/>
              <a:gd name="connsiteY2" fmla="*/ 0 h 6858000"/>
              <a:gd name="connsiteX3" fmla="*/ 8126249 w 9272922"/>
              <a:gd name="connsiteY3" fmla="*/ 0 h 6858000"/>
              <a:gd name="connsiteX4" fmla="*/ 8138896 w 9272922"/>
              <a:gd name="connsiteY4" fmla="*/ 31774 h 6858000"/>
              <a:gd name="connsiteX5" fmla="*/ 9193904 w 9272922"/>
              <a:gd name="connsiteY5" fmla="*/ 2682457 h 6858000"/>
              <a:gd name="connsiteX6" fmla="*/ 9193904 w 9272922"/>
              <a:gd name="connsiteY6" fmla="*/ 3752208 h 6858000"/>
              <a:gd name="connsiteX7" fmla="*/ 8036400 w 9272922"/>
              <a:gd name="connsiteY7" fmla="*/ 6660411 h 6858000"/>
              <a:gd name="connsiteX8" fmla="*/ 7957938 w 9272922"/>
              <a:gd name="connsiteY8" fmla="*/ 6857542 h 6858000"/>
              <a:gd name="connsiteX9" fmla="*/ 3307976 w 9272922"/>
              <a:gd name="connsiteY9" fmla="*/ 6857542 h 6858000"/>
              <a:gd name="connsiteX10" fmla="*/ 3307976 w 9272922"/>
              <a:gd name="connsiteY10" fmla="*/ 6858000 h 6858000"/>
              <a:gd name="connsiteX11" fmla="*/ 0 w 9272922"/>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272922" h="6858000">
                <a:moveTo>
                  <a:pt x="0" y="0"/>
                </a:moveTo>
                <a:lnTo>
                  <a:pt x="1733417" y="0"/>
                </a:lnTo>
                <a:lnTo>
                  <a:pt x="3307976" y="0"/>
                </a:lnTo>
                <a:lnTo>
                  <a:pt x="8126249" y="0"/>
                </a:lnTo>
                <a:lnTo>
                  <a:pt x="8138896" y="31774"/>
                </a:lnTo>
                <a:cubicBezTo>
                  <a:pt x="9193904" y="2682457"/>
                  <a:pt x="9193904" y="2682457"/>
                  <a:pt x="9193904" y="2682457"/>
                </a:cubicBezTo>
                <a:cubicBezTo>
                  <a:pt x="9299262" y="2988100"/>
                  <a:pt x="9299262" y="3446565"/>
                  <a:pt x="9193904" y="3752208"/>
                </a:cubicBezTo>
                <a:cubicBezTo>
                  <a:pt x="8709916" y="4968215"/>
                  <a:pt x="8331802" y="5918220"/>
                  <a:pt x="8036400" y="6660411"/>
                </a:cubicBezTo>
                <a:lnTo>
                  <a:pt x="7957938" y="6857542"/>
                </a:lnTo>
                <a:lnTo>
                  <a:pt x="3307976" y="6857542"/>
                </a:lnTo>
                <a:lnTo>
                  <a:pt x="3307976" y="6858000"/>
                </a:lnTo>
                <a:lnTo>
                  <a:pt x="0" y="68580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1" name="Group 10">
            <a:extLst>
              <a:ext uri="{FF2B5EF4-FFF2-40B4-BE49-F238E27FC236}">
                <a16:creationId xmlns:a16="http://schemas.microsoft.com/office/drawing/2014/main" id="{58495BCC-CE77-4CC2-952E-846F41119FD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870420" y="806391"/>
            <a:ext cx="1171701" cy="879729"/>
            <a:chOff x="9160561" y="1075188"/>
            <a:chExt cx="1562267" cy="1172973"/>
          </a:xfrm>
        </p:grpSpPr>
        <p:sp>
          <p:nvSpPr>
            <p:cNvPr id="12" name="Freeform 5">
              <a:extLst>
                <a:ext uri="{FF2B5EF4-FFF2-40B4-BE49-F238E27FC236}">
                  <a16:creationId xmlns:a16="http://schemas.microsoft.com/office/drawing/2014/main" id="{1B42538B-E30F-4967-A6C1-8EBA775F4D6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9160561" y="1423846"/>
              <a:ext cx="935037" cy="824315"/>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bg1"/>
              </a:solidFill>
            </a:ln>
          </p:spPr>
          <p:txBody>
            <a:bodyPr vert="horz" wrap="square" lIns="91440" tIns="45720" rIns="91440" bIns="45720" numCol="1" anchor="t" anchorCtr="0" compatLnSpc="1">
              <a:prstTxWarp prst="textNoShape">
                <a:avLst/>
              </a:prstTxWarp>
            </a:bodyPr>
            <a:lstStyle/>
            <a:p>
              <a:endParaRPr lang="en-US"/>
            </a:p>
          </p:txBody>
        </p:sp>
        <p:sp>
          <p:nvSpPr>
            <p:cNvPr id="13" name="Freeform 5">
              <a:extLst>
                <a:ext uri="{FF2B5EF4-FFF2-40B4-BE49-F238E27FC236}">
                  <a16:creationId xmlns:a16="http://schemas.microsoft.com/office/drawing/2014/main" id="{9A6BD9AC-4DE7-4B20-8547-4E3B375C21F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9960661" y="1075188"/>
              <a:ext cx="762167" cy="671915"/>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bg1"/>
              </a:solidFill>
            </a:ln>
          </p:spPr>
          <p:txBody>
            <a:bodyPr vert="horz" wrap="square" lIns="91440" tIns="45720" rIns="91440" bIns="45720" numCol="1" anchor="t" anchorCtr="0" compatLnSpc="1">
              <a:prstTxWarp prst="textNoShape">
                <a:avLst/>
              </a:prstTxWarp>
            </a:bodyPr>
            <a:lstStyle/>
            <a:p>
              <a:endParaRPr lang="en-US"/>
            </a:p>
          </p:txBody>
        </p:sp>
      </p:grpSp>
      <p:pic>
        <p:nvPicPr>
          <p:cNvPr id="3" name="Picture 2" descr="sqlserver.png">
            <a:extLst>
              <a:ext uri="{FF2B5EF4-FFF2-40B4-BE49-F238E27FC236}">
                <a16:creationId xmlns:a16="http://schemas.microsoft.com/office/drawing/2014/main" id="{F91EDCFB-A363-E783-1BB5-5C567891FE25}"/>
              </a:ext>
            </a:extLst>
          </p:cNvPr>
          <p:cNvPicPr>
            <a:picLocks noGrp="1" noChangeAspect="1"/>
          </p:cNvPicPr>
          <p:nvPr/>
        </p:nvPicPr>
        <p:blipFill>
          <a:blip r:embed="rId2"/>
          <a:srcRect l="2193" t="4481" r="3658" b="6674"/>
          <a:stretch>
            <a:fillRect/>
          </a:stretch>
        </p:blipFill>
        <p:spPr bwMode="auto">
          <a:xfrm>
            <a:off x="131736" y="1619573"/>
            <a:ext cx="6540285" cy="1666364"/>
          </a:xfrm>
          <a:prstGeom prst="rect">
            <a:avLst/>
          </a:prstGeom>
          <a:noFill/>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74514"/>
            <a:ext cx="8229600" cy="3394472"/>
          </a:xfrm>
        </p:spPr>
        <p:txBody>
          <a:bodyPr>
            <a:noAutofit/>
          </a:bodyPr>
          <a:lstStyle/>
          <a:p>
            <a:pPr lvl="0"/>
            <a:r>
              <a:rPr sz="1800" dirty="0"/>
              <a:t>Analytical functions in SQL Server perform calculations across a set of related rows and return a calculated value for each row, often within a specified window or partition.</a:t>
            </a:r>
          </a:p>
          <a:p>
            <a:pPr lvl="0"/>
            <a:r>
              <a:rPr sz="1800" dirty="0"/>
              <a:t>They enable performing advanced calculations and aggregations on your data for advanced data analysis and reports.</a:t>
            </a:r>
          </a:p>
          <a:p>
            <a:pPr lvl="0"/>
            <a:r>
              <a:rPr sz="1800" dirty="0"/>
              <a:t>These functions are typically used in conjunction with the ‘OVER’ clause to define the window or subset of rows over which the function should operate.</a:t>
            </a:r>
          </a:p>
          <a:p>
            <a:pPr lvl="0"/>
            <a:r>
              <a:rPr sz="1800" dirty="0"/>
              <a:t>The OVER clause can include ‘PARTITION BY’ or ‘ORDER BY’ specifications to control the behavior of the window function.</a:t>
            </a:r>
          </a:p>
        </p:txBody>
      </p:sp>
      <p:sp>
        <p:nvSpPr>
          <p:cNvPr id="4" name="Title 1">
            <a:extLst>
              <a:ext uri="{FF2B5EF4-FFF2-40B4-BE49-F238E27FC236}">
                <a16:creationId xmlns:a16="http://schemas.microsoft.com/office/drawing/2014/main" id="{602F81BD-0FD7-7AE3-4D2A-3FC3D084A860}"/>
              </a:ext>
            </a:extLst>
          </p:cNvPr>
          <p:cNvSpPr txBox="1">
            <a:spLocks/>
          </p:cNvSpPr>
          <p:nvPr/>
        </p:nvSpPr>
        <p:spPr>
          <a:xfrm>
            <a:off x="0" y="1"/>
            <a:ext cx="9144000" cy="548876"/>
          </a:xfrm>
          <a:prstGeom prst="rect">
            <a:avLst/>
          </a:prstGeom>
          <a:solidFill>
            <a:schemeClr val="tx1"/>
          </a:solidFill>
        </p:spPr>
        <p:txBody>
          <a:bodyPr vert="horz" lIns="91440" tIns="45720" rIns="91440" bIns="45720" rtlCol="0" anchor="ctr">
            <a:normAutofit/>
          </a:bodyPr>
          <a:lstStyle>
            <a:lvl1pPr algn="ctr" defTabSz="342900" rtl="0" eaLnBrk="1" latinLnBrk="0" hangingPunct="1">
              <a:spcBef>
                <a:spcPct val="0"/>
              </a:spcBef>
              <a:buNone/>
              <a:defRPr sz="3300" kern="1200">
                <a:solidFill>
                  <a:schemeClr val="tx1"/>
                </a:solidFill>
                <a:latin typeface="+mj-lt"/>
                <a:ea typeface="+mj-ea"/>
                <a:cs typeface="+mj-cs"/>
              </a:defRPr>
            </a:lvl1pPr>
          </a:lstStyle>
          <a:p>
            <a:pPr algn="l"/>
            <a:r>
              <a:rPr lang="en-IN" sz="2800" dirty="0">
                <a:solidFill>
                  <a:schemeClr val="bg1"/>
                </a:solidFill>
              </a:rPr>
              <a:t>DQL - Analytical Functions</a:t>
            </a:r>
          </a:p>
        </p:txBody>
      </p:sp>
      <p:pic>
        <p:nvPicPr>
          <p:cNvPr id="5" name="Picture 4">
            <a:extLst>
              <a:ext uri="{FF2B5EF4-FFF2-40B4-BE49-F238E27FC236}">
                <a16:creationId xmlns:a16="http://schemas.microsoft.com/office/drawing/2014/main" id="{ECC86F8A-0769-B47B-9BC7-7D19DEB27200}"/>
              </a:ext>
            </a:extLst>
          </p:cNvPr>
          <p:cNvPicPr>
            <a:picLocks noChangeAspect="1"/>
          </p:cNvPicPr>
          <p:nvPr/>
        </p:nvPicPr>
        <p:blipFill>
          <a:blip r:embed="rId2"/>
          <a:stretch>
            <a:fillRect/>
          </a:stretch>
        </p:blipFill>
        <p:spPr>
          <a:xfrm>
            <a:off x="5763675" y="51792"/>
            <a:ext cx="3380325" cy="445294"/>
          </a:xfrm>
          <a:prstGeom prst="rect">
            <a:avLst/>
          </a:prstGeom>
        </p:spPr>
      </p:pic>
      <p:sp>
        <p:nvSpPr>
          <p:cNvPr id="6" name="Title 1">
            <a:extLst>
              <a:ext uri="{FF2B5EF4-FFF2-40B4-BE49-F238E27FC236}">
                <a16:creationId xmlns:a16="http://schemas.microsoft.com/office/drawing/2014/main" id="{50068A7F-31AA-1E26-A0A3-A51B45A52FF9}"/>
              </a:ext>
            </a:extLst>
          </p:cNvPr>
          <p:cNvSpPr txBox="1">
            <a:spLocks/>
          </p:cNvSpPr>
          <p:nvPr/>
        </p:nvSpPr>
        <p:spPr>
          <a:xfrm>
            <a:off x="0" y="4858718"/>
            <a:ext cx="9144000" cy="284781"/>
          </a:xfrm>
          <a:prstGeom prst="rect">
            <a:avLst/>
          </a:prstGeom>
          <a:solidFill>
            <a:schemeClr val="tx1"/>
          </a:solidFill>
        </p:spPr>
        <p:txBody>
          <a:bodyPr vert="horz" lIns="91440" tIns="45720" rIns="91440" bIns="45720" rtlCol="0" anchor="ctr">
            <a:normAutofit/>
          </a:bodyPr>
          <a:lstStyle>
            <a:lvl1pPr algn="ctr" defTabSz="342900" rtl="0" eaLnBrk="1" latinLnBrk="0" hangingPunct="1">
              <a:spcBef>
                <a:spcPct val="0"/>
              </a:spcBef>
              <a:buNone/>
              <a:defRPr sz="3300" kern="1200">
                <a:solidFill>
                  <a:schemeClr val="tx1"/>
                </a:solidFill>
                <a:latin typeface="+mj-lt"/>
                <a:ea typeface="+mj-ea"/>
                <a:cs typeface="+mj-cs"/>
              </a:defRPr>
            </a:lvl1pPr>
          </a:lstStyle>
          <a:p>
            <a:r>
              <a:rPr lang="en-IN" sz="1200" dirty="0">
                <a:solidFill>
                  <a:schemeClr val="bg1"/>
                </a:solidFill>
              </a:rPr>
              <a:t>© TINITIATE.COM</a:t>
            </a:r>
            <a:endParaRPr lang="en-IN" sz="1000" dirty="0">
              <a:solidFill>
                <a:schemeClr val="bg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FA2523-F781-2A17-4A01-06978FD9ADA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2038B31-D806-6B28-860F-1DB62355C861}"/>
              </a:ext>
            </a:extLst>
          </p:cNvPr>
          <p:cNvSpPr>
            <a:spLocks noGrp="1"/>
          </p:cNvSpPr>
          <p:nvPr>
            <p:ph idx="1"/>
          </p:nvPr>
        </p:nvSpPr>
        <p:spPr>
          <a:xfrm>
            <a:off x="457200" y="874514"/>
            <a:ext cx="8229600" cy="3394472"/>
          </a:xfrm>
        </p:spPr>
        <p:txBody>
          <a:bodyPr>
            <a:noAutofit/>
          </a:bodyPr>
          <a:lstStyle/>
          <a:p>
            <a:pPr lvl="0"/>
            <a:r>
              <a:rPr sz="1800" dirty="0"/>
              <a:t>The ‘PARTITION BY’ clause is used to divide the result set of a query into partitions to which the function is applied independently.</a:t>
            </a:r>
          </a:p>
          <a:p>
            <a:pPr lvl="0"/>
            <a:r>
              <a:rPr sz="1800" dirty="0"/>
              <a:t>The ‘ORDER BY’ clause is used to sort the result set of a query into the orders specified to which the function is applied independently.</a:t>
            </a:r>
          </a:p>
          <a:p>
            <a:pPr lvl="0"/>
            <a:r>
              <a:rPr sz="1800" dirty="0"/>
              <a:t>For some analytical functions ‘PARTITION BY’ clause must be used including ‘ORDER BY’ clause.</a:t>
            </a:r>
          </a:p>
        </p:txBody>
      </p:sp>
      <p:sp>
        <p:nvSpPr>
          <p:cNvPr id="4" name="Title 1">
            <a:extLst>
              <a:ext uri="{FF2B5EF4-FFF2-40B4-BE49-F238E27FC236}">
                <a16:creationId xmlns:a16="http://schemas.microsoft.com/office/drawing/2014/main" id="{F1C5FDB1-A6C5-668B-9E19-E9B6E8FE6012}"/>
              </a:ext>
            </a:extLst>
          </p:cNvPr>
          <p:cNvSpPr txBox="1">
            <a:spLocks/>
          </p:cNvSpPr>
          <p:nvPr/>
        </p:nvSpPr>
        <p:spPr>
          <a:xfrm>
            <a:off x="0" y="1"/>
            <a:ext cx="9144000" cy="548876"/>
          </a:xfrm>
          <a:prstGeom prst="rect">
            <a:avLst/>
          </a:prstGeom>
          <a:solidFill>
            <a:schemeClr val="tx1"/>
          </a:solidFill>
        </p:spPr>
        <p:txBody>
          <a:bodyPr vert="horz" lIns="91440" tIns="45720" rIns="91440" bIns="45720" rtlCol="0" anchor="ctr">
            <a:normAutofit/>
          </a:bodyPr>
          <a:lstStyle>
            <a:lvl1pPr algn="ctr" defTabSz="342900" rtl="0" eaLnBrk="1" latinLnBrk="0" hangingPunct="1">
              <a:spcBef>
                <a:spcPct val="0"/>
              </a:spcBef>
              <a:buNone/>
              <a:defRPr sz="3300" kern="1200">
                <a:solidFill>
                  <a:schemeClr val="tx1"/>
                </a:solidFill>
                <a:latin typeface="+mj-lt"/>
                <a:ea typeface="+mj-ea"/>
                <a:cs typeface="+mj-cs"/>
              </a:defRPr>
            </a:lvl1pPr>
          </a:lstStyle>
          <a:p>
            <a:pPr algn="l"/>
            <a:r>
              <a:rPr lang="en-IN" sz="2800" dirty="0">
                <a:solidFill>
                  <a:schemeClr val="bg1"/>
                </a:solidFill>
              </a:rPr>
              <a:t>DQL - Analytical Functions</a:t>
            </a:r>
          </a:p>
        </p:txBody>
      </p:sp>
      <p:pic>
        <p:nvPicPr>
          <p:cNvPr id="5" name="Picture 4">
            <a:extLst>
              <a:ext uri="{FF2B5EF4-FFF2-40B4-BE49-F238E27FC236}">
                <a16:creationId xmlns:a16="http://schemas.microsoft.com/office/drawing/2014/main" id="{FD1F84E7-D950-E867-9DF0-743BDEBFFAD4}"/>
              </a:ext>
            </a:extLst>
          </p:cNvPr>
          <p:cNvPicPr>
            <a:picLocks noChangeAspect="1"/>
          </p:cNvPicPr>
          <p:nvPr/>
        </p:nvPicPr>
        <p:blipFill>
          <a:blip r:embed="rId2"/>
          <a:stretch>
            <a:fillRect/>
          </a:stretch>
        </p:blipFill>
        <p:spPr>
          <a:xfrm>
            <a:off x="5763675" y="51792"/>
            <a:ext cx="3380325" cy="445294"/>
          </a:xfrm>
          <a:prstGeom prst="rect">
            <a:avLst/>
          </a:prstGeom>
        </p:spPr>
      </p:pic>
      <p:sp>
        <p:nvSpPr>
          <p:cNvPr id="6" name="Title 1">
            <a:extLst>
              <a:ext uri="{FF2B5EF4-FFF2-40B4-BE49-F238E27FC236}">
                <a16:creationId xmlns:a16="http://schemas.microsoft.com/office/drawing/2014/main" id="{2A7B6B37-4C71-9027-B20E-2B1834E57BE4}"/>
              </a:ext>
            </a:extLst>
          </p:cNvPr>
          <p:cNvSpPr txBox="1">
            <a:spLocks/>
          </p:cNvSpPr>
          <p:nvPr/>
        </p:nvSpPr>
        <p:spPr>
          <a:xfrm>
            <a:off x="0" y="4858718"/>
            <a:ext cx="9144000" cy="284781"/>
          </a:xfrm>
          <a:prstGeom prst="rect">
            <a:avLst/>
          </a:prstGeom>
          <a:solidFill>
            <a:schemeClr val="tx1"/>
          </a:solidFill>
        </p:spPr>
        <p:txBody>
          <a:bodyPr vert="horz" lIns="91440" tIns="45720" rIns="91440" bIns="45720" rtlCol="0" anchor="ctr">
            <a:normAutofit/>
          </a:bodyPr>
          <a:lstStyle>
            <a:lvl1pPr algn="ctr" defTabSz="342900" rtl="0" eaLnBrk="1" latinLnBrk="0" hangingPunct="1">
              <a:spcBef>
                <a:spcPct val="0"/>
              </a:spcBef>
              <a:buNone/>
              <a:defRPr sz="3300" kern="1200">
                <a:solidFill>
                  <a:schemeClr val="tx1"/>
                </a:solidFill>
                <a:latin typeface="+mj-lt"/>
                <a:ea typeface="+mj-ea"/>
                <a:cs typeface="+mj-cs"/>
              </a:defRPr>
            </a:lvl1pPr>
          </a:lstStyle>
          <a:p>
            <a:r>
              <a:rPr lang="en-IN" sz="1200" dirty="0">
                <a:solidFill>
                  <a:schemeClr val="bg1"/>
                </a:solidFill>
              </a:rPr>
              <a:t>© TINITIATE.COM</a:t>
            </a:r>
            <a:endParaRPr lang="en-IN" sz="1000" dirty="0">
              <a:solidFill>
                <a:schemeClr val="bg1"/>
              </a:solidFill>
            </a:endParaRPr>
          </a:p>
        </p:txBody>
      </p:sp>
    </p:spTree>
    <p:extLst>
      <p:ext uri="{BB962C8B-B14F-4D97-AF65-F5344CB8AC3E}">
        <p14:creationId xmlns:p14="http://schemas.microsoft.com/office/powerpoint/2010/main" val="6227934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74514"/>
            <a:ext cx="8229600" cy="3394472"/>
          </a:xfrm>
        </p:spPr>
        <p:txBody>
          <a:bodyPr>
            <a:noAutofit/>
          </a:bodyPr>
          <a:lstStyle/>
          <a:p>
            <a:pPr lvl="0"/>
            <a:r>
              <a:rPr sz="1800" dirty="0"/>
              <a:t>Aggregate functions with Analytical functions, extends the analytical capability of SQL queries by allowing aggregations to be computed over specific partitions or ordered subsets of data, providing deeper insights and flexibility in analyzing relational datasets.</a:t>
            </a:r>
          </a:p>
          <a:p>
            <a:pPr lvl="0" indent="0">
              <a:buNone/>
            </a:pPr>
            <a:r>
              <a:rPr sz="1400" i="1" dirty="0">
                <a:solidFill>
                  <a:srgbClr val="8F5902"/>
                </a:solidFill>
                <a:latin typeface="Courier"/>
              </a:rPr>
              <a:t>-- All aggregation functions for each department</a:t>
            </a:r>
            <a:br>
              <a:rPr sz="1400" dirty="0"/>
            </a:br>
            <a:r>
              <a:rPr sz="1400" b="1" dirty="0">
                <a:solidFill>
                  <a:srgbClr val="204A87"/>
                </a:solidFill>
                <a:latin typeface="Courier"/>
              </a:rPr>
              <a:t>SELECT</a:t>
            </a:r>
            <a:r>
              <a:rPr sz="1400" dirty="0">
                <a:latin typeface="Courier"/>
              </a:rPr>
              <a:t>  </a:t>
            </a:r>
            <a:r>
              <a:rPr sz="1400" dirty="0" err="1">
                <a:latin typeface="Courier"/>
              </a:rPr>
              <a:t>deptno</a:t>
            </a:r>
            <a:br>
              <a:rPr sz="1400" dirty="0"/>
            </a:br>
            <a:r>
              <a:rPr sz="1400" dirty="0">
                <a:latin typeface="Courier"/>
              </a:rPr>
              <a:t>        ,</a:t>
            </a:r>
            <a:r>
              <a:rPr sz="1400" b="1" dirty="0">
                <a:solidFill>
                  <a:srgbClr val="204A87"/>
                </a:solidFill>
                <a:latin typeface="Courier"/>
              </a:rPr>
              <a:t>count</a:t>
            </a:r>
            <a:r>
              <a:rPr sz="1400" dirty="0">
                <a:latin typeface="Courier"/>
              </a:rPr>
              <a:t>(</a:t>
            </a:r>
            <a:r>
              <a:rPr sz="1400" dirty="0" err="1">
                <a:latin typeface="Courier"/>
              </a:rPr>
              <a:t>sal</a:t>
            </a:r>
            <a:r>
              <a:rPr sz="1400" dirty="0">
                <a:latin typeface="Courier"/>
              </a:rPr>
              <a:t>) </a:t>
            </a:r>
            <a:r>
              <a:rPr sz="1400" b="1" dirty="0">
                <a:solidFill>
                  <a:srgbClr val="204A87"/>
                </a:solidFill>
                <a:latin typeface="Courier"/>
              </a:rPr>
              <a:t>AS</a:t>
            </a:r>
            <a:r>
              <a:rPr sz="1400" dirty="0">
                <a:latin typeface="Courier"/>
              </a:rPr>
              <a:t> </a:t>
            </a:r>
            <a:r>
              <a:rPr sz="1400" dirty="0" err="1">
                <a:latin typeface="Courier"/>
              </a:rPr>
              <a:t>count_dept_sal</a:t>
            </a:r>
            <a:br>
              <a:rPr sz="1400" dirty="0"/>
            </a:br>
            <a:r>
              <a:rPr sz="1400" dirty="0">
                <a:latin typeface="Courier"/>
              </a:rPr>
              <a:t>        ,</a:t>
            </a:r>
            <a:r>
              <a:rPr sz="1400" b="1" dirty="0">
                <a:solidFill>
                  <a:srgbClr val="204A87"/>
                </a:solidFill>
                <a:latin typeface="Courier"/>
              </a:rPr>
              <a:t>max</a:t>
            </a:r>
            <a:r>
              <a:rPr sz="1400" dirty="0">
                <a:latin typeface="Courier"/>
              </a:rPr>
              <a:t>(</a:t>
            </a:r>
            <a:r>
              <a:rPr sz="1400" dirty="0" err="1">
                <a:latin typeface="Courier"/>
              </a:rPr>
              <a:t>sal</a:t>
            </a:r>
            <a:r>
              <a:rPr sz="1400" dirty="0">
                <a:latin typeface="Courier"/>
              </a:rPr>
              <a:t>) </a:t>
            </a:r>
            <a:r>
              <a:rPr sz="1400" b="1" dirty="0">
                <a:solidFill>
                  <a:srgbClr val="204A87"/>
                </a:solidFill>
                <a:latin typeface="Courier"/>
              </a:rPr>
              <a:t>AS</a:t>
            </a:r>
            <a:r>
              <a:rPr sz="1400" dirty="0">
                <a:latin typeface="Courier"/>
              </a:rPr>
              <a:t> </a:t>
            </a:r>
            <a:r>
              <a:rPr sz="1400" dirty="0" err="1">
                <a:latin typeface="Courier"/>
              </a:rPr>
              <a:t>max_dept_sal</a:t>
            </a:r>
            <a:br>
              <a:rPr sz="1400" dirty="0"/>
            </a:br>
            <a:r>
              <a:rPr sz="1400" dirty="0">
                <a:latin typeface="Courier"/>
              </a:rPr>
              <a:t>        ,</a:t>
            </a:r>
            <a:r>
              <a:rPr sz="1400" b="1" dirty="0">
                <a:solidFill>
                  <a:srgbClr val="204A87"/>
                </a:solidFill>
                <a:latin typeface="Courier"/>
              </a:rPr>
              <a:t>min</a:t>
            </a:r>
            <a:r>
              <a:rPr sz="1400" dirty="0">
                <a:latin typeface="Courier"/>
              </a:rPr>
              <a:t>(</a:t>
            </a:r>
            <a:r>
              <a:rPr sz="1400" dirty="0" err="1">
                <a:latin typeface="Courier"/>
              </a:rPr>
              <a:t>sal</a:t>
            </a:r>
            <a:r>
              <a:rPr sz="1400" dirty="0">
                <a:latin typeface="Courier"/>
              </a:rPr>
              <a:t>) </a:t>
            </a:r>
            <a:r>
              <a:rPr sz="1400" b="1" dirty="0">
                <a:solidFill>
                  <a:srgbClr val="204A87"/>
                </a:solidFill>
                <a:latin typeface="Courier"/>
              </a:rPr>
              <a:t>AS</a:t>
            </a:r>
            <a:r>
              <a:rPr sz="1400" dirty="0">
                <a:latin typeface="Courier"/>
              </a:rPr>
              <a:t> </a:t>
            </a:r>
            <a:r>
              <a:rPr sz="1400" dirty="0" err="1">
                <a:latin typeface="Courier"/>
              </a:rPr>
              <a:t>min_dept_sal</a:t>
            </a:r>
            <a:br>
              <a:rPr sz="1400" dirty="0"/>
            </a:br>
            <a:r>
              <a:rPr sz="1400" dirty="0">
                <a:latin typeface="Courier"/>
              </a:rPr>
              <a:t>        ,</a:t>
            </a:r>
            <a:r>
              <a:rPr sz="1400" b="1" dirty="0">
                <a:solidFill>
                  <a:srgbClr val="204A87"/>
                </a:solidFill>
                <a:latin typeface="Courier"/>
              </a:rPr>
              <a:t>sum</a:t>
            </a:r>
            <a:r>
              <a:rPr sz="1400" dirty="0">
                <a:latin typeface="Courier"/>
              </a:rPr>
              <a:t>(</a:t>
            </a:r>
            <a:r>
              <a:rPr sz="1400" dirty="0" err="1">
                <a:latin typeface="Courier"/>
              </a:rPr>
              <a:t>sal</a:t>
            </a:r>
            <a:r>
              <a:rPr sz="1400" dirty="0">
                <a:latin typeface="Courier"/>
              </a:rPr>
              <a:t>) </a:t>
            </a:r>
            <a:r>
              <a:rPr sz="1400" b="1" dirty="0">
                <a:solidFill>
                  <a:srgbClr val="204A87"/>
                </a:solidFill>
                <a:latin typeface="Courier"/>
              </a:rPr>
              <a:t>AS</a:t>
            </a:r>
            <a:r>
              <a:rPr sz="1400" dirty="0">
                <a:latin typeface="Courier"/>
              </a:rPr>
              <a:t> </a:t>
            </a:r>
            <a:r>
              <a:rPr sz="1400" dirty="0" err="1">
                <a:latin typeface="Courier"/>
              </a:rPr>
              <a:t>tot_dept_sal</a:t>
            </a:r>
            <a:br>
              <a:rPr sz="1400" dirty="0"/>
            </a:br>
            <a:r>
              <a:rPr sz="1400" dirty="0">
                <a:latin typeface="Courier"/>
              </a:rPr>
              <a:t>        ,</a:t>
            </a:r>
            <a:r>
              <a:rPr sz="1400" b="1" dirty="0">
                <a:solidFill>
                  <a:srgbClr val="204A87"/>
                </a:solidFill>
                <a:latin typeface="Courier"/>
              </a:rPr>
              <a:t>avg</a:t>
            </a:r>
            <a:r>
              <a:rPr sz="1400" dirty="0">
                <a:latin typeface="Courier"/>
              </a:rPr>
              <a:t>(</a:t>
            </a:r>
            <a:r>
              <a:rPr sz="1400" dirty="0" err="1">
                <a:latin typeface="Courier"/>
              </a:rPr>
              <a:t>sal</a:t>
            </a:r>
            <a:r>
              <a:rPr sz="1400" dirty="0">
                <a:latin typeface="Courier"/>
              </a:rPr>
              <a:t>) </a:t>
            </a:r>
            <a:r>
              <a:rPr sz="1400" b="1" dirty="0">
                <a:solidFill>
                  <a:srgbClr val="204A87"/>
                </a:solidFill>
                <a:latin typeface="Courier"/>
              </a:rPr>
              <a:t>AS</a:t>
            </a:r>
            <a:r>
              <a:rPr sz="1400" dirty="0">
                <a:latin typeface="Courier"/>
              </a:rPr>
              <a:t> </a:t>
            </a:r>
            <a:r>
              <a:rPr sz="1400" dirty="0" err="1">
                <a:latin typeface="Courier"/>
              </a:rPr>
              <a:t>avg_dept_sal</a:t>
            </a:r>
            <a:br>
              <a:rPr sz="1400" dirty="0"/>
            </a:br>
            <a:r>
              <a:rPr sz="1400" b="1" dirty="0">
                <a:solidFill>
                  <a:srgbClr val="204A87"/>
                </a:solidFill>
                <a:latin typeface="Courier"/>
              </a:rPr>
              <a:t>FROM</a:t>
            </a:r>
            <a:r>
              <a:rPr sz="1400" dirty="0">
                <a:latin typeface="Courier"/>
              </a:rPr>
              <a:t>  </a:t>
            </a:r>
            <a:r>
              <a:rPr sz="1400" dirty="0" err="1">
                <a:latin typeface="Courier"/>
              </a:rPr>
              <a:t>employees.emp</a:t>
            </a:r>
            <a:r>
              <a:rPr sz="1400" dirty="0">
                <a:latin typeface="Courier"/>
              </a:rPr>
              <a:t> e</a:t>
            </a:r>
            <a:br>
              <a:rPr sz="1400" dirty="0"/>
            </a:br>
            <a:r>
              <a:rPr sz="1400" b="1" dirty="0">
                <a:solidFill>
                  <a:srgbClr val="204A87"/>
                </a:solidFill>
                <a:latin typeface="Courier"/>
              </a:rPr>
              <a:t>GROUP</a:t>
            </a:r>
            <a:r>
              <a:rPr sz="1400" dirty="0">
                <a:latin typeface="Courier"/>
              </a:rPr>
              <a:t> </a:t>
            </a:r>
            <a:r>
              <a:rPr sz="1400" b="1" dirty="0">
                <a:solidFill>
                  <a:srgbClr val="204A87"/>
                </a:solidFill>
                <a:latin typeface="Courier"/>
              </a:rPr>
              <a:t>BY</a:t>
            </a:r>
            <a:r>
              <a:rPr sz="1400" dirty="0">
                <a:latin typeface="Courier"/>
              </a:rPr>
              <a:t> </a:t>
            </a:r>
            <a:r>
              <a:rPr sz="1400" dirty="0" err="1">
                <a:latin typeface="Courier"/>
              </a:rPr>
              <a:t>deptno</a:t>
            </a:r>
            <a:r>
              <a:rPr sz="1400" dirty="0">
                <a:latin typeface="Courier"/>
              </a:rPr>
              <a:t>;</a:t>
            </a:r>
          </a:p>
        </p:txBody>
      </p:sp>
      <p:sp>
        <p:nvSpPr>
          <p:cNvPr id="4" name="Title 1">
            <a:extLst>
              <a:ext uri="{FF2B5EF4-FFF2-40B4-BE49-F238E27FC236}">
                <a16:creationId xmlns:a16="http://schemas.microsoft.com/office/drawing/2014/main" id="{7896C94D-1132-1BFC-4B35-D6B271301963}"/>
              </a:ext>
            </a:extLst>
          </p:cNvPr>
          <p:cNvSpPr txBox="1">
            <a:spLocks/>
          </p:cNvSpPr>
          <p:nvPr/>
        </p:nvSpPr>
        <p:spPr>
          <a:xfrm>
            <a:off x="0" y="1"/>
            <a:ext cx="9144000" cy="548876"/>
          </a:xfrm>
          <a:prstGeom prst="rect">
            <a:avLst/>
          </a:prstGeom>
          <a:solidFill>
            <a:schemeClr val="tx1"/>
          </a:solidFill>
        </p:spPr>
        <p:txBody>
          <a:bodyPr vert="horz" lIns="91440" tIns="45720" rIns="91440" bIns="45720" rtlCol="0" anchor="ctr">
            <a:normAutofit/>
          </a:bodyPr>
          <a:lstStyle>
            <a:lvl1pPr algn="ctr" defTabSz="342900" rtl="0" eaLnBrk="1" latinLnBrk="0" hangingPunct="1">
              <a:spcBef>
                <a:spcPct val="0"/>
              </a:spcBef>
              <a:buNone/>
              <a:defRPr sz="3300" kern="1200">
                <a:solidFill>
                  <a:schemeClr val="tx1"/>
                </a:solidFill>
                <a:latin typeface="+mj-lt"/>
                <a:ea typeface="+mj-ea"/>
                <a:cs typeface="+mj-cs"/>
              </a:defRPr>
            </a:lvl1pPr>
          </a:lstStyle>
          <a:p>
            <a:pPr algn="l"/>
            <a:r>
              <a:rPr lang="en-IN" sz="2800" dirty="0">
                <a:solidFill>
                  <a:schemeClr val="bg1"/>
                </a:solidFill>
              </a:rPr>
              <a:t>Aggregate Functions:</a:t>
            </a:r>
          </a:p>
        </p:txBody>
      </p:sp>
      <p:pic>
        <p:nvPicPr>
          <p:cNvPr id="5" name="Picture 4">
            <a:extLst>
              <a:ext uri="{FF2B5EF4-FFF2-40B4-BE49-F238E27FC236}">
                <a16:creationId xmlns:a16="http://schemas.microsoft.com/office/drawing/2014/main" id="{4EE00146-9496-47B4-0C5B-5F364F70F04B}"/>
              </a:ext>
            </a:extLst>
          </p:cNvPr>
          <p:cNvPicPr>
            <a:picLocks noChangeAspect="1"/>
          </p:cNvPicPr>
          <p:nvPr/>
        </p:nvPicPr>
        <p:blipFill>
          <a:blip r:embed="rId2"/>
          <a:stretch>
            <a:fillRect/>
          </a:stretch>
        </p:blipFill>
        <p:spPr>
          <a:xfrm>
            <a:off x="5763675" y="51792"/>
            <a:ext cx="3380325" cy="445294"/>
          </a:xfrm>
          <a:prstGeom prst="rect">
            <a:avLst/>
          </a:prstGeom>
        </p:spPr>
      </p:pic>
      <p:sp>
        <p:nvSpPr>
          <p:cNvPr id="6" name="Title 1">
            <a:extLst>
              <a:ext uri="{FF2B5EF4-FFF2-40B4-BE49-F238E27FC236}">
                <a16:creationId xmlns:a16="http://schemas.microsoft.com/office/drawing/2014/main" id="{857B1758-DE38-4EF1-2600-FC4ED7229F96}"/>
              </a:ext>
            </a:extLst>
          </p:cNvPr>
          <p:cNvSpPr txBox="1">
            <a:spLocks/>
          </p:cNvSpPr>
          <p:nvPr/>
        </p:nvSpPr>
        <p:spPr>
          <a:xfrm>
            <a:off x="0" y="4858718"/>
            <a:ext cx="9144000" cy="284781"/>
          </a:xfrm>
          <a:prstGeom prst="rect">
            <a:avLst/>
          </a:prstGeom>
          <a:solidFill>
            <a:schemeClr val="tx1"/>
          </a:solidFill>
        </p:spPr>
        <p:txBody>
          <a:bodyPr vert="horz" lIns="91440" tIns="45720" rIns="91440" bIns="45720" rtlCol="0" anchor="ctr">
            <a:normAutofit/>
          </a:bodyPr>
          <a:lstStyle>
            <a:lvl1pPr algn="ctr" defTabSz="342900" rtl="0" eaLnBrk="1" latinLnBrk="0" hangingPunct="1">
              <a:spcBef>
                <a:spcPct val="0"/>
              </a:spcBef>
              <a:buNone/>
              <a:defRPr sz="3300" kern="1200">
                <a:solidFill>
                  <a:schemeClr val="tx1"/>
                </a:solidFill>
                <a:latin typeface="+mj-lt"/>
                <a:ea typeface="+mj-ea"/>
                <a:cs typeface="+mj-cs"/>
              </a:defRPr>
            </a:lvl1pPr>
          </a:lstStyle>
          <a:p>
            <a:r>
              <a:rPr lang="en-IN" sz="1200" dirty="0">
                <a:solidFill>
                  <a:schemeClr val="bg1"/>
                </a:solidFill>
              </a:rPr>
              <a:t>© TINITIATE.COM</a:t>
            </a:r>
            <a:endParaRPr lang="en-IN" sz="1000" dirty="0">
              <a:solidFill>
                <a:schemeClr val="bg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00A2BD-6D4E-299B-B05D-4070CDEBB9F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DEBDF0C-BE2F-8A00-AC61-074C70C0C284}"/>
              </a:ext>
            </a:extLst>
          </p:cNvPr>
          <p:cNvSpPr>
            <a:spLocks noGrp="1"/>
          </p:cNvSpPr>
          <p:nvPr>
            <p:ph idx="1"/>
          </p:nvPr>
        </p:nvSpPr>
        <p:spPr>
          <a:xfrm>
            <a:off x="457200" y="874514"/>
            <a:ext cx="8229600" cy="3394472"/>
          </a:xfrm>
        </p:spPr>
        <p:txBody>
          <a:bodyPr>
            <a:noAutofit/>
          </a:bodyPr>
          <a:lstStyle/>
          <a:p>
            <a:pPr lvl="0" indent="0">
              <a:buNone/>
            </a:pPr>
            <a:r>
              <a:rPr sz="1400" i="1" dirty="0">
                <a:solidFill>
                  <a:srgbClr val="8F5902"/>
                </a:solidFill>
                <a:latin typeface="Courier"/>
              </a:rPr>
              <a:t>-- All aggregation functions on emp table with respect to every dept </a:t>
            </a:r>
            <a:br>
              <a:rPr sz="1400" dirty="0"/>
            </a:br>
            <a:r>
              <a:rPr sz="1400" b="1" dirty="0">
                <a:solidFill>
                  <a:srgbClr val="204A87"/>
                </a:solidFill>
                <a:latin typeface="Courier"/>
              </a:rPr>
              <a:t>SELECT</a:t>
            </a:r>
            <a:r>
              <a:rPr sz="1400" dirty="0">
                <a:latin typeface="Courier"/>
              </a:rPr>
              <a:t>  e.</a:t>
            </a:r>
            <a:r>
              <a:rPr sz="1400" b="1" dirty="0">
                <a:solidFill>
                  <a:srgbClr val="CE5C00"/>
                </a:solidFill>
                <a:latin typeface="Courier"/>
              </a:rPr>
              <a:t>*</a:t>
            </a:r>
            <a:br>
              <a:rPr sz="1400" dirty="0"/>
            </a:br>
            <a:r>
              <a:rPr sz="1400" dirty="0">
                <a:latin typeface="Courier"/>
              </a:rPr>
              <a:t>       ,</a:t>
            </a:r>
            <a:r>
              <a:rPr sz="1400" b="1" dirty="0">
                <a:solidFill>
                  <a:srgbClr val="204A87"/>
                </a:solidFill>
                <a:latin typeface="Courier"/>
              </a:rPr>
              <a:t>max</a:t>
            </a:r>
            <a:r>
              <a:rPr sz="1400" dirty="0">
                <a:latin typeface="Courier"/>
              </a:rPr>
              <a:t>(</a:t>
            </a:r>
            <a:r>
              <a:rPr sz="1400" dirty="0" err="1">
                <a:latin typeface="Courier"/>
              </a:rPr>
              <a:t>sal</a:t>
            </a:r>
            <a:r>
              <a:rPr sz="1400" dirty="0">
                <a:latin typeface="Courier"/>
              </a:rPr>
              <a:t>) </a:t>
            </a:r>
            <a:r>
              <a:rPr sz="1400" b="1" dirty="0">
                <a:solidFill>
                  <a:srgbClr val="204A87"/>
                </a:solidFill>
                <a:latin typeface="Courier"/>
              </a:rPr>
              <a:t>OVER</a:t>
            </a:r>
            <a:r>
              <a:rPr sz="1400" dirty="0">
                <a:latin typeface="Courier"/>
              </a:rPr>
              <a:t> () </a:t>
            </a:r>
            <a:r>
              <a:rPr sz="1400" b="1" dirty="0">
                <a:solidFill>
                  <a:srgbClr val="204A87"/>
                </a:solidFill>
                <a:latin typeface="Courier"/>
              </a:rPr>
              <a:t>AS</a:t>
            </a:r>
            <a:r>
              <a:rPr sz="1400" dirty="0">
                <a:latin typeface="Courier"/>
              </a:rPr>
              <a:t> </a:t>
            </a:r>
            <a:r>
              <a:rPr sz="1400" dirty="0" err="1">
                <a:latin typeface="Courier"/>
              </a:rPr>
              <a:t>max_sal</a:t>
            </a:r>
            <a:br>
              <a:rPr sz="1400" dirty="0"/>
            </a:br>
            <a:r>
              <a:rPr sz="1400" dirty="0">
                <a:latin typeface="Courier"/>
              </a:rPr>
              <a:t>       ,</a:t>
            </a:r>
            <a:r>
              <a:rPr sz="1400" b="1" dirty="0">
                <a:solidFill>
                  <a:srgbClr val="204A87"/>
                </a:solidFill>
                <a:latin typeface="Courier"/>
              </a:rPr>
              <a:t>max</a:t>
            </a:r>
            <a:r>
              <a:rPr sz="1400" dirty="0">
                <a:latin typeface="Courier"/>
              </a:rPr>
              <a:t>(</a:t>
            </a:r>
            <a:r>
              <a:rPr sz="1400" dirty="0" err="1">
                <a:latin typeface="Courier"/>
              </a:rPr>
              <a:t>sal</a:t>
            </a:r>
            <a:r>
              <a:rPr sz="1400" dirty="0">
                <a:latin typeface="Courier"/>
              </a:rPr>
              <a:t>) </a:t>
            </a:r>
            <a:r>
              <a:rPr sz="1400" b="1" dirty="0">
                <a:solidFill>
                  <a:srgbClr val="204A87"/>
                </a:solidFill>
                <a:latin typeface="Courier"/>
              </a:rPr>
              <a:t>OVER</a:t>
            </a:r>
            <a:r>
              <a:rPr sz="1400" dirty="0">
                <a:latin typeface="Courier"/>
              </a:rPr>
              <a:t> (</a:t>
            </a:r>
            <a:r>
              <a:rPr sz="1400" b="1" dirty="0">
                <a:solidFill>
                  <a:srgbClr val="204A87"/>
                </a:solidFill>
                <a:latin typeface="Courier"/>
              </a:rPr>
              <a:t>PARTITION</a:t>
            </a:r>
            <a:r>
              <a:rPr sz="1400" dirty="0">
                <a:latin typeface="Courier"/>
              </a:rPr>
              <a:t> </a:t>
            </a:r>
            <a:r>
              <a:rPr sz="1400" b="1" dirty="0">
                <a:solidFill>
                  <a:srgbClr val="204A87"/>
                </a:solidFill>
                <a:latin typeface="Courier"/>
              </a:rPr>
              <a:t>BY</a:t>
            </a:r>
            <a:r>
              <a:rPr sz="1400" dirty="0">
                <a:latin typeface="Courier"/>
              </a:rPr>
              <a:t> </a:t>
            </a:r>
            <a:r>
              <a:rPr sz="1400" dirty="0" err="1">
                <a:latin typeface="Courier"/>
              </a:rPr>
              <a:t>deptno</a:t>
            </a:r>
            <a:r>
              <a:rPr sz="1400" dirty="0">
                <a:latin typeface="Courier"/>
              </a:rPr>
              <a:t>) </a:t>
            </a:r>
            <a:r>
              <a:rPr sz="1400" b="1" dirty="0">
                <a:solidFill>
                  <a:srgbClr val="204A87"/>
                </a:solidFill>
                <a:latin typeface="Courier"/>
              </a:rPr>
              <a:t>AS</a:t>
            </a:r>
            <a:r>
              <a:rPr sz="1400" dirty="0">
                <a:latin typeface="Courier"/>
              </a:rPr>
              <a:t> </a:t>
            </a:r>
            <a:r>
              <a:rPr sz="1400" dirty="0" err="1">
                <a:latin typeface="Courier"/>
              </a:rPr>
              <a:t>max_dept_sal</a:t>
            </a:r>
            <a:br>
              <a:rPr sz="1400" dirty="0"/>
            </a:br>
            <a:r>
              <a:rPr sz="1400" dirty="0">
                <a:latin typeface="Courier"/>
              </a:rPr>
              <a:t>       ,</a:t>
            </a:r>
            <a:r>
              <a:rPr sz="1400" b="1" dirty="0">
                <a:solidFill>
                  <a:srgbClr val="204A87"/>
                </a:solidFill>
                <a:latin typeface="Courier"/>
              </a:rPr>
              <a:t>min</a:t>
            </a:r>
            <a:r>
              <a:rPr sz="1400" dirty="0">
                <a:latin typeface="Courier"/>
              </a:rPr>
              <a:t>(</a:t>
            </a:r>
            <a:r>
              <a:rPr sz="1400" dirty="0" err="1">
                <a:latin typeface="Courier"/>
              </a:rPr>
              <a:t>sal</a:t>
            </a:r>
            <a:r>
              <a:rPr sz="1400" dirty="0">
                <a:latin typeface="Courier"/>
              </a:rPr>
              <a:t>) </a:t>
            </a:r>
            <a:r>
              <a:rPr sz="1400" b="1" dirty="0">
                <a:solidFill>
                  <a:srgbClr val="204A87"/>
                </a:solidFill>
                <a:latin typeface="Courier"/>
              </a:rPr>
              <a:t>OVER</a:t>
            </a:r>
            <a:r>
              <a:rPr sz="1400" dirty="0">
                <a:latin typeface="Courier"/>
              </a:rPr>
              <a:t> (</a:t>
            </a:r>
            <a:r>
              <a:rPr sz="1400" b="1" dirty="0">
                <a:solidFill>
                  <a:srgbClr val="204A87"/>
                </a:solidFill>
                <a:latin typeface="Courier"/>
              </a:rPr>
              <a:t>PARTITION</a:t>
            </a:r>
            <a:r>
              <a:rPr sz="1400" dirty="0">
                <a:latin typeface="Courier"/>
              </a:rPr>
              <a:t> </a:t>
            </a:r>
            <a:r>
              <a:rPr sz="1400" b="1" dirty="0">
                <a:solidFill>
                  <a:srgbClr val="204A87"/>
                </a:solidFill>
                <a:latin typeface="Courier"/>
              </a:rPr>
              <a:t>BY</a:t>
            </a:r>
            <a:r>
              <a:rPr sz="1400" dirty="0">
                <a:latin typeface="Courier"/>
              </a:rPr>
              <a:t> </a:t>
            </a:r>
            <a:r>
              <a:rPr sz="1400" dirty="0" err="1">
                <a:latin typeface="Courier"/>
              </a:rPr>
              <a:t>deptno</a:t>
            </a:r>
            <a:r>
              <a:rPr sz="1400" dirty="0">
                <a:latin typeface="Courier"/>
              </a:rPr>
              <a:t>) </a:t>
            </a:r>
            <a:r>
              <a:rPr sz="1400" b="1" dirty="0">
                <a:solidFill>
                  <a:srgbClr val="204A87"/>
                </a:solidFill>
                <a:latin typeface="Courier"/>
              </a:rPr>
              <a:t>AS</a:t>
            </a:r>
            <a:r>
              <a:rPr sz="1400" dirty="0">
                <a:latin typeface="Courier"/>
              </a:rPr>
              <a:t> </a:t>
            </a:r>
            <a:r>
              <a:rPr sz="1400" dirty="0" err="1">
                <a:latin typeface="Courier"/>
              </a:rPr>
              <a:t>min_dept_sal</a:t>
            </a:r>
            <a:br>
              <a:rPr sz="1400" dirty="0"/>
            </a:br>
            <a:r>
              <a:rPr sz="1400" dirty="0">
                <a:latin typeface="Courier"/>
              </a:rPr>
              <a:t>       ,</a:t>
            </a:r>
            <a:r>
              <a:rPr sz="1400" b="1" dirty="0">
                <a:solidFill>
                  <a:srgbClr val="204A87"/>
                </a:solidFill>
                <a:latin typeface="Courier"/>
              </a:rPr>
              <a:t>sum</a:t>
            </a:r>
            <a:r>
              <a:rPr sz="1400" dirty="0">
                <a:latin typeface="Courier"/>
              </a:rPr>
              <a:t>(</a:t>
            </a:r>
            <a:r>
              <a:rPr sz="1400" dirty="0" err="1">
                <a:latin typeface="Courier"/>
              </a:rPr>
              <a:t>sal</a:t>
            </a:r>
            <a:r>
              <a:rPr sz="1400" dirty="0">
                <a:latin typeface="Courier"/>
              </a:rPr>
              <a:t>) </a:t>
            </a:r>
            <a:r>
              <a:rPr sz="1400" b="1" dirty="0">
                <a:solidFill>
                  <a:srgbClr val="204A87"/>
                </a:solidFill>
                <a:latin typeface="Courier"/>
              </a:rPr>
              <a:t>OVER</a:t>
            </a:r>
            <a:r>
              <a:rPr sz="1400" dirty="0">
                <a:latin typeface="Courier"/>
              </a:rPr>
              <a:t> (</a:t>
            </a:r>
            <a:r>
              <a:rPr sz="1400" b="1" dirty="0">
                <a:solidFill>
                  <a:srgbClr val="204A87"/>
                </a:solidFill>
                <a:latin typeface="Courier"/>
              </a:rPr>
              <a:t>PARTITION</a:t>
            </a:r>
            <a:r>
              <a:rPr sz="1400" dirty="0">
                <a:latin typeface="Courier"/>
              </a:rPr>
              <a:t> </a:t>
            </a:r>
            <a:r>
              <a:rPr sz="1400" b="1" dirty="0">
                <a:solidFill>
                  <a:srgbClr val="204A87"/>
                </a:solidFill>
                <a:latin typeface="Courier"/>
              </a:rPr>
              <a:t>BY</a:t>
            </a:r>
            <a:r>
              <a:rPr sz="1400" dirty="0">
                <a:latin typeface="Courier"/>
              </a:rPr>
              <a:t> </a:t>
            </a:r>
            <a:r>
              <a:rPr sz="1400" dirty="0" err="1">
                <a:latin typeface="Courier"/>
              </a:rPr>
              <a:t>deptno</a:t>
            </a:r>
            <a:r>
              <a:rPr sz="1400" dirty="0">
                <a:latin typeface="Courier"/>
              </a:rPr>
              <a:t>) </a:t>
            </a:r>
            <a:r>
              <a:rPr sz="1400" b="1" dirty="0">
                <a:solidFill>
                  <a:srgbClr val="204A87"/>
                </a:solidFill>
                <a:latin typeface="Courier"/>
              </a:rPr>
              <a:t>AS</a:t>
            </a:r>
            <a:r>
              <a:rPr sz="1400" dirty="0">
                <a:latin typeface="Courier"/>
              </a:rPr>
              <a:t> </a:t>
            </a:r>
            <a:r>
              <a:rPr sz="1400" dirty="0" err="1">
                <a:latin typeface="Courier"/>
              </a:rPr>
              <a:t>tot_dept_sal</a:t>
            </a:r>
            <a:br>
              <a:rPr sz="1400" dirty="0"/>
            </a:br>
            <a:r>
              <a:rPr sz="1400" dirty="0">
                <a:latin typeface="Courier"/>
              </a:rPr>
              <a:t>       ,</a:t>
            </a:r>
            <a:r>
              <a:rPr sz="1400" b="1" dirty="0">
                <a:solidFill>
                  <a:srgbClr val="204A87"/>
                </a:solidFill>
                <a:latin typeface="Courier"/>
              </a:rPr>
              <a:t>avg</a:t>
            </a:r>
            <a:r>
              <a:rPr sz="1400" dirty="0">
                <a:latin typeface="Courier"/>
              </a:rPr>
              <a:t>(</a:t>
            </a:r>
            <a:r>
              <a:rPr sz="1400" dirty="0" err="1">
                <a:latin typeface="Courier"/>
              </a:rPr>
              <a:t>sal</a:t>
            </a:r>
            <a:r>
              <a:rPr sz="1400" dirty="0">
                <a:latin typeface="Courier"/>
              </a:rPr>
              <a:t>) </a:t>
            </a:r>
            <a:r>
              <a:rPr sz="1400" b="1" dirty="0">
                <a:solidFill>
                  <a:srgbClr val="204A87"/>
                </a:solidFill>
                <a:latin typeface="Courier"/>
              </a:rPr>
              <a:t>OVER</a:t>
            </a:r>
            <a:r>
              <a:rPr sz="1400" dirty="0">
                <a:latin typeface="Courier"/>
              </a:rPr>
              <a:t> (</a:t>
            </a:r>
            <a:r>
              <a:rPr sz="1400" b="1" dirty="0">
                <a:solidFill>
                  <a:srgbClr val="204A87"/>
                </a:solidFill>
                <a:latin typeface="Courier"/>
              </a:rPr>
              <a:t>PARTITION</a:t>
            </a:r>
            <a:r>
              <a:rPr sz="1400" dirty="0">
                <a:latin typeface="Courier"/>
              </a:rPr>
              <a:t> </a:t>
            </a:r>
            <a:r>
              <a:rPr sz="1400" b="1" dirty="0">
                <a:solidFill>
                  <a:srgbClr val="204A87"/>
                </a:solidFill>
                <a:latin typeface="Courier"/>
              </a:rPr>
              <a:t>BY</a:t>
            </a:r>
            <a:r>
              <a:rPr sz="1400" dirty="0">
                <a:latin typeface="Courier"/>
              </a:rPr>
              <a:t> </a:t>
            </a:r>
            <a:r>
              <a:rPr sz="1400" dirty="0" err="1">
                <a:latin typeface="Courier"/>
              </a:rPr>
              <a:t>deptno</a:t>
            </a:r>
            <a:r>
              <a:rPr sz="1400" dirty="0">
                <a:latin typeface="Courier"/>
              </a:rPr>
              <a:t>) </a:t>
            </a:r>
            <a:r>
              <a:rPr sz="1400" b="1" dirty="0">
                <a:solidFill>
                  <a:srgbClr val="204A87"/>
                </a:solidFill>
                <a:latin typeface="Courier"/>
              </a:rPr>
              <a:t>AS</a:t>
            </a:r>
            <a:r>
              <a:rPr sz="1400" dirty="0">
                <a:latin typeface="Courier"/>
              </a:rPr>
              <a:t> </a:t>
            </a:r>
            <a:r>
              <a:rPr sz="1400" dirty="0" err="1">
                <a:latin typeface="Courier"/>
              </a:rPr>
              <a:t>avg_dept_sal</a:t>
            </a:r>
            <a:br>
              <a:rPr sz="1400" dirty="0"/>
            </a:br>
            <a:r>
              <a:rPr sz="1400" dirty="0">
                <a:latin typeface="Courier"/>
              </a:rPr>
              <a:t>       ,</a:t>
            </a:r>
            <a:r>
              <a:rPr sz="1400" b="1" dirty="0">
                <a:solidFill>
                  <a:srgbClr val="204A87"/>
                </a:solidFill>
                <a:latin typeface="Courier"/>
              </a:rPr>
              <a:t>count</a:t>
            </a:r>
            <a:r>
              <a:rPr sz="1400" dirty="0">
                <a:latin typeface="Courier"/>
              </a:rPr>
              <a:t>(</a:t>
            </a:r>
            <a:r>
              <a:rPr sz="1400" dirty="0">
                <a:solidFill>
                  <a:srgbClr val="0000CF"/>
                </a:solidFill>
                <a:latin typeface="Courier"/>
              </a:rPr>
              <a:t>1</a:t>
            </a:r>
            <a:r>
              <a:rPr sz="1400" dirty="0">
                <a:latin typeface="Courier"/>
              </a:rPr>
              <a:t>) </a:t>
            </a:r>
            <a:r>
              <a:rPr sz="1400" b="1" dirty="0">
                <a:solidFill>
                  <a:srgbClr val="204A87"/>
                </a:solidFill>
                <a:latin typeface="Courier"/>
              </a:rPr>
              <a:t>OVER</a:t>
            </a:r>
            <a:r>
              <a:rPr sz="1400" dirty="0">
                <a:latin typeface="Courier"/>
              </a:rPr>
              <a:t> (</a:t>
            </a:r>
            <a:r>
              <a:rPr sz="1400" b="1" dirty="0">
                <a:solidFill>
                  <a:srgbClr val="204A87"/>
                </a:solidFill>
                <a:latin typeface="Courier"/>
              </a:rPr>
              <a:t>PARTITION</a:t>
            </a:r>
            <a:r>
              <a:rPr sz="1400" dirty="0">
                <a:latin typeface="Courier"/>
              </a:rPr>
              <a:t> </a:t>
            </a:r>
            <a:r>
              <a:rPr sz="1400" b="1" dirty="0">
                <a:solidFill>
                  <a:srgbClr val="204A87"/>
                </a:solidFill>
                <a:latin typeface="Courier"/>
              </a:rPr>
              <a:t>BY</a:t>
            </a:r>
            <a:r>
              <a:rPr sz="1400" dirty="0">
                <a:latin typeface="Courier"/>
              </a:rPr>
              <a:t> </a:t>
            </a:r>
            <a:r>
              <a:rPr sz="1400" dirty="0" err="1">
                <a:latin typeface="Courier"/>
              </a:rPr>
              <a:t>deptno</a:t>
            </a:r>
            <a:r>
              <a:rPr sz="1400" dirty="0">
                <a:latin typeface="Courier"/>
              </a:rPr>
              <a:t>) </a:t>
            </a:r>
            <a:r>
              <a:rPr sz="1400" b="1" dirty="0">
                <a:solidFill>
                  <a:srgbClr val="204A87"/>
                </a:solidFill>
                <a:latin typeface="Courier"/>
              </a:rPr>
              <a:t>AS</a:t>
            </a:r>
            <a:r>
              <a:rPr sz="1400" dirty="0">
                <a:latin typeface="Courier"/>
              </a:rPr>
              <a:t> </a:t>
            </a:r>
            <a:r>
              <a:rPr sz="1400" dirty="0" err="1">
                <a:latin typeface="Courier"/>
              </a:rPr>
              <a:t>emp_count_by_dept</a:t>
            </a:r>
            <a:br>
              <a:rPr sz="1400" dirty="0"/>
            </a:br>
            <a:r>
              <a:rPr sz="1400" b="1" dirty="0">
                <a:solidFill>
                  <a:srgbClr val="204A87"/>
                </a:solidFill>
                <a:latin typeface="Courier"/>
              </a:rPr>
              <a:t>FROM</a:t>
            </a:r>
            <a:r>
              <a:rPr sz="1400" dirty="0">
                <a:latin typeface="Courier"/>
              </a:rPr>
              <a:t>   </a:t>
            </a:r>
            <a:r>
              <a:rPr sz="1400" dirty="0" err="1">
                <a:latin typeface="Courier"/>
              </a:rPr>
              <a:t>employees.emp</a:t>
            </a:r>
            <a:r>
              <a:rPr sz="1400" dirty="0">
                <a:latin typeface="Courier"/>
              </a:rPr>
              <a:t> e;</a:t>
            </a:r>
          </a:p>
        </p:txBody>
      </p:sp>
      <p:sp>
        <p:nvSpPr>
          <p:cNvPr id="4" name="Title 1">
            <a:extLst>
              <a:ext uri="{FF2B5EF4-FFF2-40B4-BE49-F238E27FC236}">
                <a16:creationId xmlns:a16="http://schemas.microsoft.com/office/drawing/2014/main" id="{722FAC3B-26A8-04A1-3F5F-EAC4C2B5DCC5}"/>
              </a:ext>
            </a:extLst>
          </p:cNvPr>
          <p:cNvSpPr txBox="1">
            <a:spLocks/>
          </p:cNvSpPr>
          <p:nvPr/>
        </p:nvSpPr>
        <p:spPr>
          <a:xfrm>
            <a:off x="0" y="1"/>
            <a:ext cx="9144000" cy="548876"/>
          </a:xfrm>
          <a:prstGeom prst="rect">
            <a:avLst/>
          </a:prstGeom>
          <a:solidFill>
            <a:schemeClr val="tx1"/>
          </a:solidFill>
        </p:spPr>
        <p:txBody>
          <a:bodyPr vert="horz" lIns="91440" tIns="45720" rIns="91440" bIns="45720" rtlCol="0" anchor="ctr">
            <a:normAutofit/>
          </a:bodyPr>
          <a:lstStyle>
            <a:lvl1pPr algn="ctr" defTabSz="342900" rtl="0" eaLnBrk="1" latinLnBrk="0" hangingPunct="1">
              <a:spcBef>
                <a:spcPct val="0"/>
              </a:spcBef>
              <a:buNone/>
              <a:defRPr sz="3300" kern="1200">
                <a:solidFill>
                  <a:schemeClr val="tx1"/>
                </a:solidFill>
                <a:latin typeface="+mj-lt"/>
                <a:ea typeface="+mj-ea"/>
                <a:cs typeface="+mj-cs"/>
              </a:defRPr>
            </a:lvl1pPr>
          </a:lstStyle>
          <a:p>
            <a:pPr algn="l"/>
            <a:r>
              <a:rPr lang="en-IN" sz="2800" dirty="0">
                <a:solidFill>
                  <a:schemeClr val="bg1"/>
                </a:solidFill>
              </a:rPr>
              <a:t>Aggregate Functions:</a:t>
            </a:r>
          </a:p>
        </p:txBody>
      </p:sp>
      <p:pic>
        <p:nvPicPr>
          <p:cNvPr id="5" name="Picture 4">
            <a:extLst>
              <a:ext uri="{FF2B5EF4-FFF2-40B4-BE49-F238E27FC236}">
                <a16:creationId xmlns:a16="http://schemas.microsoft.com/office/drawing/2014/main" id="{84BB0018-7DAE-5029-F4D5-F4EF4BF9774B}"/>
              </a:ext>
            </a:extLst>
          </p:cNvPr>
          <p:cNvPicPr>
            <a:picLocks noChangeAspect="1"/>
          </p:cNvPicPr>
          <p:nvPr/>
        </p:nvPicPr>
        <p:blipFill>
          <a:blip r:embed="rId2"/>
          <a:stretch>
            <a:fillRect/>
          </a:stretch>
        </p:blipFill>
        <p:spPr>
          <a:xfrm>
            <a:off x="5763675" y="51792"/>
            <a:ext cx="3380325" cy="445294"/>
          </a:xfrm>
          <a:prstGeom prst="rect">
            <a:avLst/>
          </a:prstGeom>
        </p:spPr>
      </p:pic>
      <p:sp>
        <p:nvSpPr>
          <p:cNvPr id="6" name="Title 1">
            <a:extLst>
              <a:ext uri="{FF2B5EF4-FFF2-40B4-BE49-F238E27FC236}">
                <a16:creationId xmlns:a16="http://schemas.microsoft.com/office/drawing/2014/main" id="{48F018FF-1109-76C3-8955-520BBBFEE636}"/>
              </a:ext>
            </a:extLst>
          </p:cNvPr>
          <p:cNvSpPr txBox="1">
            <a:spLocks/>
          </p:cNvSpPr>
          <p:nvPr/>
        </p:nvSpPr>
        <p:spPr>
          <a:xfrm>
            <a:off x="0" y="4858718"/>
            <a:ext cx="9144000" cy="284781"/>
          </a:xfrm>
          <a:prstGeom prst="rect">
            <a:avLst/>
          </a:prstGeom>
          <a:solidFill>
            <a:schemeClr val="tx1"/>
          </a:solidFill>
        </p:spPr>
        <p:txBody>
          <a:bodyPr vert="horz" lIns="91440" tIns="45720" rIns="91440" bIns="45720" rtlCol="0" anchor="ctr">
            <a:normAutofit/>
          </a:bodyPr>
          <a:lstStyle>
            <a:lvl1pPr algn="ctr" defTabSz="342900" rtl="0" eaLnBrk="1" latinLnBrk="0" hangingPunct="1">
              <a:spcBef>
                <a:spcPct val="0"/>
              </a:spcBef>
              <a:buNone/>
              <a:defRPr sz="3300" kern="1200">
                <a:solidFill>
                  <a:schemeClr val="tx1"/>
                </a:solidFill>
                <a:latin typeface="+mj-lt"/>
                <a:ea typeface="+mj-ea"/>
                <a:cs typeface="+mj-cs"/>
              </a:defRPr>
            </a:lvl1pPr>
          </a:lstStyle>
          <a:p>
            <a:r>
              <a:rPr lang="en-IN" sz="1200" dirty="0">
                <a:solidFill>
                  <a:schemeClr val="bg1"/>
                </a:solidFill>
              </a:rPr>
              <a:t>© TINITIATE.COM</a:t>
            </a:r>
            <a:endParaRPr lang="en-IN" sz="1000" dirty="0">
              <a:solidFill>
                <a:schemeClr val="bg1"/>
              </a:solidFill>
            </a:endParaRPr>
          </a:p>
        </p:txBody>
      </p:sp>
    </p:spTree>
    <p:extLst>
      <p:ext uri="{BB962C8B-B14F-4D97-AF65-F5344CB8AC3E}">
        <p14:creationId xmlns:p14="http://schemas.microsoft.com/office/powerpoint/2010/main" val="40977817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74514"/>
            <a:ext cx="8229600" cy="3394472"/>
          </a:xfrm>
        </p:spPr>
        <p:txBody>
          <a:bodyPr>
            <a:noAutofit/>
          </a:bodyPr>
          <a:lstStyle/>
          <a:p>
            <a:pPr lvl="0"/>
            <a:r>
              <a:rPr sz="1800" dirty="0"/>
              <a:t>Assigns a unique sequential number to each row, starting with 1.</a:t>
            </a:r>
          </a:p>
          <a:p>
            <a:pPr lvl="0" indent="0">
              <a:buNone/>
            </a:pPr>
            <a:r>
              <a:rPr sz="1400" i="1" dirty="0">
                <a:solidFill>
                  <a:srgbClr val="8F5902"/>
                </a:solidFill>
                <a:latin typeface="Courier"/>
              </a:rPr>
              <a:t>-- Assigns a unique integer to each row to establish the row's position within the partition of a result set.</a:t>
            </a:r>
            <a:br>
              <a:rPr sz="1400" dirty="0"/>
            </a:br>
            <a:r>
              <a:rPr sz="1400" b="1" dirty="0">
                <a:solidFill>
                  <a:srgbClr val="204A87"/>
                </a:solidFill>
                <a:latin typeface="Courier"/>
              </a:rPr>
              <a:t>SELECT</a:t>
            </a:r>
            <a:r>
              <a:rPr sz="1400" dirty="0">
                <a:latin typeface="Courier"/>
              </a:rPr>
              <a:t> </a:t>
            </a:r>
            <a:r>
              <a:rPr sz="1400" dirty="0" err="1">
                <a:latin typeface="Courier"/>
              </a:rPr>
              <a:t>empno</a:t>
            </a:r>
            <a:r>
              <a:rPr sz="1400" dirty="0">
                <a:latin typeface="Courier"/>
              </a:rPr>
              <a:t>, </a:t>
            </a:r>
            <a:r>
              <a:rPr sz="1400" dirty="0" err="1">
                <a:latin typeface="Courier"/>
              </a:rPr>
              <a:t>ename</a:t>
            </a:r>
            <a:r>
              <a:rPr sz="1400" dirty="0">
                <a:latin typeface="Courier"/>
              </a:rPr>
              <a:t>, </a:t>
            </a:r>
            <a:r>
              <a:rPr sz="1400" b="1" dirty="0">
                <a:solidFill>
                  <a:srgbClr val="204A87"/>
                </a:solidFill>
                <a:latin typeface="Courier"/>
              </a:rPr>
              <a:t>ROW_NUMBER</a:t>
            </a:r>
            <a:r>
              <a:rPr sz="1400" dirty="0">
                <a:latin typeface="Courier"/>
              </a:rPr>
              <a:t>() </a:t>
            </a:r>
            <a:r>
              <a:rPr sz="1400" b="1" dirty="0">
                <a:solidFill>
                  <a:srgbClr val="204A87"/>
                </a:solidFill>
                <a:latin typeface="Courier"/>
              </a:rPr>
              <a:t>OVER</a:t>
            </a:r>
            <a:r>
              <a:rPr sz="1400" dirty="0">
                <a:latin typeface="Courier"/>
              </a:rPr>
              <a:t> (</a:t>
            </a:r>
            <a:r>
              <a:rPr sz="1400" b="1" dirty="0">
                <a:solidFill>
                  <a:srgbClr val="204A87"/>
                </a:solidFill>
                <a:latin typeface="Courier"/>
              </a:rPr>
              <a:t>ORDER</a:t>
            </a:r>
            <a:r>
              <a:rPr sz="1400" dirty="0">
                <a:latin typeface="Courier"/>
              </a:rPr>
              <a:t> </a:t>
            </a:r>
            <a:r>
              <a:rPr sz="1400" b="1" dirty="0">
                <a:solidFill>
                  <a:srgbClr val="204A87"/>
                </a:solidFill>
                <a:latin typeface="Courier"/>
              </a:rPr>
              <a:t>BY</a:t>
            </a:r>
            <a:r>
              <a:rPr sz="1400" dirty="0">
                <a:latin typeface="Courier"/>
              </a:rPr>
              <a:t> </a:t>
            </a:r>
            <a:r>
              <a:rPr sz="1400" dirty="0" err="1">
                <a:latin typeface="Courier"/>
              </a:rPr>
              <a:t>empno</a:t>
            </a:r>
            <a:r>
              <a:rPr sz="1400" dirty="0">
                <a:latin typeface="Courier"/>
              </a:rPr>
              <a:t>) </a:t>
            </a:r>
            <a:r>
              <a:rPr sz="1400" b="1" dirty="0">
                <a:solidFill>
                  <a:srgbClr val="204A87"/>
                </a:solidFill>
                <a:latin typeface="Courier"/>
              </a:rPr>
              <a:t>AS</a:t>
            </a:r>
            <a:r>
              <a:rPr sz="1400" dirty="0">
                <a:latin typeface="Courier"/>
              </a:rPr>
              <a:t> </a:t>
            </a:r>
            <a:r>
              <a:rPr sz="1400" dirty="0" err="1">
                <a:latin typeface="Courier"/>
              </a:rPr>
              <a:t>row_num</a:t>
            </a:r>
            <a:br>
              <a:rPr sz="1400" dirty="0"/>
            </a:br>
            <a:r>
              <a:rPr sz="1400" b="1" dirty="0">
                <a:solidFill>
                  <a:srgbClr val="204A87"/>
                </a:solidFill>
                <a:latin typeface="Courier"/>
              </a:rPr>
              <a:t>FROM</a:t>
            </a:r>
            <a:r>
              <a:rPr sz="1400" dirty="0">
                <a:latin typeface="Courier"/>
              </a:rPr>
              <a:t> </a:t>
            </a:r>
            <a:r>
              <a:rPr sz="1400" dirty="0" err="1">
                <a:latin typeface="Courier"/>
              </a:rPr>
              <a:t>employees.emp</a:t>
            </a:r>
            <a:r>
              <a:rPr sz="1400" dirty="0">
                <a:latin typeface="Courier"/>
              </a:rPr>
              <a:t>;</a:t>
            </a:r>
            <a:br>
              <a:rPr sz="1400" dirty="0"/>
            </a:br>
            <a:br>
              <a:rPr sz="1400" dirty="0"/>
            </a:br>
            <a:r>
              <a:rPr sz="1400" i="1" dirty="0">
                <a:solidFill>
                  <a:srgbClr val="8F5902"/>
                </a:solidFill>
                <a:latin typeface="Courier"/>
              </a:rPr>
              <a:t>-- Assigns a unique integer to each row within the partition.</a:t>
            </a:r>
            <a:br>
              <a:rPr sz="1400" dirty="0"/>
            </a:br>
            <a:r>
              <a:rPr sz="1400" b="1" dirty="0">
                <a:solidFill>
                  <a:srgbClr val="204A87"/>
                </a:solidFill>
                <a:latin typeface="Courier"/>
              </a:rPr>
              <a:t>SELECT</a:t>
            </a:r>
            <a:r>
              <a:rPr sz="1400" dirty="0">
                <a:latin typeface="Courier"/>
              </a:rPr>
              <a:t> </a:t>
            </a:r>
            <a:r>
              <a:rPr sz="1400" dirty="0" err="1">
                <a:latin typeface="Courier"/>
              </a:rPr>
              <a:t>empno</a:t>
            </a:r>
            <a:r>
              <a:rPr sz="1400" dirty="0">
                <a:latin typeface="Courier"/>
              </a:rPr>
              <a:t>, </a:t>
            </a:r>
            <a:r>
              <a:rPr sz="1400" dirty="0" err="1">
                <a:latin typeface="Courier"/>
              </a:rPr>
              <a:t>ename</a:t>
            </a:r>
            <a:r>
              <a:rPr sz="1400" dirty="0">
                <a:latin typeface="Courier"/>
              </a:rPr>
              <a:t>, </a:t>
            </a:r>
            <a:r>
              <a:rPr sz="1400" dirty="0" err="1">
                <a:latin typeface="Courier"/>
              </a:rPr>
              <a:t>deptno</a:t>
            </a:r>
            <a:r>
              <a:rPr sz="1400" dirty="0">
                <a:latin typeface="Courier"/>
              </a:rPr>
              <a:t>, </a:t>
            </a:r>
            <a:r>
              <a:rPr sz="1400" b="1" dirty="0">
                <a:solidFill>
                  <a:srgbClr val="204A87"/>
                </a:solidFill>
                <a:latin typeface="Courier"/>
              </a:rPr>
              <a:t>ROW_NUMBER</a:t>
            </a:r>
            <a:r>
              <a:rPr sz="1400" dirty="0">
                <a:latin typeface="Courier"/>
              </a:rPr>
              <a:t>() </a:t>
            </a:r>
            <a:r>
              <a:rPr sz="1400" b="1" dirty="0">
                <a:solidFill>
                  <a:srgbClr val="204A87"/>
                </a:solidFill>
                <a:latin typeface="Courier"/>
              </a:rPr>
              <a:t>OVER</a:t>
            </a:r>
            <a:br>
              <a:rPr sz="1400" dirty="0"/>
            </a:br>
            <a:r>
              <a:rPr sz="1400" dirty="0">
                <a:latin typeface="Courier"/>
              </a:rPr>
              <a:t> (</a:t>
            </a:r>
            <a:r>
              <a:rPr sz="1400" b="1" dirty="0">
                <a:solidFill>
                  <a:srgbClr val="204A87"/>
                </a:solidFill>
                <a:latin typeface="Courier"/>
              </a:rPr>
              <a:t>PARTITION</a:t>
            </a:r>
            <a:r>
              <a:rPr sz="1400" dirty="0">
                <a:latin typeface="Courier"/>
              </a:rPr>
              <a:t> </a:t>
            </a:r>
            <a:r>
              <a:rPr sz="1400" b="1" dirty="0">
                <a:solidFill>
                  <a:srgbClr val="204A87"/>
                </a:solidFill>
                <a:latin typeface="Courier"/>
              </a:rPr>
              <a:t>BY</a:t>
            </a:r>
            <a:r>
              <a:rPr sz="1400" dirty="0">
                <a:latin typeface="Courier"/>
              </a:rPr>
              <a:t> </a:t>
            </a:r>
            <a:r>
              <a:rPr sz="1400" dirty="0" err="1">
                <a:latin typeface="Courier"/>
              </a:rPr>
              <a:t>deptno</a:t>
            </a:r>
            <a:r>
              <a:rPr sz="1400" dirty="0">
                <a:latin typeface="Courier"/>
              </a:rPr>
              <a:t> </a:t>
            </a:r>
            <a:r>
              <a:rPr sz="1400" b="1" dirty="0">
                <a:solidFill>
                  <a:srgbClr val="204A87"/>
                </a:solidFill>
                <a:latin typeface="Courier"/>
              </a:rPr>
              <a:t>ORDER</a:t>
            </a:r>
            <a:r>
              <a:rPr sz="1400" dirty="0">
                <a:latin typeface="Courier"/>
              </a:rPr>
              <a:t> </a:t>
            </a:r>
            <a:r>
              <a:rPr sz="1400" b="1" dirty="0">
                <a:solidFill>
                  <a:srgbClr val="204A87"/>
                </a:solidFill>
                <a:latin typeface="Courier"/>
              </a:rPr>
              <a:t>BY</a:t>
            </a:r>
            <a:r>
              <a:rPr sz="1400" dirty="0">
                <a:latin typeface="Courier"/>
              </a:rPr>
              <a:t> </a:t>
            </a:r>
            <a:r>
              <a:rPr sz="1400" dirty="0" err="1">
                <a:latin typeface="Courier"/>
              </a:rPr>
              <a:t>empno</a:t>
            </a:r>
            <a:r>
              <a:rPr sz="1400" dirty="0">
                <a:latin typeface="Courier"/>
              </a:rPr>
              <a:t>) </a:t>
            </a:r>
            <a:r>
              <a:rPr sz="1400" b="1" dirty="0">
                <a:solidFill>
                  <a:srgbClr val="204A87"/>
                </a:solidFill>
                <a:latin typeface="Courier"/>
              </a:rPr>
              <a:t>AS</a:t>
            </a:r>
            <a:r>
              <a:rPr sz="1400" dirty="0">
                <a:latin typeface="Courier"/>
              </a:rPr>
              <a:t> </a:t>
            </a:r>
            <a:r>
              <a:rPr sz="1400" dirty="0" err="1">
                <a:latin typeface="Courier"/>
              </a:rPr>
              <a:t>row_num</a:t>
            </a:r>
            <a:r>
              <a:rPr sz="1400" dirty="0">
                <a:latin typeface="Courier"/>
              </a:rPr>
              <a:t> </a:t>
            </a:r>
            <a:r>
              <a:rPr sz="1400" b="1" dirty="0">
                <a:solidFill>
                  <a:srgbClr val="204A87"/>
                </a:solidFill>
                <a:latin typeface="Courier"/>
              </a:rPr>
              <a:t>FROM</a:t>
            </a:r>
            <a:r>
              <a:rPr sz="1400" dirty="0">
                <a:latin typeface="Courier"/>
              </a:rPr>
              <a:t> </a:t>
            </a:r>
            <a:r>
              <a:rPr sz="1400" dirty="0" err="1">
                <a:latin typeface="Courier"/>
              </a:rPr>
              <a:t>employees.emp</a:t>
            </a:r>
            <a:r>
              <a:rPr sz="1400" dirty="0">
                <a:latin typeface="Courier"/>
              </a:rPr>
              <a:t>;</a:t>
            </a:r>
            <a:br>
              <a:rPr sz="1400" dirty="0"/>
            </a:br>
            <a:br>
              <a:rPr sz="1400" dirty="0"/>
            </a:br>
            <a:r>
              <a:rPr sz="1400" i="1" dirty="0">
                <a:solidFill>
                  <a:srgbClr val="8F5902"/>
                </a:solidFill>
                <a:latin typeface="Courier"/>
              </a:rPr>
              <a:t>-- Assigns a unique integer to each row within a partition, based on salary for each department.</a:t>
            </a:r>
            <a:br>
              <a:rPr sz="1400" dirty="0"/>
            </a:br>
            <a:r>
              <a:rPr sz="1400" b="1" dirty="0">
                <a:solidFill>
                  <a:srgbClr val="204A87"/>
                </a:solidFill>
                <a:latin typeface="Courier"/>
              </a:rPr>
              <a:t>SELECT</a:t>
            </a:r>
            <a:r>
              <a:rPr sz="1400" dirty="0">
                <a:latin typeface="Courier"/>
              </a:rPr>
              <a:t> </a:t>
            </a:r>
            <a:r>
              <a:rPr sz="1400" dirty="0" err="1">
                <a:latin typeface="Courier"/>
              </a:rPr>
              <a:t>deptno</a:t>
            </a:r>
            <a:r>
              <a:rPr sz="1400" dirty="0">
                <a:latin typeface="Courier"/>
              </a:rPr>
              <a:t>, </a:t>
            </a:r>
            <a:r>
              <a:rPr sz="1400" dirty="0" err="1">
                <a:latin typeface="Courier"/>
              </a:rPr>
              <a:t>ename</a:t>
            </a:r>
            <a:r>
              <a:rPr sz="1400" dirty="0">
                <a:latin typeface="Courier"/>
              </a:rPr>
              <a:t>, </a:t>
            </a:r>
            <a:r>
              <a:rPr sz="1400" dirty="0" err="1">
                <a:latin typeface="Courier"/>
              </a:rPr>
              <a:t>sal</a:t>
            </a:r>
            <a:r>
              <a:rPr sz="1400" dirty="0">
                <a:latin typeface="Courier"/>
              </a:rPr>
              <a:t>,</a:t>
            </a:r>
            <a:br>
              <a:rPr sz="1400" dirty="0"/>
            </a:br>
            <a:r>
              <a:rPr sz="1400" dirty="0">
                <a:latin typeface="Courier"/>
              </a:rPr>
              <a:t>       </a:t>
            </a:r>
            <a:r>
              <a:rPr sz="1400" b="1" dirty="0">
                <a:solidFill>
                  <a:srgbClr val="204A87"/>
                </a:solidFill>
                <a:latin typeface="Courier"/>
              </a:rPr>
              <a:t>ROW_NUMBER</a:t>
            </a:r>
            <a:r>
              <a:rPr sz="1400" dirty="0">
                <a:latin typeface="Courier"/>
              </a:rPr>
              <a:t>() </a:t>
            </a:r>
            <a:r>
              <a:rPr sz="1400" b="1" dirty="0">
                <a:solidFill>
                  <a:srgbClr val="204A87"/>
                </a:solidFill>
                <a:latin typeface="Courier"/>
              </a:rPr>
              <a:t>OVER</a:t>
            </a:r>
            <a:r>
              <a:rPr sz="1400" dirty="0">
                <a:latin typeface="Courier"/>
              </a:rPr>
              <a:t> (</a:t>
            </a:r>
            <a:r>
              <a:rPr sz="1400" b="1" dirty="0">
                <a:solidFill>
                  <a:srgbClr val="204A87"/>
                </a:solidFill>
                <a:latin typeface="Courier"/>
              </a:rPr>
              <a:t>PARTITION</a:t>
            </a:r>
            <a:r>
              <a:rPr sz="1400" dirty="0">
                <a:latin typeface="Courier"/>
              </a:rPr>
              <a:t> </a:t>
            </a:r>
            <a:r>
              <a:rPr sz="1400" b="1" dirty="0">
                <a:solidFill>
                  <a:srgbClr val="204A87"/>
                </a:solidFill>
                <a:latin typeface="Courier"/>
              </a:rPr>
              <a:t>BY</a:t>
            </a:r>
            <a:r>
              <a:rPr sz="1400" dirty="0">
                <a:latin typeface="Courier"/>
              </a:rPr>
              <a:t> </a:t>
            </a:r>
            <a:r>
              <a:rPr sz="1400" dirty="0" err="1">
                <a:latin typeface="Courier"/>
              </a:rPr>
              <a:t>deptno</a:t>
            </a:r>
            <a:r>
              <a:rPr sz="1400" dirty="0">
                <a:latin typeface="Courier"/>
              </a:rPr>
              <a:t> </a:t>
            </a:r>
            <a:r>
              <a:rPr sz="1400" b="1" dirty="0">
                <a:solidFill>
                  <a:srgbClr val="204A87"/>
                </a:solidFill>
                <a:latin typeface="Courier"/>
              </a:rPr>
              <a:t>ORDER</a:t>
            </a:r>
            <a:r>
              <a:rPr sz="1400" dirty="0">
                <a:latin typeface="Courier"/>
              </a:rPr>
              <a:t> </a:t>
            </a:r>
            <a:r>
              <a:rPr sz="1400" b="1" dirty="0">
                <a:solidFill>
                  <a:srgbClr val="204A87"/>
                </a:solidFill>
                <a:latin typeface="Courier"/>
              </a:rPr>
              <a:t>BY</a:t>
            </a:r>
            <a:r>
              <a:rPr sz="1400" dirty="0">
                <a:latin typeface="Courier"/>
              </a:rPr>
              <a:t> </a:t>
            </a:r>
            <a:r>
              <a:rPr sz="1400" dirty="0" err="1">
                <a:latin typeface="Courier"/>
              </a:rPr>
              <a:t>sal</a:t>
            </a:r>
            <a:r>
              <a:rPr sz="1400" dirty="0">
                <a:latin typeface="Courier"/>
              </a:rPr>
              <a:t> </a:t>
            </a:r>
            <a:r>
              <a:rPr sz="1400" b="1" dirty="0">
                <a:solidFill>
                  <a:srgbClr val="204A87"/>
                </a:solidFill>
                <a:latin typeface="Courier"/>
              </a:rPr>
              <a:t>DESC</a:t>
            </a:r>
            <a:r>
              <a:rPr sz="1400" dirty="0">
                <a:latin typeface="Courier"/>
              </a:rPr>
              <a:t>) </a:t>
            </a:r>
            <a:r>
              <a:rPr sz="1400" b="1" dirty="0">
                <a:solidFill>
                  <a:srgbClr val="204A87"/>
                </a:solidFill>
                <a:latin typeface="Courier"/>
              </a:rPr>
              <a:t>AS</a:t>
            </a:r>
            <a:r>
              <a:rPr sz="1400" dirty="0">
                <a:latin typeface="Courier"/>
              </a:rPr>
              <a:t> </a:t>
            </a:r>
            <a:r>
              <a:rPr sz="1400" dirty="0" err="1">
                <a:latin typeface="Courier"/>
              </a:rPr>
              <a:t>row_num</a:t>
            </a:r>
            <a:br>
              <a:rPr sz="1400" dirty="0"/>
            </a:br>
            <a:r>
              <a:rPr sz="1400" b="1" dirty="0">
                <a:solidFill>
                  <a:srgbClr val="204A87"/>
                </a:solidFill>
                <a:latin typeface="Courier"/>
              </a:rPr>
              <a:t>FROM</a:t>
            </a:r>
            <a:r>
              <a:rPr sz="1400" dirty="0">
                <a:latin typeface="Courier"/>
              </a:rPr>
              <a:t> </a:t>
            </a:r>
            <a:r>
              <a:rPr sz="1400" dirty="0" err="1">
                <a:latin typeface="Courier"/>
              </a:rPr>
              <a:t>employees.emp</a:t>
            </a:r>
            <a:r>
              <a:rPr sz="1400" dirty="0">
                <a:latin typeface="Courier"/>
              </a:rPr>
              <a:t>;</a:t>
            </a:r>
          </a:p>
        </p:txBody>
      </p:sp>
      <p:sp>
        <p:nvSpPr>
          <p:cNvPr id="4" name="Title 1">
            <a:extLst>
              <a:ext uri="{FF2B5EF4-FFF2-40B4-BE49-F238E27FC236}">
                <a16:creationId xmlns:a16="http://schemas.microsoft.com/office/drawing/2014/main" id="{D4F38575-268A-3080-2733-AE58356DEFA0}"/>
              </a:ext>
            </a:extLst>
          </p:cNvPr>
          <p:cNvSpPr txBox="1">
            <a:spLocks/>
          </p:cNvSpPr>
          <p:nvPr/>
        </p:nvSpPr>
        <p:spPr>
          <a:xfrm>
            <a:off x="0" y="1"/>
            <a:ext cx="9144000" cy="548876"/>
          </a:xfrm>
          <a:prstGeom prst="rect">
            <a:avLst/>
          </a:prstGeom>
          <a:solidFill>
            <a:schemeClr val="tx1"/>
          </a:solidFill>
        </p:spPr>
        <p:txBody>
          <a:bodyPr vert="horz" lIns="91440" tIns="45720" rIns="91440" bIns="45720" rtlCol="0" anchor="ctr">
            <a:normAutofit/>
          </a:bodyPr>
          <a:lstStyle>
            <a:lvl1pPr algn="ctr" defTabSz="342900" rtl="0" eaLnBrk="1" latinLnBrk="0" hangingPunct="1">
              <a:spcBef>
                <a:spcPct val="0"/>
              </a:spcBef>
              <a:buNone/>
              <a:defRPr sz="3300" kern="1200">
                <a:solidFill>
                  <a:schemeClr val="tx1"/>
                </a:solidFill>
                <a:latin typeface="+mj-lt"/>
                <a:ea typeface="+mj-ea"/>
                <a:cs typeface="+mj-cs"/>
              </a:defRPr>
            </a:lvl1pPr>
          </a:lstStyle>
          <a:p>
            <a:pPr algn="l"/>
            <a:r>
              <a:rPr lang="en-IN" sz="2800" dirty="0">
                <a:solidFill>
                  <a:schemeClr val="bg1"/>
                </a:solidFill>
              </a:rPr>
              <a:t>ROW_NUMBER():</a:t>
            </a:r>
          </a:p>
        </p:txBody>
      </p:sp>
      <p:pic>
        <p:nvPicPr>
          <p:cNvPr id="5" name="Picture 4">
            <a:extLst>
              <a:ext uri="{FF2B5EF4-FFF2-40B4-BE49-F238E27FC236}">
                <a16:creationId xmlns:a16="http://schemas.microsoft.com/office/drawing/2014/main" id="{37079B80-FB29-7647-BDC7-5620670C5E1E}"/>
              </a:ext>
            </a:extLst>
          </p:cNvPr>
          <p:cNvPicPr>
            <a:picLocks noChangeAspect="1"/>
          </p:cNvPicPr>
          <p:nvPr/>
        </p:nvPicPr>
        <p:blipFill>
          <a:blip r:embed="rId2"/>
          <a:stretch>
            <a:fillRect/>
          </a:stretch>
        </p:blipFill>
        <p:spPr>
          <a:xfrm>
            <a:off x="5763675" y="51792"/>
            <a:ext cx="3380325" cy="445294"/>
          </a:xfrm>
          <a:prstGeom prst="rect">
            <a:avLst/>
          </a:prstGeom>
        </p:spPr>
      </p:pic>
      <p:sp>
        <p:nvSpPr>
          <p:cNvPr id="6" name="Title 1">
            <a:extLst>
              <a:ext uri="{FF2B5EF4-FFF2-40B4-BE49-F238E27FC236}">
                <a16:creationId xmlns:a16="http://schemas.microsoft.com/office/drawing/2014/main" id="{545800F3-2875-FD09-31A9-433A6CBD7263}"/>
              </a:ext>
            </a:extLst>
          </p:cNvPr>
          <p:cNvSpPr txBox="1">
            <a:spLocks/>
          </p:cNvSpPr>
          <p:nvPr/>
        </p:nvSpPr>
        <p:spPr>
          <a:xfrm>
            <a:off x="0" y="4858718"/>
            <a:ext cx="9144000" cy="284781"/>
          </a:xfrm>
          <a:prstGeom prst="rect">
            <a:avLst/>
          </a:prstGeom>
          <a:solidFill>
            <a:schemeClr val="tx1"/>
          </a:solidFill>
        </p:spPr>
        <p:txBody>
          <a:bodyPr vert="horz" lIns="91440" tIns="45720" rIns="91440" bIns="45720" rtlCol="0" anchor="ctr">
            <a:normAutofit/>
          </a:bodyPr>
          <a:lstStyle>
            <a:lvl1pPr algn="ctr" defTabSz="342900" rtl="0" eaLnBrk="1" latinLnBrk="0" hangingPunct="1">
              <a:spcBef>
                <a:spcPct val="0"/>
              </a:spcBef>
              <a:buNone/>
              <a:defRPr sz="3300" kern="1200">
                <a:solidFill>
                  <a:schemeClr val="tx1"/>
                </a:solidFill>
                <a:latin typeface="+mj-lt"/>
                <a:ea typeface="+mj-ea"/>
                <a:cs typeface="+mj-cs"/>
              </a:defRPr>
            </a:lvl1pPr>
          </a:lstStyle>
          <a:p>
            <a:r>
              <a:rPr lang="en-IN" sz="1200" dirty="0">
                <a:solidFill>
                  <a:schemeClr val="bg1"/>
                </a:solidFill>
              </a:rPr>
              <a:t>© TINITIATE.COM</a:t>
            </a:r>
            <a:endParaRPr lang="en-IN" sz="1000" dirty="0">
              <a:solidFill>
                <a:schemeClr val="bg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19E9B1-2042-8D9D-7CBE-EAC404CF156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E1D4F44-EF41-0829-520C-608A3C9FC9A6}"/>
              </a:ext>
            </a:extLst>
          </p:cNvPr>
          <p:cNvSpPr>
            <a:spLocks noGrp="1"/>
          </p:cNvSpPr>
          <p:nvPr>
            <p:ph idx="1"/>
          </p:nvPr>
        </p:nvSpPr>
        <p:spPr>
          <a:xfrm>
            <a:off x="457200" y="874514"/>
            <a:ext cx="8229600" cy="3394472"/>
          </a:xfrm>
        </p:spPr>
        <p:txBody>
          <a:bodyPr>
            <a:noAutofit/>
          </a:bodyPr>
          <a:lstStyle/>
          <a:p>
            <a:pPr lvl="0" indent="0">
              <a:buNone/>
            </a:pPr>
            <a:r>
              <a:rPr lang="en-US" sz="1400" i="1" dirty="0">
                <a:solidFill>
                  <a:srgbClr val="8F5902"/>
                </a:solidFill>
                <a:latin typeface="Courier"/>
              </a:rPr>
              <a:t>-- Find the employee with the highest salary in each department</a:t>
            </a:r>
            <a:br>
              <a:rPr lang="en-US" sz="1400" dirty="0"/>
            </a:br>
            <a:r>
              <a:rPr lang="en-US" sz="1400" b="1" dirty="0">
                <a:solidFill>
                  <a:srgbClr val="204A87"/>
                </a:solidFill>
                <a:latin typeface="Courier"/>
              </a:rPr>
              <a:t>SELECT</a:t>
            </a:r>
            <a:r>
              <a:rPr lang="en-US" sz="1400" dirty="0">
                <a:latin typeface="Courier"/>
              </a:rPr>
              <a:t> </a:t>
            </a:r>
            <a:r>
              <a:rPr lang="en-US" sz="1400" dirty="0" err="1">
                <a:latin typeface="Courier"/>
              </a:rPr>
              <a:t>deptno</a:t>
            </a:r>
            <a:r>
              <a:rPr lang="en-US" sz="1400" dirty="0">
                <a:latin typeface="Courier"/>
              </a:rPr>
              <a:t>, </a:t>
            </a:r>
            <a:r>
              <a:rPr lang="en-US" sz="1400" dirty="0" err="1">
                <a:latin typeface="Courier"/>
              </a:rPr>
              <a:t>ename</a:t>
            </a:r>
            <a:r>
              <a:rPr lang="en-US" sz="1400" dirty="0">
                <a:latin typeface="Courier"/>
              </a:rPr>
              <a:t>, </a:t>
            </a:r>
            <a:r>
              <a:rPr lang="en-US" sz="1400" dirty="0" err="1">
                <a:latin typeface="Courier"/>
              </a:rPr>
              <a:t>sal</a:t>
            </a:r>
            <a:br>
              <a:rPr lang="en-US" sz="1400" dirty="0"/>
            </a:br>
            <a:r>
              <a:rPr lang="en-US" sz="1400" b="1" dirty="0">
                <a:solidFill>
                  <a:srgbClr val="204A87"/>
                </a:solidFill>
                <a:latin typeface="Courier"/>
              </a:rPr>
              <a:t>FROM</a:t>
            </a:r>
            <a:r>
              <a:rPr lang="en-US" sz="1400" dirty="0">
                <a:latin typeface="Courier"/>
              </a:rPr>
              <a:t> (</a:t>
            </a:r>
            <a:br>
              <a:rPr lang="en-US" sz="1400" dirty="0"/>
            </a:br>
            <a:r>
              <a:rPr lang="en-US" sz="1400" dirty="0">
                <a:latin typeface="Courier"/>
              </a:rPr>
              <a:t>    </a:t>
            </a:r>
            <a:r>
              <a:rPr lang="en-US" sz="1400" b="1" dirty="0">
                <a:solidFill>
                  <a:srgbClr val="204A87"/>
                </a:solidFill>
                <a:latin typeface="Courier"/>
              </a:rPr>
              <a:t>SELECT</a:t>
            </a:r>
            <a:r>
              <a:rPr lang="en-US" sz="1400" dirty="0">
                <a:latin typeface="Courier"/>
              </a:rPr>
              <a:t> </a:t>
            </a:r>
            <a:r>
              <a:rPr lang="en-US" sz="1400" dirty="0" err="1">
                <a:latin typeface="Courier"/>
              </a:rPr>
              <a:t>deptno</a:t>
            </a:r>
            <a:r>
              <a:rPr lang="en-US" sz="1400" dirty="0">
                <a:latin typeface="Courier"/>
              </a:rPr>
              <a:t>, </a:t>
            </a:r>
            <a:r>
              <a:rPr lang="en-US" sz="1400" dirty="0" err="1">
                <a:latin typeface="Courier"/>
              </a:rPr>
              <a:t>ename</a:t>
            </a:r>
            <a:r>
              <a:rPr lang="en-US" sz="1400" dirty="0">
                <a:latin typeface="Courier"/>
              </a:rPr>
              <a:t>, </a:t>
            </a:r>
            <a:r>
              <a:rPr lang="en-US" sz="1400" dirty="0" err="1">
                <a:latin typeface="Courier"/>
              </a:rPr>
              <a:t>sal</a:t>
            </a:r>
            <a:r>
              <a:rPr lang="en-US" sz="1400" dirty="0">
                <a:latin typeface="Courier"/>
              </a:rPr>
              <a:t>,</a:t>
            </a:r>
            <a:br>
              <a:rPr lang="en-US" sz="1400" dirty="0"/>
            </a:br>
            <a:r>
              <a:rPr lang="en-US" sz="1400" dirty="0">
                <a:latin typeface="Courier"/>
              </a:rPr>
              <a:t>           </a:t>
            </a:r>
            <a:r>
              <a:rPr lang="en-US" sz="1400" b="1" dirty="0">
                <a:solidFill>
                  <a:srgbClr val="204A87"/>
                </a:solidFill>
                <a:latin typeface="Courier"/>
              </a:rPr>
              <a:t>ROW_NUMBER</a:t>
            </a:r>
            <a:r>
              <a:rPr lang="en-US" sz="1400" dirty="0">
                <a:latin typeface="Courier"/>
              </a:rPr>
              <a:t>() </a:t>
            </a:r>
            <a:r>
              <a:rPr lang="en-US" sz="1400" b="1" dirty="0">
                <a:solidFill>
                  <a:srgbClr val="204A87"/>
                </a:solidFill>
                <a:latin typeface="Courier"/>
              </a:rPr>
              <a:t>OVER</a:t>
            </a:r>
            <a:r>
              <a:rPr lang="en-US" sz="1400" dirty="0">
                <a:latin typeface="Courier"/>
              </a:rPr>
              <a:t> (</a:t>
            </a:r>
            <a:r>
              <a:rPr lang="en-US" sz="1400" b="1" dirty="0">
                <a:solidFill>
                  <a:srgbClr val="204A87"/>
                </a:solidFill>
                <a:latin typeface="Courier"/>
              </a:rPr>
              <a:t>PARTITION</a:t>
            </a:r>
            <a:r>
              <a:rPr lang="en-US" sz="1400" dirty="0">
                <a:latin typeface="Courier"/>
              </a:rPr>
              <a:t> </a:t>
            </a:r>
            <a:r>
              <a:rPr lang="en-US" sz="1400" b="1" dirty="0">
                <a:solidFill>
                  <a:srgbClr val="204A87"/>
                </a:solidFill>
                <a:latin typeface="Courier"/>
              </a:rPr>
              <a:t>BY</a:t>
            </a:r>
            <a:r>
              <a:rPr lang="en-US" sz="1400" dirty="0">
                <a:latin typeface="Courier"/>
              </a:rPr>
              <a:t> </a:t>
            </a:r>
            <a:r>
              <a:rPr lang="en-US" sz="1400" dirty="0" err="1">
                <a:latin typeface="Courier"/>
              </a:rPr>
              <a:t>deptno</a:t>
            </a:r>
            <a:r>
              <a:rPr lang="en-US" sz="1400" dirty="0">
                <a:latin typeface="Courier"/>
              </a:rPr>
              <a:t> </a:t>
            </a:r>
            <a:r>
              <a:rPr lang="en-US" sz="1400" b="1" dirty="0">
                <a:solidFill>
                  <a:srgbClr val="204A87"/>
                </a:solidFill>
                <a:latin typeface="Courier"/>
              </a:rPr>
              <a:t>ORDER</a:t>
            </a:r>
            <a:r>
              <a:rPr lang="en-US" sz="1400" dirty="0">
                <a:latin typeface="Courier"/>
              </a:rPr>
              <a:t> </a:t>
            </a:r>
            <a:r>
              <a:rPr lang="en-US" sz="1400" b="1" dirty="0">
                <a:solidFill>
                  <a:srgbClr val="204A87"/>
                </a:solidFill>
                <a:latin typeface="Courier"/>
              </a:rPr>
              <a:t>BY</a:t>
            </a:r>
            <a:r>
              <a:rPr lang="en-US" sz="1400" dirty="0">
                <a:latin typeface="Courier"/>
              </a:rPr>
              <a:t> </a:t>
            </a:r>
            <a:r>
              <a:rPr lang="en-US" sz="1400" dirty="0" err="1">
                <a:latin typeface="Courier"/>
              </a:rPr>
              <a:t>sal</a:t>
            </a:r>
            <a:r>
              <a:rPr lang="en-US" sz="1400" dirty="0">
                <a:latin typeface="Courier"/>
              </a:rPr>
              <a:t> </a:t>
            </a:r>
            <a:r>
              <a:rPr lang="en-US" sz="1400" b="1" dirty="0">
                <a:solidFill>
                  <a:srgbClr val="204A87"/>
                </a:solidFill>
                <a:latin typeface="Courier"/>
              </a:rPr>
              <a:t>DESC</a:t>
            </a:r>
            <a:r>
              <a:rPr lang="en-US" sz="1400" dirty="0">
                <a:latin typeface="Courier"/>
              </a:rPr>
              <a:t>) </a:t>
            </a:r>
            <a:r>
              <a:rPr lang="en-US" sz="1400" b="1" dirty="0">
                <a:solidFill>
                  <a:srgbClr val="204A87"/>
                </a:solidFill>
                <a:latin typeface="Courier"/>
              </a:rPr>
              <a:t>AS</a:t>
            </a:r>
            <a:r>
              <a:rPr lang="en-US" sz="1400" dirty="0">
                <a:latin typeface="Courier"/>
              </a:rPr>
              <a:t> </a:t>
            </a:r>
            <a:r>
              <a:rPr lang="en-US" sz="1400" dirty="0" err="1">
                <a:latin typeface="Courier"/>
              </a:rPr>
              <a:t>row_num</a:t>
            </a:r>
            <a:br>
              <a:rPr lang="en-US" sz="1400" dirty="0"/>
            </a:br>
            <a:r>
              <a:rPr lang="en-US" sz="1400" dirty="0">
                <a:latin typeface="Courier"/>
              </a:rPr>
              <a:t>    </a:t>
            </a:r>
            <a:r>
              <a:rPr lang="en-US" sz="1400" b="1" dirty="0">
                <a:solidFill>
                  <a:srgbClr val="204A87"/>
                </a:solidFill>
                <a:latin typeface="Courier"/>
              </a:rPr>
              <a:t>FROM</a:t>
            </a:r>
            <a:r>
              <a:rPr lang="en-US" sz="1400" dirty="0">
                <a:latin typeface="Courier"/>
              </a:rPr>
              <a:t> </a:t>
            </a:r>
            <a:r>
              <a:rPr lang="en-US" sz="1400" dirty="0" err="1">
                <a:latin typeface="Courier"/>
              </a:rPr>
              <a:t>employees.emp</a:t>
            </a:r>
            <a:br>
              <a:rPr lang="en-US" sz="1400" dirty="0"/>
            </a:br>
            <a:r>
              <a:rPr lang="en-US" sz="1400" dirty="0">
                <a:latin typeface="Courier"/>
              </a:rPr>
              <a:t>) </a:t>
            </a:r>
            <a:r>
              <a:rPr lang="en-US" sz="1400" b="1" dirty="0">
                <a:solidFill>
                  <a:srgbClr val="204A87"/>
                </a:solidFill>
                <a:latin typeface="Courier"/>
              </a:rPr>
              <a:t>AS</a:t>
            </a:r>
            <a:r>
              <a:rPr lang="en-US" sz="1400" dirty="0">
                <a:latin typeface="Courier"/>
              </a:rPr>
              <a:t> ranked</a:t>
            </a:r>
            <a:br>
              <a:rPr lang="en-US" sz="1400" dirty="0"/>
            </a:br>
            <a:r>
              <a:rPr lang="en-US" sz="1400" b="1" dirty="0">
                <a:solidFill>
                  <a:srgbClr val="204A87"/>
                </a:solidFill>
                <a:latin typeface="Courier"/>
              </a:rPr>
              <a:t>WHERE</a:t>
            </a:r>
            <a:r>
              <a:rPr lang="en-US" sz="1400" dirty="0">
                <a:latin typeface="Courier"/>
              </a:rPr>
              <a:t> </a:t>
            </a:r>
            <a:r>
              <a:rPr lang="en-US" sz="1400" dirty="0" err="1">
                <a:latin typeface="Courier"/>
              </a:rPr>
              <a:t>row_num</a:t>
            </a:r>
            <a:r>
              <a:rPr lang="en-US" sz="1400" dirty="0">
                <a:latin typeface="Courier"/>
              </a:rPr>
              <a:t> </a:t>
            </a:r>
            <a:r>
              <a:rPr lang="en-US" sz="1400" b="1" dirty="0">
                <a:solidFill>
                  <a:srgbClr val="CE5C00"/>
                </a:solidFill>
                <a:latin typeface="Courier"/>
              </a:rPr>
              <a:t>=</a:t>
            </a:r>
            <a:r>
              <a:rPr lang="en-US" sz="1400" dirty="0">
                <a:latin typeface="Courier"/>
              </a:rPr>
              <a:t> </a:t>
            </a:r>
            <a:r>
              <a:rPr lang="en-US" sz="1400" dirty="0">
                <a:solidFill>
                  <a:srgbClr val="0000CF"/>
                </a:solidFill>
                <a:latin typeface="Courier"/>
              </a:rPr>
              <a:t>1</a:t>
            </a:r>
            <a:r>
              <a:rPr lang="en-US" sz="1400" dirty="0">
                <a:latin typeface="Courier"/>
              </a:rPr>
              <a:t>;</a:t>
            </a:r>
            <a:br>
              <a:rPr lang="en-US" sz="1400" dirty="0"/>
            </a:br>
            <a:br>
              <a:rPr lang="en-US" sz="1400" dirty="0"/>
            </a:br>
            <a:r>
              <a:rPr lang="en-US" sz="1400" i="1" dirty="0">
                <a:solidFill>
                  <a:srgbClr val="8F5902"/>
                </a:solidFill>
                <a:latin typeface="Courier"/>
              </a:rPr>
              <a:t>-- Multi-Ordered Row Numbering</a:t>
            </a:r>
            <a:br>
              <a:rPr lang="en-US" sz="1400" dirty="0"/>
            </a:br>
            <a:r>
              <a:rPr lang="en-US" sz="1400" b="1" dirty="0">
                <a:solidFill>
                  <a:srgbClr val="204A87"/>
                </a:solidFill>
                <a:latin typeface="Courier"/>
              </a:rPr>
              <a:t>SELECT</a:t>
            </a:r>
            <a:r>
              <a:rPr lang="en-US" sz="1400" dirty="0">
                <a:latin typeface="Courier"/>
              </a:rPr>
              <a:t>  </a:t>
            </a:r>
            <a:r>
              <a:rPr lang="en-US" sz="1400" b="1" dirty="0" err="1">
                <a:solidFill>
                  <a:srgbClr val="204A87"/>
                </a:solidFill>
                <a:latin typeface="Courier"/>
              </a:rPr>
              <a:t>row_number</a:t>
            </a:r>
            <a:r>
              <a:rPr lang="en-US" sz="1400" dirty="0">
                <a:latin typeface="Courier"/>
              </a:rPr>
              <a:t>() </a:t>
            </a:r>
            <a:r>
              <a:rPr lang="en-US" sz="1400" b="1" dirty="0">
                <a:solidFill>
                  <a:srgbClr val="204A87"/>
                </a:solidFill>
                <a:latin typeface="Courier"/>
              </a:rPr>
              <a:t>OVER</a:t>
            </a:r>
            <a:r>
              <a:rPr lang="en-US" sz="1400" dirty="0">
                <a:latin typeface="Courier"/>
              </a:rPr>
              <a:t> (</a:t>
            </a:r>
            <a:r>
              <a:rPr lang="en-US" sz="1400" b="1" dirty="0">
                <a:solidFill>
                  <a:srgbClr val="204A87"/>
                </a:solidFill>
                <a:latin typeface="Courier"/>
              </a:rPr>
              <a:t>ORDER</a:t>
            </a:r>
            <a:r>
              <a:rPr lang="en-US" sz="1400" dirty="0">
                <a:latin typeface="Courier"/>
              </a:rPr>
              <a:t> </a:t>
            </a:r>
            <a:r>
              <a:rPr lang="en-US" sz="1400" b="1" dirty="0">
                <a:solidFill>
                  <a:srgbClr val="204A87"/>
                </a:solidFill>
                <a:latin typeface="Courier"/>
              </a:rPr>
              <a:t>BY</a:t>
            </a:r>
            <a:r>
              <a:rPr lang="en-US" sz="1400" dirty="0">
                <a:latin typeface="Courier"/>
              </a:rPr>
              <a:t> </a:t>
            </a:r>
            <a:r>
              <a:rPr lang="en-US" sz="1400" dirty="0" err="1">
                <a:latin typeface="Courier"/>
              </a:rPr>
              <a:t>sal</a:t>
            </a:r>
            <a:r>
              <a:rPr lang="en-US" sz="1400" dirty="0">
                <a:latin typeface="Courier"/>
              </a:rPr>
              <a:t>)      </a:t>
            </a:r>
            <a:r>
              <a:rPr lang="en-US" sz="1400" b="1" dirty="0">
                <a:solidFill>
                  <a:srgbClr val="204A87"/>
                </a:solidFill>
                <a:latin typeface="Courier"/>
              </a:rPr>
              <a:t>AS</a:t>
            </a:r>
            <a:r>
              <a:rPr lang="en-US" sz="1400" dirty="0">
                <a:latin typeface="Courier"/>
              </a:rPr>
              <a:t> </a:t>
            </a:r>
            <a:r>
              <a:rPr lang="en-US" sz="1400" dirty="0" err="1">
                <a:latin typeface="Courier"/>
              </a:rPr>
              <a:t>sal_rn_asc</a:t>
            </a:r>
            <a:r>
              <a:rPr lang="en-US" sz="1400" dirty="0">
                <a:latin typeface="Courier"/>
              </a:rPr>
              <a:t>,</a:t>
            </a:r>
            <a:br>
              <a:rPr lang="en-US" sz="1400" dirty="0"/>
            </a:br>
            <a:r>
              <a:rPr lang="en-US" sz="1400" dirty="0">
                <a:latin typeface="Courier"/>
              </a:rPr>
              <a:t>        </a:t>
            </a:r>
            <a:r>
              <a:rPr lang="en-US" sz="1400" b="1" dirty="0" err="1">
                <a:solidFill>
                  <a:srgbClr val="204A87"/>
                </a:solidFill>
                <a:latin typeface="Courier"/>
              </a:rPr>
              <a:t>row_number</a:t>
            </a:r>
            <a:r>
              <a:rPr lang="en-US" sz="1400" dirty="0">
                <a:latin typeface="Courier"/>
              </a:rPr>
              <a:t>() </a:t>
            </a:r>
            <a:r>
              <a:rPr lang="en-US" sz="1400" b="1" dirty="0">
                <a:solidFill>
                  <a:srgbClr val="204A87"/>
                </a:solidFill>
                <a:latin typeface="Courier"/>
              </a:rPr>
              <a:t>OVER</a:t>
            </a:r>
            <a:r>
              <a:rPr lang="en-US" sz="1400" dirty="0">
                <a:latin typeface="Courier"/>
              </a:rPr>
              <a:t> (</a:t>
            </a:r>
            <a:r>
              <a:rPr lang="en-US" sz="1400" b="1" dirty="0">
                <a:solidFill>
                  <a:srgbClr val="204A87"/>
                </a:solidFill>
                <a:latin typeface="Courier"/>
              </a:rPr>
              <a:t>ORDER</a:t>
            </a:r>
            <a:r>
              <a:rPr lang="en-US" sz="1400" dirty="0">
                <a:latin typeface="Courier"/>
              </a:rPr>
              <a:t> </a:t>
            </a:r>
            <a:r>
              <a:rPr lang="en-US" sz="1400" b="1" dirty="0">
                <a:solidFill>
                  <a:srgbClr val="204A87"/>
                </a:solidFill>
                <a:latin typeface="Courier"/>
              </a:rPr>
              <a:t>BY</a:t>
            </a:r>
            <a:r>
              <a:rPr lang="en-US" sz="1400" dirty="0">
                <a:latin typeface="Courier"/>
              </a:rPr>
              <a:t> </a:t>
            </a:r>
            <a:r>
              <a:rPr lang="en-US" sz="1400" dirty="0" err="1">
                <a:latin typeface="Courier"/>
              </a:rPr>
              <a:t>sal</a:t>
            </a:r>
            <a:r>
              <a:rPr lang="en-US" sz="1400" dirty="0">
                <a:latin typeface="Courier"/>
              </a:rPr>
              <a:t> </a:t>
            </a:r>
            <a:r>
              <a:rPr lang="en-US" sz="1400" b="1" dirty="0">
                <a:solidFill>
                  <a:srgbClr val="204A87"/>
                </a:solidFill>
                <a:latin typeface="Courier"/>
              </a:rPr>
              <a:t>DESC</a:t>
            </a:r>
            <a:r>
              <a:rPr lang="en-US" sz="1400" dirty="0">
                <a:latin typeface="Courier"/>
              </a:rPr>
              <a:t>) </a:t>
            </a:r>
            <a:r>
              <a:rPr lang="en-US" sz="1400" b="1" dirty="0">
                <a:solidFill>
                  <a:srgbClr val="204A87"/>
                </a:solidFill>
                <a:latin typeface="Courier"/>
              </a:rPr>
              <a:t>AS</a:t>
            </a:r>
            <a:r>
              <a:rPr lang="en-US" sz="1400" dirty="0">
                <a:latin typeface="Courier"/>
              </a:rPr>
              <a:t> </a:t>
            </a:r>
            <a:r>
              <a:rPr lang="en-US" sz="1400" dirty="0" err="1">
                <a:latin typeface="Courier"/>
              </a:rPr>
              <a:t>sal_rn_desc</a:t>
            </a:r>
            <a:r>
              <a:rPr lang="en-US" sz="1400" dirty="0">
                <a:latin typeface="Courier"/>
              </a:rPr>
              <a:t>,</a:t>
            </a:r>
            <a:br>
              <a:rPr lang="en-US" sz="1400" dirty="0"/>
            </a:br>
            <a:r>
              <a:rPr lang="en-US" sz="1400" dirty="0">
                <a:latin typeface="Courier"/>
              </a:rPr>
              <a:t>        </a:t>
            </a:r>
            <a:r>
              <a:rPr lang="en-US" sz="1400" b="1" dirty="0" err="1">
                <a:solidFill>
                  <a:srgbClr val="204A87"/>
                </a:solidFill>
                <a:latin typeface="Courier"/>
              </a:rPr>
              <a:t>row_number</a:t>
            </a:r>
            <a:r>
              <a:rPr lang="en-US" sz="1400" dirty="0">
                <a:latin typeface="Courier"/>
              </a:rPr>
              <a:t>() </a:t>
            </a:r>
            <a:r>
              <a:rPr lang="en-US" sz="1400" b="1" dirty="0">
                <a:solidFill>
                  <a:srgbClr val="204A87"/>
                </a:solidFill>
                <a:latin typeface="Courier"/>
              </a:rPr>
              <a:t>OVER</a:t>
            </a:r>
            <a:r>
              <a:rPr lang="en-US" sz="1400" dirty="0">
                <a:latin typeface="Courier"/>
              </a:rPr>
              <a:t> (</a:t>
            </a:r>
            <a:r>
              <a:rPr lang="en-US" sz="1400" b="1" dirty="0">
                <a:solidFill>
                  <a:srgbClr val="204A87"/>
                </a:solidFill>
                <a:latin typeface="Courier"/>
              </a:rPr>
              <a:t>ORDER</a:t>
            </a:r>
            <a:r>
              <a:rPr lang="en-US" sz="1400" dirty="0">
                <a:latin typeface="Courier"/>
              </a:rPr>
              <a:t> </a:t>
            </a:r>
            <a:r>
              <a:rPr lang="en-US" sz="1400" b="1" dirty="0">
                <a:solidFill>
                  <a:srgbClr val="204A87"/>
                </a:solidFill>
                <a:latin typeface="Courier"/>
              </a:rPr>
              <a:t>BY</a:t>
            </a:r>
            <a:r>
              <a:rPr lang="en-US" sz="1400" dirty="0">
                <a:latin typeface="Courier"/>
              </a:rPr>
              <a:t> </a:t>
            </a:r>
            <a:r>
              <a:rPr lang="en-US" sz="1400" dirty="0" err="1">
                <a:latin typeface="Courier"/>
              </a:rPr>
              <a:t>empno</a:t>
            </a:r>
            <a:r>
              <a:rPr lang="en-US" sz="1400" dirty="0">
                <a:latin typeface="Courier"/>
              </a:rPr>
              <a:t>)    </a:t>
            </a:r>
            <a:r>
              <a:rPr lang="en-US" sz="1400" b="1" dirty="0">
                <a:solidFill>
                  <a:srgbClr val="204A87"/>
                </a:solidFill>
                <a:latin typeface="Courier"/>
              </a:rPr>
              <a:t>AS</a:t>
            </a:r>
            <a:r>
              <a:rPr lang="en-US" sz="1400" dirty="0">
                <a:latin typeface="Courier"/>
              </a:rPr>
              <a:t> </a:t>
            </a:r>
            <a:r>
              <a:rPr lang="en-US" sz="1400" dirty="0" err="1">
                <a:latin typeface="Courier"/>
              </a:rPr>
              <a:t>empno_rn</a:t>
            </a:r>
            <a:r>
              <a:rPr lang="en-US" sz="1400" dirty="0">
                <a:latin typeface="Courier"/>
              </a:rPr>
              <a:t>,</a:t>
            </a:r>
            <a:br>
              <a:rPr lang="en-US" sz="1400" dirty="0"/>
            </a:br>
            <a:r>
              <a:rPr lang="en-US" sz="1400" dirty="0">
                <a:latin typeface="Courier"/>
              </a:rPr>
              <a:t>        e.</a:t>
            </a:r>
            <a:r>
              <a:rPr lang="en-US" sz="1400" b="1" dirty="0">
                <a:solidFill>
                  <a:srgbClr val="CE5C00"/>
                </a:solidFill>
                <a:latin typeface="Courier"/>
              </a:rPr>
              <a:t>*</a:t>
            </a:r>
            <a:br>
              <a:rPr lang="en-US" sz="1400" dirty="0"/>
            </a:br>
            <a:r>
              <a:rPr lang="en-US" sz="1400" b="1" dirty="0">
                <a:solidFill>
                  <a:srgbClr val="204A87"/>
                </a:solidFill>
                <a:latin typeface="Courier"/>
              </a:rPr>
              <a:t>FROM</a:t>
            </a:r>
            <a:r>
              <a:rPr lang="en-US" sz="1400" dirty="0">
                <a:latin typeface="Courier"/>
              </a:rPr>
              <a:t>    </a:t>
            </a:r>
            <a:r>
              <a:rPr lang="en-US" sz="1400" dirty="0" err="1">
                <a:latin typeface="Courier"/>
              </a:rPr>
              <a:t>employees.emp</a:t>
            </a:r>
            <a:r>
              <a:rPr lang="en-US" sz="1400" dirty="0">
                <a:latin typeface="Courier"/>
              </a:rPr>
              <a:t> e</a:t>
            </a:r>
            <a:br>
              <a:rPr lang="en-US" sz="1400" dirty="0"/>
            </a:br>
            <a:r>
              <a:rPr lang="en-US" sz="1400" b="1" dirty="0">
                <a:solidFill>
                  <a:srgbClr val="204A87"/>
                </a:solidFill>
                <a:latin typeface="Courier"/>
              </a:rPr>
              <a:t>ORDER</a:t>
            </a:r>
            <a:r>
              <a:rPr lang="en-US" sz="1400" dirty="0">
                <a:latin typeface="Courier"/>
              </a:rPr>
              <a:t> </a:t>
            </a:r>
            <a:r>
              <a:rPr lang="en-US" sz="1400" b="1" dirty="0">
                <a:solidFill>
                  <a:srgbClr val="204A87"/>
                </a:solidFill>
                <a:latin typeface="Courier"/>
              </a:rPr>
              <a:t>BY</a:t>
            </a:r>
            <a:r>
              <a:rPr lang="en-US" sz="1400" dirty="0">
                <a:latin typeface="Courier"/>
              </a:rPr>
              <a:t> </a:t>
            </a:r>
            <a:r>
              <a:rPr lang="en-US" sz="1400" dirty="0" err="1">
                <a:latin typeface="Courier"/>
              </a:rPr>
              <a:t>deptno</a:t>
            </a:r>
            <a:r>
              <a:rPr lang="en-US" sz="1400" dirty="0">
                <a:latin typeface="Courier"/>
              </a:rPr>
              <a:t>;</a:t>
            </a:r>
            <a:endParaRPr sz="1400" dirty="0">
              <a:latin typeface="Courier"/>
            </a:endParaRPr>
          </a:p>
        </p:txBody>
      </p:sp>
      <p:sp>
        <p:nvSpPr>
          <p:cNvPr id="4" name="Title 1">
            <a:extLst>
              <a:ext uri="{FF2B5EF4-FFF2-40B4-BE49-F238E27FC236}">
                <a16:creationId xmlns:a16="http://schemas.microsoft.com/office/drawing/2014/main" id="{4F41AD37-DB82-7576-D616-E47631FA579A}"/>
              </a:ext>
            </a:extLst>
          </p:cNvPr>
          <p:cNvSpPr txBox="1">
            <a:spLocks/>
          </p:cNvSpPr>
          <p:nvPr/>
        </p:nvSpPr>
        <p:spPr>
          <a:xfrm>
            <a:off x="0" y="1"/>
            <a:ext cx="9144000" cy="548876"/>
          </a:xfrm>
          <a:prstGeom prst="rect">
            <a:avLst/>
          </a:prstGeom>
          <a:solidFill>
            <a:schemeClr val="tx1"/>
          </a:solidFill>
        </p:spPr>
        <p:txBody>
          <a:bodyPr vert="horz" lIns="91440" tIns="45720" rIns="91440" bIns="45720" rtlCol="0" anchor="ctr">
            <a:normAutofit/>
          </a:bodyPr>
          <a:lstStyle>
            <a:lvl1pPr algn="ctr" defTabSz="342900" rtl="0" eaLnBrk="1" latinLnBrk="0" hangingPunct="1">
              <a:spcBef>
                <a:spcPct val="0"/>
              </a:spcBef>
              <a:buNone/>
              <a:defRPr sz="3300" kern="1200">
                <a:solidFill>
                  <a:schemeClr val="tx1"/>
                </a:solidFill>
                <a:latin typeface="+mj-lt"/>
                <a:ea typeface="+mj-ea"/>
                <a:cs typeface="+mj-cs"/>
              </a:defRPr>
            </a:lvl1pPr>
          </a:lstStyle>
          <a:p>
            <a:pPr algn="l"/>
            <a:r>
              <a:rPr lang="en-IN" sz="2800" dirty="0">
                <a:solidFill>
                  <a:schemeClr val="bg1"/>
                </a:solidFill>
              </a:rPr>
              <a:t>ROW_NUMBER():</a:t>
            </a:r>
          </a:p>
        </p:txBody>
      </p:sp>
      <p:pic>
        <p:nvPicPr>
          <p:cNvPr id="5" name="Picture 4">
            <a:extLst>
              <a:ext uri="{FF2B5EF4-FFF2-40B4-BE49-F238E27FC236}">
                <a16:creationId xmlns:a16="http://schemas.microsoft.com/office/drawing/2014/main" id="{346BB8B6-1F76-18DB-BD10-EC710C4C4343}"/>
              </a:ext>
            </a:extLst>
          </p:cNvPr>
          <p:cNvPicPr>
            <a:picLocks noChangeAspect="1"/>
          </p:cNvPicPr>
          <p:nvPr/>
        </p:nvPicPr>
        <p:blipFill>
          <a:blip r:embed="rId2"/>
          <a:stretch>
            <a:fillRect/>
          </a:stretch>
        </p:blipFill>
        <p:spPr>
          <a:xfrm>
            <a:off x="5763675" y="51792"/>
            <a:ext cx="3380325" cy="445294"/>
          </a:xfrm>
          <a:prstGeom prst="rect">
            <a:avLst/>
          </a:prstGeom>
        </p:spPr>
      </p:pic>
      <p:sp>
        <p:nvSpPr>
          <p:cNvPr id="6" name="Title 1">
            <a:extLst>
              <a:ext uri="{FF2B5EF4-FFF2-40B4-BE49-F238E27FC236}">
                <a16:creationId xmlns:a16="http://schemas.microsoft.com/office/drawing/2014/main" id="{0D4B29DD-1B7A-6DA8-0151-4780CD6AD3C8}"/>
              </a:ext>
            </a:extLst>
          </p:cNvPr>
          <p:cNvSpPr txBox="1">
            <a:spLocks/>
          </p:cNvSpPr>
          <p:nvPr/>
        </p:nvSpPr>
        <p:spPr>
          <a:xfrm>
            <a:off x="0" y="4858718"/>
            <a:ext cx="9144000" cy="284781"/>
          </a:xfrm>
          <a:prstGeom prst="rect">
            <a:avLst/>
          </a:prstGeom>
          <a:solidFill>
            <a:schemeClr val="tx1"/>
          </a:solidFill>
        </p:spPr>
        <p:txBody>
          <a:bodyPr vert="horz" lIns="91440" tIns="45720" rIns="91440" bIns="45720" rtlCol="0" anchor="ctr">
            <a:normAutofit/>
          </a:bodyPr>
          <a:lstStyle>
            <a:lvl1pPr algn="ctr" defTabSz="342900" rtl="0" eaLnBrk="1" latinLnBrk="0" hangingPunct="1">
              <a:spcBef>
                <a:spcPct val="0"/>
              </a:spcBef>
              <a:buNone/>
              <a:defRPr sz="3300" kern="1200">
                <a:solidFill>
                  <a:schemeClr val="tx1"/>
                </a:solidFill>
                <a:latin typeface="+mj-lt"/>
                <a:ea typeface="+mj-ea"/>
                <a:cs typeface="+mj-cs"/>
              </a:defRPr>
            </a:lvl1pPr>
          </a:lstStyle>
          <a:p>
            <a:r>
              <a:rPr lang="en-IN" sz="1200" dirty="0">
                <a:solidFill>
                  <a:schemeClr val="bg1"/>
                </a:solidFill>
              </a:rPr>
              <a:t>© TINITIATE.COM</a:t>
            </a:r>
            <a:endParaRPr lang="en-IN" sz="1000" dirty="0">
              <a:solidFill>
                <a:schemeClr val="bg1"/>
              </a:solidFill>
            </a:endParaRPr>
          </a:p>
        </p:txBody>
      </p:sp>
    </p:spTree>
    <p:extLst>
      <p:ext uri="{BB962C8B-B14F-4D97-AF65-F5344CB8AC3E}">
        <p14:creationId xmlns:p14="http://schemas.microsoft.com/office/powerpoint/2010/main" val="10592381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D64786-28A7-00E1-5623-3CA62A96B8C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9B8AE7E-BA4B-1E2E-2058-ACAA698ACE1A}"/>
              </a:ext>
            </a:extLst>
          </p:cNvPr>
          <p:cNvSpPr>
            <a:spLocks noGrp="1"/>
          </p:cNvSpPr>
          <p:nvPr>
            <p:ph idx="1"/>
          </p:nvPr>
        </p:nvSpPr>
        <p:spPr>
          <a:xfrm>
            <a:off x="457200" y="874514"/>
            <a:ext cx="8229600" cy="3394472"/>
          </a:xfrm>
        </p:spPr>
        <p:txBody>
          <a:bodyPr>
            <a:noAutofit/>
          </a:bodyPr>
          <a:lstStyle/>
          <a:p>
            <a:pPr lvl="0" indent="0">
              <a:buNone/>
            </a:pPr>
            <a:r>
              <a:rPr lang="en-US" sz="1400" i="1" dirty="0">
                <a:solidFill>
                  <a:srgbClr val="8F5902"/>
                </a:solidFill>
                <a:latin typeface="Courier"/>
              </a:rPr>
              <a:t>-- Multi-Partitioned Row Numbering</a:t>
            </a:r>
            <a:br>
              <a:rPr lang="en-US" sz="1400" dirty="0"/>
            </a:br>
            <a:r>
              <a:rPr lang="en-US" sz="1400" b="1" dirty="0">
                <a:solidFill>
                  <a:srgbClr val="204A87"/>
                </a:solidFill>
                <a:latin typeface="Courier"/>
              </a:rPr>
              <a:t>SELECT</a:t>
            </a:r>
            <a:r>
              <a:rPr lang="en-US" sz="1400" dirty="0">
                <a:latin typeface="Courier"/>
              </a:rPr>
              <a:t>  </a:t>
            </a:r>
            <a:r>
              <a:rPr lang="en-US" sz="1400" b="1" dirty="0" err="1">
                <a:solidFill>
                  <a:srgbClr val="204A87"/>
                </a:solidFill>
                <a:latin typeface="Courier"/>
              </a:rPr>
              <a:t>row_number</a:t>
            </a:r>
            <a:r>
              <a:rPr lang="en-US" sz="1400" dirty="0">
                <a:latin typeface="Courier"/>
              </a:rPr>
              <a:t>() </a:t>
            </a:r>
            <a:r>
              <a:rPr lang="en-US" sz="1400" b="1" dirty="0">
                <a:solidFill>
                  <a:srgbClr val="204A87"/>
                </a:solidFill>
                <a:latin typeface="Courier"/>
              </a:rPr>
              <a:t>OVER</a:t>
            </a:r>
            <a:r>
              <a:rPr lang="en-US" sz="1400" dirty="0">
                <a:latin typeface="Courier"/>
              </a:rPr>
              <a:t> (</a:t>
            </a:r>
            <a:r>
              <a:rPr lang="en-US" sz="1400" b="1" dirty="0">
                <a:solidFill>
                  <a:srgbClr val="204A87"/>
                </a:solidFill>
                <a:latin typeface="Courier"/>
              </a:rPr>
              <a:t>PARTITION</a:t>
            </a:r>
            <a:r>
              <a:rPr lang="en-US" sz="1400" dirty="0">
                <a:latin typeface="Courier"/>
              </a:rPr>
              <a:t> </a:t>
            </a:r>
            <a:r>
              <a:rPr lang="en-US" sz="1400" b="1" dirty="0">
                <a:solidFill>
                  <a:srgbClr val="204A87"/>
                </a:solidFill>
                <a:latin typeface="Courier"/>
              </a:rPr>
              <a:t>BY</a:t>
            </a:r>
            <a:r>
              <a:rPr lang="en-US" sz="1400" dirty="0">
                <a:latin typeface="Courier"/>
              </a:rPr>
              <a:t> </a:t>
            </a:r>
            <a:r>
              <a:rPr lang="en-US" sz="1400" dirty="0" err="1">
                <a:latin typeface="Courier"/>
              </a:rPr>
              <a:t>deptno</a:t>
            </a:r>
            <a:r>
              <a:rPr lang="en-US" sz="1400" dirty="0">
                <a:latin typeface="Courier"/>
              </a:rPr>
              <a:t> </a:t>
            </a:r>
            <a:r>
              <a:rPr lang="en-US" sz="1400" b="1" dirty="0">
                <a:solidFill>
                  <a:srgbClr val="204A87"/>
                </a:solidFill>
                <a:latin typeface="Courier"/>
              </a:rPr>
              <a:t>ORDER</a:t>
            </a:r>
            <a:r>
              <a:rPr lang="en-US" sz="1400" dirty="0">
                <a:latin typeface="Courier"/>
              </a:rPr>
              <a:t> </a:t>
            </a:r>
            <a:r>
              <a:rPr lang="en-US" sz="1400" b="1" dirty="0">
                <a:solidFill>
                  <a:srgbClr val="204A87"/>
                </a:solidFill>
                <a:latin typeface="Courier"/>
              </a:rPr>
              <a:t>BY</a:t>
            </a:r>
            <a:r>
              <a:rPr lang="en-US" sz="1400" dirty="0">
                <a:latin typeface="Courier"/>
              </a:rPr>
              <a:t> </a:t>
            </a:r>
            <a:r>
              <a:rPr lang="en-US" sz="1400" dirty="0" err="1">
                <a:latin typeface="Courier"/>
              </a:rPr>
              <a:t>sal</a:t>
            </a:r>
            <a:r>
              <a:rPr lang="en-US" sz="1400" dirty="0">
                <a:latin typeface="Courier"/>
              </a:rPr>
              <a:t>)</a:t>
            </a:r>
            <a:br>
              <a:rPr lang="en-US" sz="1400" dirty="0"/>
            </a:br>
            <a:r>
              <a:rPr lang="en-US" sz="1400" dirty="0">
                <a:latin typeface="Courier"/>
              </a:rPr>
              <a:t>         </a:t>
            </a:r>
            <a:r>
              <a:rPr lang="en-US" sz="1400" b="1" dirty="0">
                <a:solidFill>
                  <a:srgbClr val="204A87"/>
                </a:solidFill>
                <a:latin typeface="Courier"/>
              </a:rPr>
              <a:t>AS</a:t>
            </a:r>
            <a:r>
              <a:rPr lang="en-US" sz="1400" dirty="0">
                <a:latin typeface="Courier"/>
              </a:rPr>
              <a:t> </a:t>
            </a:r>
            <a:r>
              <a:rPr lang="en-US" sz="1400" dirty="0" err="1">
                <a:latin typeface="Courier"/>
              </a:rPr>
              <a:t>sal_rn_asc</a:t>
            </a:r>
            <a:r>
              <a:rPr lang="en-US" sz="1400" dirty="0">
                <a:latin typeface="Courier"/>
              </a:rPr>
              <a:t>,</a:t>
            </a:r>
            <a:br>
              <a:rPr lang="en-US" sz="1400" dirty="0"/>
            </a:br>
            <a:r>
              <a:rPr lang="en-US" sz="1400" dirty="0">
                <a:latin typeface="Courier"/>
              </a:rPr>
              <a:t>        </a:t>
            </a:r>
            <a:r>
              <a:rPr lang="en-US" sz="1400" b="1" dirty="0" err="1">
                <a:solidFill>
                  <a:srgbClr val="204A87"/>
                </a:solidFill>
                <a:latin typeface="Courier"/>
              </a:rPr>
              <a:t>row_number</a:t>
            </a:r>
            <a:r>
              <a:rPr lang="en-US" sz="1400" dirty="0">
                <a:latin typeface="Courier"/>
              </a:rPr>
              <a:t>() </a:t>
            </a:r>
            <a:r>
              <a:rPr lang="en-US" sz="1400" b="1" dirty="0">
                <a:solidFill>
                  <a:srgbClr val="204A87"/>
                </a:solidFill>
                <a:latin typeface="Courier"/>
              </a:rPr>
              <a:t>OVER</a:t>
            </a:r>
            <a:r>
              <a:rPr lang="en-US" sz="1400" dirty="0">
                <a:latin typeface="Courier"/>
              </a:rPr>
              <a:t> (</a:t>
            </a:r>
            <a:r>
              <a:rPr lang="en-US" sz="1400" b="1" dirty="0">
                <a:solidFill>
                  <a:srgbClr val="204A87"/>
                </a:solidFill>
                <a:latin typeface="Courier"/>
              </a:rPr>
              <a:t>PARTITION</a:t>
            </a:r>
            <a:r>
              <a:rPr lang="en-US" sz="1400" dirty="0">
                <a:latin typeface="Courier"/>
              </a:rPr>
              <a:t> </a:t>
            </a:r>
            <a:r>
              <a:rPr lang="en-US" sz="1400" b="1" dirty="0">
                <a:solidFill>
                  <a:srgbClr val="204A87"/>
                </a:solidFill>
                <a:latin typeface="Courier"/>
              </a:rPr>
              <a:t>BY</a:t>
            </a:r>
            <a:r>
              <a:rPr lang="en-US" sz="1400" dirty="0">
                <a:latin typeface="Courier"/>
              </a:rPr>
              <a:t> </a:t>
            </a:r>
            <a:r>
              <a:rPr lang="en-US" sz="1400" dirty="0" err="1">
                <a:latin typeface="Courier"/>
              </a:rPr>
              <a:t>deptno</a:t>
            </a:r>
            <a:r>
              <a:rPr lang="en-US" sz="1400" dirty="0">
                <a:latin typeface="Courier"/>
              </a:rPr>
              <a:t> </a:t>
            </a:r>
            <a:r>
              <a:rPr lang="en-US" sz="1400" b="1" dirty="0">
                <a:solidFill>
                  <a:srgbClr val="204A87"/>
                </a:solidFill>
                <a:latin typeface="Courier"/>
              </a:rPr>
              <a:t>ORDER</a:t>
            </a:r>
            <a:r>
              <a:rPr lang="en-US" sz="1400" dirty="0">
                <a:latin typeface="Courier"/>
              </a:rPr>
              <a:t> </a:t>
            </a:r>
            <a:r>
              <a:rPr lang="en-US" sz="1400" b="1" dirty="0">
                <a:solidFill>
                  <a:srgbClr val="204A87"/>
                </a:solidFill>
                <a:latin typeface="Courier"/>
              </a:rPr>
              <a:t>BY</a:t>
            </a:r>
            <a:r>
              <a:rPr lang="en-US" sz="1400" dirty="0">
                <a:latin typeface="Courier"/>
              </a:rPr>
              <a:t> </a:t>
            </a:r>
            <a:r>
              <a:rPr lang="en-US" sz="1400" dirty="0" err="1">
                <a:latin typeface="Courier"/>
              </a:rPr>
              <a:t>sal</a:t>
            </a:r>
            <a:r>
              <a:rPr lang="en-US" sz="1400" dirty="0">
                <a:latin typeface="Courier"/>
              </a:rPr>
              <a:t> </a:t>
            </a:r>
            <a:r>
              <a:rPr lang="en-US" sz="1400" b="1" dirty="0">
                <a:solidFill>
                  <a:srgbClr val="204A87"/>
                </a:solidFill>
                <a:latin typeface="Courier"/>
              </a:rPr>
              <a:t>DESC</a:t>
            </a:r>
            <a:r>
              <a:rPr lang="en-US" sz="1400" dirty="0">
                <a:latin typeface="Courier"/>
              </a:rPr>
              <a:t>)</a:t>
            </a:r>
            <a:br>
              <a:rPr lang="en-US" sz="1400" dirty="0"/>
            </a:br>
            <a:r>
              <a:rPr lang="en-US" sz="1400" dirty="0">
                <a:latin typeface="Courier"/>
              </a:rPr>
              <a:t>         </a:t>
            </a:r>
            <a:r>
              <a:rPr lang="en-US" sz="1400" b="1" dirty="0">
                <a:solidFill>
                  <a:srgbClr val="204A87"/>
                </a:solidFill>
                <a:latin typeface="Courier"/>
              </a:rPr>
              <a:t>AS</a:t>
            </a:r>
            <a:r>
              <a:rPr lang="en-US" sz="1400" dirty="0">
                <a:latin typeface="Courier"/>
              </a:rPr>
              <a:t> </a:t>
            </a:r>
            <a:r>
              <a:rPr lang="en-US" sz="1400" dirty="0" err="1">
                <a:latin typeface="Courier"/>
              </a:rPr>
              <a:t>sal_rn_desc</a:t>
            </a:r>
            <a:r>
              <a:rPr lang="en-US" sz="1400" dirty="0">
                <a:latin typeface="Courier"/>
              </a:rPr>
              <a:t>,</a:t>
            </a:r>
            <a:br>
              <a:rPr lang="en-US" sz="1400" dirty="0"/>
            </a:br>
            <a:r>
              <a:rPr lang="en-US" sz="1400" dirty="0">
                <a:latin typeface="Courier"/>
              </a:rPr>
              <a:t>        </a:t>
            </a:r>
            <a:r>
              <a:rPr lang="en-US" sz="1400" b="1" dirty="0" err="1">
                <a:solidFill>
                  <a:srgbClr val="204A87"/>
                </a:solidFill>
                <a:latin typeface="Courier"/>
              </a:rPr>
              <a:t>row_number</a:t>
            </a:r>
            <a:r>
              <a:rPr lang="en-US" sz="1400" dirty="0">
                <a:latin typeface="Courier"/>
              </a:rPr>
              <a:t>() </a:t>
            </a:r>
            <a:r>
              <a:rPr lang="en-US" sz="1400" b="1" dirty="0">
                <a:solidFill>
                  <a:srgbClr val="204A87"/>
                </a:solidFill>
                <a:latin typeface="Courier"/>
              </a:rPr>
              <a:t>OVER</a:t>
            </a:r>
            <a:r>
              <a:rPr lang="en-US" sz="1400" dirty="0">
                <a:latin typeface="Courier"/>
              </a:rPr>
              <a:t> (</a:t>
            </a:r>
            <a:r>
              <a:rPr lang="en-US" sz="1400" b="1" dirty="0">
                <a:solidFill>
                  <a:srgbClr val="204A87"/>
                </a:solidFill>
                <a:latin typeface="Courier"/>
              </a:rPr>
              <a:t>PARTITION</a:t>
            </a:r>
            <a:r>
              <a:rPr lang="en-US" sz="1400" dirty="0">
                <a:latin typeface="Courier"/>
              </a:rPr>
              <a:t> </a:t>
            </a:r>
            <a:r>
              <a:rPr lang="en-US" sz="1400" b="1" dirty="0">
                <a:solidFill>
                  <a:srgbClr val="204A87"/>
                </a:solidFill>
                <a:latin typeface="Courier"/>
              </a:rPr>
              <a:t>BY</a:t>
            </a:r>
            <a:r>
              <a:rPr lang="en-US" sz="1400" dirty="0">
                <a:latin typeface="Courier"/>
              </a:rPr>
              <a:t> </a:t>
            </a:r>
            <a:r>
              <a:rPr lang="en-US" sz="1400" dirty="0" err="1">
                <a:latin typeface="Courier"/>
              </a:rPr>
              <a:t>deptno</a:t>
            </a:r>
            <a:r>
              <a:rPr lang="en-US" sz="1400" dirty="0">
                <a:latin typeface="Courier"/>
              </a:rPr>
              <a:t> </a:t>
            </a:r>
            <a:r>
              <a:rPr lang="en-US" sz="1400" b="1" dirty="0">
                <a:solidFill>
                  <a:srgbClr val="204A87"/>
                </a:solidFill>
                <a:latin typeface="Courier"/>
              </a:rPr>
              <a:t>ORDER</a:t>
            </a:r>
            <a:r>
              <a:rPr lang="en-US" sz="1400" dirty="0">
                <a:latin typeface="Courier"/>
              </a:rPr>
              <a:t> </a:t>
            </a:r>
            <a:r>
              <a:rPr lang="en-US" sz="1400" b="1" dirty="0">
                <a:solidFill>
                  <a:srgbClr val="204A87"/>
                </a:solidFill>
                <a:latin typeface="Courier"/>
              </a:rPr>
              <a:t>BY</a:t>
            </a:r>
            <a:r>
              <a:rPr lang="en-US" sz="1400" dirty="0">
                <a:latin typeface="Courier"/>
              </a:rPr>
              <a:t> </a:t>
            </a:r>
            <a:r>
              <a:rPr lang="en-US" sz="1400" dirty="0" err="1">
                <a:latin typeface="Courier"/>
              </a:rPr>
              <a:t>empno</a:t>
            </a:r>
            <a:r>
              <a:rPr lang="en-US" sz="1400" dirty="0">
                <a:latin typeface="Courier"/>
              </a:rPr>
              <a:t>)</a:t>
            </a:r>
            <a:br>
              <a:rPr lang="en-US" sz="1400" dirty="0"/>
            </a:br>
            <a:r>
              <a:rPr lang="en-US" sz="1400" dirty="0">
                <a:latin typeface="Courier"/>
              </a:rPr>
              <a:t>         </a:t>
            </a:r>
            <a:r>
              <a:rPr lang="en-US" sz="1400" b="1" dirty="0">
                <a:solidFill>
                  <a:srgbClr val="204A87"/>
                </a:solidFill>
                <a:latin typeface="Courier"/>
              </a:rPr>
              <a:t>AS</a:t>
            </a:r>
            <a:r>
              <a:rPr lang="en-US" sz="1400" dirty="0">
                <a:latin typeface="Courier"/>
              </a:rPr>
              <a:t> </a:t>
            </a:r>
            <a:r>
              <a:rPr lang="en-US" sz="1400" dirty="0" err="1">
                <a:latin typeface="Courier"/>
              </a:rPr>
              <a:t>empno_rn</a:t>
            </a:r>
            <a:r>
              <a:rPr lang="en-US" sz="1400" dirty="0">
                <a:latin typeface="Courier"/>
              </a:rPr>
              <a:t>,</a:t>
            </a:r>
            <a:br>
              <a:rPr lang="en-US" sz="1400" dirty="0"/>
            </a:br>
            <a:r>
              <a:rPr lang="en-US" sz="1400" dirty="0">
                <a:latin typeface="Courier"/>
              </a:rPr>
              <a:t>        e.</a:t>
            </a:r>
            <a:r>
              <a:rPr lang="en-US" sz="1400" b="1" dirty="0">
                <a:solidFill>
                  <a:srgbClr val="CE5C00"/>
                </a:solidFill>
                <a:latin typeface="Courier"/>
              </a:rPr>
              <a:t>*</a:t>
            </a:r>
            <a:br>
              <a:rPr lang="en-US" sz="1400" dirty="0"/>
            </a:br>
            <a:r>
              <a:rPr lang="en-US" sz="1400" b="1" dirty="0">
                <a:solidFill>
                  <a:srgbClr val="204A87"/>
                </a:solidFill>
                <a:latin typeface="Courier"/>
              </a:rPr>
              <a:t>FROM</a:t>
            </a:r>
            <a:r>
              <a:rPr lang="en-US" sz="1400" dirty="0">
                <a:latin typeface="Courier"/>
              </a:rPr>
              <a:t>    </a:t>
            </a:r>
            <a:r>
              <a:rPr lang="en-US" sz="1400" dirty="0" err="1">
                <a:latin typeface="Courier"/>
              </a:rPr>
              <a:t>employees.emp</a:t>
            </a:r>
            <a:r>
              <a:rPr lang="en-US" sz="1400" dirty="0">
                <a:latin typeface="Courier"/>
              </a:rPr>
              <a:t> e</a:t>
            </a:r>
            <a:br>
              <a:rPr lang="en-US" sz="1400" dirty="0"/>
            </a:br>
            <a:r>
              <a:rPr lang="en-US" sz="1400" b="1" dirty="0">
                <a:solidFill>
                  <a:srgbClr val="204A87"/>
                </a:solidFill>
                <a:latin typeface="Courier"/>
              </a:rPr>
              <a:t>ORDER</a:t>
            </a:r>
            <a:r>
              <a:rPr lang="en-US" sz="1400" dirty="0">
                <a:latin typeface="Courier"/>
              </a:rPr>
              <a:t> </a:t>
            </a:r>
            <a:r>
              <a:rPr lang="en-US" sz="1400" b="1" dirty="0">
                <a:solidFill>
                  <a:srgbClr val="204A87"/>
                </a:solidFill>
                <a:latin typeface="Courier"/>
              </a:rPr>
              <a:t>BY</a:t>
            </a:r>
            <a:r>
              <a:rPr lang="en-US" sz="1400" dirty="0">
                <a:latin typeface="Courier"/>
              </a:rPr>
              <a:t> </a:t>
            </a:r>
            <a:r>
              <a:rPr lang="en-US" sz="1400" dirty="0" err="1">
                <a:latin typeface="Courier"/>
              </a:rPr>
              <a:t>deptno</a:t>
            </a:r>
            <a:r>
              <a:rPr lang="en-US" sz="1400" dirty="0">
                <a:latin typeface="Courier"/>
              </a:rPr>
              <a:t>;</a:t>
            </a:r>
            <a:endParaRPr sz="1400" dirty="0">
              <a:latin typeface="Courier"/>
            </a:endParaRPr>
          </a:p>
        </p:txBody>
      </p:sp>
      <p:sp>
        <p:nvSpPr>
          <p:cNvPr id="4" name="Title 1">
            <a:extLst>
              <a:ext uri="{FF2B5EF4-FFF2-40B4-BE49-F238E27FC236}">
                <a16:creationId xmlns:a16="http://schemas.microsoft.com/office/drawing/2014/main" id="{97FA84B7-60EF-8B60-429D-78535CAD7E33}"/>
              </a:ext>
            </a:extLst>
          </p:cNvPr>
          <p:cNvSpPr txBox="1">
            <a:spLocks/>
          </p:cNvSpPr>
          <p:nvPr/>
        </p:nvSpPr>
        <p:spPr>
          <a:xfrm>
            <a:off x="0" y="1"/>
            <a:ext cx="9144000" cy="548876"/>
          </a:xfrm>
          <a:prstGeom prst="rect">
            <a:avLst/>
          </a:prstGeom>
          <a:solidFill>
            <a:schemeClr val="tx1"/>
          </a:solidFill>
        </p:spPr>
        <p:txBody>
          <a:bodyPr vert="horz" lIns="91440" tIns="45720" rIns="91440" bIns="45720" rtlCol="0" anchor="ctr">
            <a:normAutofit/>
          </a:bodyPr>
          <a:lstStyle>
            <a:lvl1pPr algn="ctr" defTabSz="342900" rtl="0" eaLnBrk="1" latinLnBrk="0" hangingPunct="1">
              <a:spcBef>
                <a:spcPct val="0"/>
              </a:spcBef>
              <a:buNone/>
              <a:defRPr sz="3300" kern="1200">
                <a:solidFill>
                  <a:schemeClr val="tx1"/>
                </a:solidFill>
                <a:latin typeface="+mj-lt"/>
                <a:ea typeface="+mj-ea"/>
                <a:cs typeface="+mj-cs"/>
              </a:defRPr>
            </a:lvl1pPr>
          </a:lstStyle>
          <a:p>
            <a:pPr algn="l"/>
            <a:r>
              <a:rPr lang="en-IN" sz="2800" dirty="0">
                <a:solidFill>
                  <a:schemeClr val="bg1"/>
                </a:solidFill>
              </a:rPr>
              <a:t>ROW_NUMBER():</a:t>
            </a:r>
          </a:p>
        </p:txBody>
      </p:sp>
      <p:pic>
        <p:nvPicPr>
          <p:cNvPr id="5" name="Picture 4">
            <a:extLst>
              <a:ext uri="{FF2B5EF4-FFF2-40B4-BE49-F238E27FC236}">
                <a16:creationId xmlns:a16="http://schemas.microsoft.com/office/drawing/2014/main" id="{D90B508A-48D7-5EF9-09AF-3E0294AF662C}"/>
              </a:ext>
            </a:extLst>
          </p:cNvPr>
          <p:cNvPicPr>
            <a:picLocks noChangeAspect="1"/>
          </p:cNvPicPr>
          <p:nvPr/>
        </p:nvPicPr>
        <p:blipFill>
          <a:blip r:embed="rId2"/>
          <a:stretch>
            <a:fillRect/>
          </a:stretch>
        </p:blipFill>
        <p:spPr>
          <a:xfrm>
            <a:off x="5763675" y="51792"/>
            <a:ext cx="3380325" cy="445294"/>
          </a:xfrm>
          <a:prstGeom prst="rect">
            <a:avLst/>
          </a:prstGeom>
        </p:spPr>
      </p:pic>
      <p:sp>
        <p:nvSpPr>
          <p:cNvPr id="6" name="Title 1">
            <a:extLst>
              <a:ext uri="{FF2B5EF4-FFF2-40B4-BE49-F238E27FC236}">
                <a16:creationId xmlns:a16="http://schemas.microsoft.com/office/drawing/2014/main" id="{B85826D9-7219-4D54-17F8-63117688F2E6}"/>
              </a:ext>
            </a:extLst>
          </p:cNvPr>
          <p:cNvSpPr txBox="1">
            <a:spLocks/>
          </p:cNvSpPr>
          <p:nvPr/>
        </p:nvSpPr>
        <p:spPr>
          <a:xfrm>
            <a:off x="0" y="4858718"/>
            <a:ext cx="9144000" cy="284781"/>
          </a:xfrm>
          <a:prstGeom prst="rect">
            <a:avLst/>
          </a:prstGeom>
          <a:solidFill>
            <a:schemeClr val="tx1"/>
          </a:solidFill>
        </p:spPr>
        <p:txBody>
          <a:bodyPr vert="horz" lIns="91440" tIns="45720" rIns="91440" bIns="45720" rtlCol="0" anchor="ctr">
            <a:normAutofit/>
          </a:bodyPr>
          <a:lstStyle>
            <a:lvl1pPr algn="ctr" defTabSz="342900" rtl="0" eaLnBrk="1" latinLnBrk="0" hangingPunct="1">
              <a:spcBef>
                <a:spcPct val="0"/>
              </a:spcBef>
              <a:buNone/>
              <a:defRPr sz="3300" kern="1200">
                <a:solidFill>
                  <a:schemeClr val="tx1"/>
                </a:solidFill>
                <a:latin typeface="+mj-lt"/>
                <a:ea typeface="+mj-ea"/>
                <a:cs typeface="+mj-cs"/>
              </a:defRPr>
            </a:lvl1pPr>
          </a:lstStyle>
          <a:p>
            <a:r>
              <a:rPr lang="en-IN" sz="1200" dirty="0">
                <a:solidFill>
                  <a:schemeClr val="bg1"/>
                </a:solidFill>
              </a:rPr>
              <a:t>© TINITIATE.COM</a:t>
            </a:r>
            <a:endParaRPr lang="en-IN" sz="1000" dirty="0">
              <a:solidFill>
                <a:schemeClr val="bg1"/>
              </a:solidFill>
            </a:endParaRPr>
          </a:p>
        </p:txBody>
      </p:sp>
    </p:spTree>
    <p:extLst>
      <p:ext uri="{BB962C8B-B14F-4D97-AF65-F5344CB8AC3E}">
        <p14:creationId xmlns:p14="http://schemas.microsoft.com/office/powerpoint/2010/main" val="3874947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73374"/>
            <a:ext cx="8229600" cy="3394472"/>
          </a:xfrm>
        </p:spPr>
        <p:txBody>
          <a:bodyPr>
            <a:noAutofit/>
          </a:bodyPr>
          <a:lstStyle/>
          <a:p>
            <a:pPr lvl="0"/>
            <a:r>
              <a:rPr sz="1800" dirty="0"/>
              <a:t>Assigns the same rank to tied rows; gaps appear in the following ranking values.</a:t>
            </a:r>
          </a:p>
          <a:p>
            <a:pPr lvl="0" indent="0">
              <a:buNone/>
            </a:pPr>
            <a:r>
              <a:rPr sz="1400" i="1" dirty="0">
                <a:solidFill>
                  <a:srgbClr val="8F5902"/>
                </a:solidFill>
                <a:latin typeface="Courier"/>
              </a:rPr>
              <a:t>-- Assigns ranks within the partition; tied values share the same rank and</a:t>
            </a:r>
            <a:br>
              <a:rPr sz="1400" dirty="0"/>
            </a:br>
            <a:r>
              <a:rPr sz="1400" i="1" dirty="0">
                <a:solidFill>
                  <a:srgbClr val="8F5902"/>
                </a:solidFill>
                <a:latin typeface="Courier"/>
              </a:rPr>
              <a:t>-- gaps appear in the following ranking values.</a:t>
            </a:r>
            <a:br>
              <a:rPr sz="1400" dirty="0"/>
            </a:br>
            <a:r>
              <a:rPr sz="1400" b="1" dirty="0">
                <a:solidFill>
                  <a:srgbClr val="204A87"/>
                </a:solidFill>
                <a:latin typeface="Courier"/>
              </a:rPr>
              <a:t>SELECT</a:t>
            </a:r>
            <a:r>
              <a:rPr sz="1400" dirty="0">
                <a:latin typeface="Courier"/>
              </a:rPr>
              <a:t> </a:t>
            </a:r>
            <a:r>
              <a:rPr sz="1400" dirty="0" err="1">
                <a:latin typeface="Courier"/>
              </a:rPr>
              <a:t>ename</a:t>
            </a:r>
            <a:r>
              <a:rPr sz="1400" dirty="0">
                <a:latin typeface="Courier"/>
              </a:rPr>
              <a:t>, </a:t>
            </a:r>
            <a:r>
              <a:rPr sz="1400" dirty="0" err="1">
                <a:latin typeface="Courier"/>
              </a:rPr>
              <a:t>sal</a:t>
            </a:r>
            <a:r>
              <a:rPr sz="1400" dirty="0">
                <a:latin typeface="Courier"/>
              </a:rPr>
              <a:t>, </a:t>
            </a:r>
            <a:r>
              <a:rPr sz="1400" b="1" dirty="0">
                <a:solidFill>
                  <a:srgbClr val="204A87"/>
                </a:solidFill>
                <a:latin typeface="Courier"/>
              </a:rPr>
              <a:t>RANK</a:t>
            </a:r>
            <a:r>
              <a:rPr sz="1400" dirty="0">
                <a:latin typeface="Courier"/>
              </a:rPr>
              <a:t>() </a:t>
            </a:r>
            <a:r>
              <a:rPr sz="1400" b="1" dirty="0">
                <a:solidFill>
                  <a:srgbClr val="204A87"/>
                </a:solidFill>
                <a:latin typeface="Courier"/>
              </a:rPr>
              <a:t>OVER</a:t>
            </a:r>
            <a:r>
              <a:rPr sz="1400" dirty="0">
                <a:latin typeface="Courier"/>
              </a:rPr>
              <a:t> (</a:t>
            </a:r>
            <a:r>
              <a:rPr sz="1400" b="1" dirty="0">
                <a:solidFill>
                  <a:srgbClr val="204A87"/>
                </a:solidFill>
                <a:latin typeface="Courier"/>
              </a:rPr>
              <a:t>ORDER</a:t>
            </a:r>
            <a:r>
              <a:rPr sz="1400" dirty="0">
                <a:latin typeface="Courier"/>
              </a:rPr>
              <a:t> </a:t>
            </a:r>
            <a:r>
              <a:rPr sz="1400" b="1" dirty="0">
                <a:solidFill>
                  <a:srgbClr val="204A87"/>
                </a:solidFill>
                <a:latin typeface="Courier"/>
              </a:rPr>
              <a:t>BY</a:t>
            </a:r>
            <a:r>
              <a:rPr sz="1400" dirty="0">
                <a:latin typeface="Courier"/>
              </a:rPr>
              <a:t> </a:t>
            </a:r>
            <a:r>
              <a:rPr sz="1400" dirty="0" err="1">
                <a:latin typeface="Courier"/>
              </a:rPr>
              <a:t>sal</a:t>
            </a:r>
            <a:r>
              <a:rPr sz="1400" dirty="0">
                <a:latin typeface="Courier"/>
              </a:rPr>
              <a:t> </a:t>
            </a:r>
            <a:r>
              <a:rPr sz="1400" b="1" dirty="0">
                <a:solidFill>
                  <a:srgbClr val="204A87"/>
                </a:solidFill>
                <a:latin typeface="Courier"/>
              </a:rPr>
              <a:t>DESC</a:t>
            </a:r>
            <a:r>
              <a:rPr sz="1400" dirty="0">
                <a:latin typeface="Courier"/>
              </a:rPr>
              <a:t>) </a:t>
            </a:r>
            <a:r>
              <a:rPr sz="1400" b="1" dirty="0">
                <a:solidFill>
                  <a:srgbClr val="204A87"/>
                </a:solidFill>
                <a:latin typeface="Courier"/>
              </a:rPr>
              <a:t>AS</a:t>
            </a:r>
            <a:r>
              <a:rPr sz="1400" dirty="0">
                <a:latin typeface="Courier"/>
              </a:rPr>
              <a:t> </a:t>
            </a:r>
            <a:r>
              <a:rPr sz="1400" b="1" dirty="0">
                <a:solidFill>
                  <a:srgbClr val="204A87"/>
                </a:solidFill>
                <a:latin typeface="Courier"/>
              </a:rPr>
              <a:t>rank</a:t>
            </a:r>
            <a:br>
              <a:rPr sz="1400" dirty="0"/>
            </a:br>
            <a:r>
              <a:rPr sz="1400" b="1" dirty="0">
                <a:solidFill>
                  <a:srgbClr val="204A87"/>
                </a:solidFill>
                <a:latin typeface="Courier"/>
              </a:rPr>
              <a:t>FROM</a:t>
            </a:r>
            <a:r>
              <a:rPr sz="1400" dirty="0">
                <a:latin typeface="Courier"/>
              </a:rPr>
              <a:t> </a:t>
            </a:r>
            <a:r>
              <a:rPr sz="1400" dirty="0" err="1">
                <a:latin typeface="Courier"/>
              </a:rPr>
              <a:t>employees.emp</a:t>
            </a:r>
            <a:r>
              <a:rPr sz="1400" dirty="0">
                <a:latin typeface="Courier"/>
              </a:rPr>
              <a:t>;</a:t>
            </a:r>
            <a:br>
              <a:rPr sz="1400" dirty="0"/>
            </a:br>
            <a:br>
              <a:rPr sz="1400" dirty="0"/>
            </a:br>
            <a:r>
              <a:rPr sz="1400" i="1" dirty="0">
                <a:solidFill>
                  <a:srgbClr val="8F5902"/>
                </a:solidFill>
                <a:latin typeface="Courier"/>
              </a:rPr>
              <a:t>-- Assigns a rank to each employee within their department based on their salary</a:t>
            </a:r>
            <a:br>
              <a:rPr sz="1400" dirty="0"/>
            </a:br>
            <a:r>
              <a:rPr sz="1400" b="1" dirty="0">
                <a:solidFill>
                  <a:srgbClr val="204A87"/>
                </a:solidFill>
                <a:latin typeface="Courier"/>
              </a:rPr>
              <a:t>SELECT</a:t>
            </a:r>
            <a:r>
              <a:rPr sz="1400" dirty="0">
                <a:latin typeface="Courier"/>
              </a:rPr>
              <a:t> </a:t>
            </a:r>
            <a:r>
              <a:rPr sz="1400" dirty="0" err="1">
                <a:latin typeface="Courier"/>
              </a:rPr>
              <a:t>deptno</a:t>
            </a:r>
            <a:r>
              <a:rPr sz="1400" dirty="0">
                <a:latin typeface="Courier"/>
              </a:rPr>
              <a:t>, </a:t>
            </a:r>
            <a:r>
              <a:rPr sz="1400" dirty="0" err="1">
                <a:latin typeface="Courier"/>
              </a:rPr>
              <a:t>ename</a:t>
            </a:r>
            <a:r>
              <a:rPr sz="1400" dirty="0">
                <a:latin typeface="Courier"/>
              </a:rPr>
              <a:t>, </a:t>
            </a:r>
            <a:r>
              <a:rPr sz="1400" dirty="0" err="1">
                <a:latin typeface="Courier"/>
              </a:rPr>
              <a:t>sal</a:t>
            </a:r>
            <a:r>
              <a:rPr sz="1400" dirty="0">
                <a:latin typeface="Courier"/>
              </a:rPr>
              <a:t>,</a:t>
            </a:r>
            <a:br>
              <a:rPr sz="1400" dirty="0"/>
            </a:br>
            <a:r>
              <a:rPr sz="1400" dirty="0">
                <a:latin typeface="Courier"/>
              </a:rPr>
              <a:t>       </a:t>
            </a:r>
            <a:r>
              <a:rPr sz="1400" b="1" dirty="0">
                <a:solidFill>
                  <a:srgbClr val="204A87"/>
                </a:solidFill>
                <a:latin typeface="Courier"/>
              </a:rPr>
              <a:t>RANK</a:t>
            </a:r>
            <a:r>
              <a:rPr sz="1400" dirty="0">
                <a:latin typeface="Courier"/>
              </a:rPr>
              <a:t>() </a:t>
            </a:r>
            <a:r>
              <a:rPr sz="1400" b="1" dirty="0">
                <a:solidFill>
                  <a:srgbClr val="204A87"/>
                </a:solidFill>
                <a:latin typeface="Courier"/>
              </a:rPr>
              <a:t>OVER</a:t>
            </a:r>
            <a:r>
              <a:rPr sz="1400" dirty="0">
                <a:latin typeface="Courier"/>
              </a:rPr>
              <a:t> (</a:t>
            </a:r>
            <a:r>
              <a:rPr sz="1400" b="1" dirty="0">
                <a:solidFill>
                  <a:srgbClr val="204A87"/>
                </a:solidFill>
                <a:latin typeface="Courier"/>
              </a:rPr>
              <a:t>PARTITION</a:t>
            </a:r>
            <a:r>
              <a:rPr sz="1400" dirty="0">
                <a:latin typeface="Courier"/>
              </a:rPr>
              <a:t> </a:t>
            </a:r>
            <a:r>
              <a:rPr sz="1400" b="1" dirty="0">
                <a:solidFill>
                  <a:srgbClr val="204A87"/>
                </a:solidFill>
                <a:latin typeface="Courier"/>
              </a:rPr>
              <a:t>BY</a:t>
            </a:r>
            <a:r>
              <a:rPr sz="1400" dirty="0">
                <a:latin typeface="Courier"/>
              </a:rPr>
              <a:t> </a:t>
            </a:r>
            <a:r>
              <a:rPr sz="1400" dirty="0" err="1">
                <a:latin typeface="Courier"/>
              </a:rPr>
              <a:t>deptno</a:t>
            </a:r>
            <a:r>
              <a:rPr sz="1400" dirty="0">
                <a:latin typeface="Courier"/>
              </a:rPr>
              <a:t> </a:t>
            </a:r>
            <a:r>
              <a:rPr sz="1400" b="1" dirty="0">
                <a:solidFill>
                  <a:srgbClr val="204A87"/>
                </a:solidFill>
                <a:latin typeface="Courier"/>
              </a:rPr>
              <a:t>ORDER</a:t>
            </a:r>
            <a:r>
              <a:rPr sz="1400" dirty="0">
                <a:latin typeface="Courier"/>
              </a:rPr>
              <a:t> </a:t>
            </a:r>
            <a:r>
              <a:rPr sz="1400" b="1" dirty="0">
                <a:solidFill>
                  <a:srgbClr val="204A87"/>
                </a:solidFill>
                <a:latin typeface="Courier"/>
              </a:rPr>
              <a:t>BY</a:t>
            </a:r>
            <a:r>
              <a:rPr sz="1400" dirty="0">
                <a:latin typeface="Courier"/>
              </a:rPr>
              <a:t> </a:t>
            </a:r>
            <a:r>
              <a:rPr sz="1400" dirty="0" err="1">
                <a:latin typeface="Courier"/>
              </a:rPr>
              <a:t>sal</a:t>
            </a:r>
            <a:r>
              <a:rPr sz="1400" dirty="0">
                <a:latin typeface="Courier"/>
              </a:rPr>
              <a:t> </a:t>
            </a:r>
            <a:r>
              <a:rPr sz="1400" b="1" dirty="0">
                <a:solidFill>
                  <a:srgbClr val="204A87"/>
                </a:solidFill>
                <a:latin typeface="Courier"/>
              </a:rPr>
              <a:t>DESC</a:t>
            </a:r>
            <a:r>
              <a:rPr sz="1400" dirty="0">
                <a:latin typeface="Courier"/>
              </a:rPr>
              <a:t>) </a:t>
            </a:r>
            <a:r>
              <a:rPr sz="1400" b="1" dirty="0">
                <a:solidFill>
                  <a:srgbClr val="204A87"/>
                </a:solidFill>
                <a:latin typeface="Courier"/>
              </a:rPr>
              <a:t>AS</a:t>
            </a:r>
            <a:r>
              <a:rPr sz="1400" dirty="0">
                <a:latin typeface="Courier"/>
              </a:rPr>
              <a:t> </a:t>
            </a:r>
            <a:r>
              <a:rPr sz="1400" b="1" dirty="0">
                <a:solidFill>
                  <a:srgbClr val="204A87"/>
                </a:solidFill>
                <a:latin typeface="Courier"/>
              </a:rPr>
              <a:t>rank</a:t>
            </a:r>
            <a:br>
              <a:rPr sz="1400" dirty="0"/>
            </a:br>
            <a:r>
              <a:rPr sz="1400" b="1" dirty="0">
                <a:solidFill>
                  <a:srgbClr val="204A87"/>
                </a:solidFill>
                <a:latin typeface="Courier"/>
              </a:rPr>
              <a:t>FROM</a:t>
            </a:r>
            <a:r>
              <a:rPr sz="1400" dirty="0">
                <a:latin typeface="Courier"/>
              </a:rPr>
              <a:t> </a:t>
            </a:r>
            <a:r>
              <a:rPr sz="1400" dirty="0" err="1">
                <a:latin typeface="Courier"/>
              </a:rPr>
              <a:t>employees.emp</a:t>
            </a:r>
            <a:r>
              <a:rPr sz="1400" dirty="0">
                <a:latin typeface="Courier"/>
              </a:rPr>
              <a:t>;</a:t>
            </a:r>
          </a:p>
        </p:txBody>
      </p:sp>
      <p:sp>
        <p:nvSpPr>
          <p:cNvPr id="4" name="Title 1">
            <a:extLst>
              <a:ext uri="{FF2B5EF4-FFF2-40B4-BE49-F238E27FC236}">
                <a16:creationId xmlns:a16="http://schemas.microsoft.com/office/drawing/2014/main" id="{BF9D1818-44CA-3950-C65B-934DF251688F}"/>
              </a:ext>
            </a:extLst>
          </p:cNvPr>
          <p:cNvSpPr txBox="1">
            <a:spLocks/>
          </p:cNvSpPr>
          <p:nvPr/>
        </p:nvSpPr>
        <p:spPr>
          <a:xfrm>
            <a:off x="0" y="1"/>
            <a:ext cx="9144000" cy="548876"/>
          </a:xfrm>
          <a:prstGeom prst="rect">
            <a:avLst/>
          </a:prstGeom>
          <a:solidFill>
            <a:schemeClr val="tx1"/>
          </a:solidFill>
        </p:spPr>
        <p:txBody>
          <a:bodyPr vert="horz" lIns="91440" tIns="45720" rIns="91440" bIns="45720" rtlCol="0" anchor="ctr">
            <a:normAutofit/>
          </a:bodyPr>
          <a:lstStyle>
            <a:lvl1pPr algn="ctr" defTabSz="342900" rtl="0" eaLnBrk="1" latinLnBrk="0" hangingPunct="1">
              <a:spcBef>
                <a:spcPct val="0"/>
              </a:spcBef>
              <a:buNone/>
              <a:defRPr sz="3300" kern="1200">
                <a:solidFill>
                  <a:schemeClr val="tx1"/>
                </a:solidFill>
                <a:latin typeface="+mj-lt"/>
                <a:ea typeface="+mj-ea"/>
                <a:cs typeface="+mj-cs"/>
              </a:defRPr>
            </a:lvl1pPr>
          </a:lstStyle>
          <a:p>
            <a:pPr algn="l"/>
            <a:r>
              <a:rPr lang="en-IN" sz="2800" dirty="0">
                <a:solidFill>
                  <a:schemeClr val="bg1"/>
                </a:solidFill>
              </a:rPr>
              <a:t>RANK():</a:t>
            </a:r>
          </a:p>
        </p:txBody>
      </p:sp>
      <p:pic>
        <p:nvPicPr>
          <p:cNvPr id="5" name="Picture 4">
            <a:extLst>
              <a:ext uri="{FF2B5EF4-FFF2-40B4-BE49-F238E27FC236}">
                <a16:creationId xmlns:a16="http://schemas.microsoft.com/office/drawing/2014/main" id="{C3C82E30-34E2-07CA-FC79-0E6AB872E86E}"/>
              </a:ext>
            </a:extLst>
          </p:cNvPr>
          <p:cNvPicPr>
            <a:picLocks noChangeAspect="1"/>
          </p:cNvPicPr>
          <p:nvPr/>
        </p:nvPicPr>
        <p:blipFill>
          <a:blip r:embed="rId2"/>
          <a:stretch>
            <a:fillRect/>
          </a:stretch>
        </p:blipFill>
        <p:spPr>
          <a:xfrm>
            <a:off x="5763675" y="51792"/>
            <a:ext cx="3380325" cy="445294"/>
          </a:xfrm>
          <a:prstGeom prst="rect">
            <a:avLst/>
          </a:prstGeom>
        </p:spPr>
      </p:pic>
      <p:sp>
        <p:nvSpPr>
          <p:cNvPr id="6" name="Title 1">
            <a:extLst>
              <a:ext uri="{FF2B5EF4-FFF2-40B4-BE49-F238E27FC236}">
                <a16:creationId xmlns:a16="http://schemas.microsoft.com/office/drawing/2014/main" id="{93100222-BE7A-8A24-62E4-BAB71EE865B2}"/>
              </a:ext>
            </a:extLst>
          </p:cNvPr>
          <p:cNvSpPr txBox="1">
            <a:spLocks/>
          </p:cNvSpPr>
          <p:nvPr/>
        </p:nvSpPr>
        <p:spPr>
          <a:xfrm>
            <a:off x="0" y="4858718"/>
            <a:ext cx="9144000" cy="284781"/>
          </a:xfrm>
          <a:prstGeom prst="rect">
            <a:avLst/>
          </a:prstGeom>
          <a:solidFill>
            <a:schemeClr val="tx1"/>
          </a:solidFill>
        </p:spPr>
        <p:txBody>
          <a:bodyPr vert="horz" lIns="91440" tIns="45720" rIns="91440" bIns="45720" rtlCol="0" anchor="ctr">
            <a:normAutofit/>
          </a:bodyPr>
          <a:lstStyle>
            <a:lvl1pPr algn="ctr" defTabSz="342900" rtl="0" eaLnBrk="1" latinLnBrk="0" hangingPunct="1">
              <a:spcBef>
                <a:spcPct val="0"/>
              </a:spcBef>
              <a:buNone/>
              <a:defRPr sz="3300" kern="1200">
                <a:solidFill>
                  <a:schemeClr val="tx1"/>
                </a:solidFill>
                <a:latin typeface="+mj-lt"/>
                <a:ea typeface="+mj-ea"/>
                <a:cs typeface="+mj-cs"/>
              </a:defRPr>
            </a:lvl1pPr>
          </a:lstStyle>
          <a:p>
            <a:r>
              <a:rPr lang="en-IN" sz="1200" dirty="0">
                <a:solidFill>
                  <a:schemeClr val="bg1"/>
                </a:solidFill>
              </a:rPr>
              <a:t>© TINITIATE.COM</a:t>
            </a:r>
            <a:endParaRPr lang="en-IN" sz="1000" dirty="0">
              <a:solidFill>
                <a:schemeClr val="bg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74514"/>
            <a:ext cx="8229600" cy="3394472"/>
          </a:xfrm>
        </p:spPr>
        <p:txBody>
          <a:bodyPr>
            <a:noAutofit/>
          </a:bodyPr>
          <a:lstStyle/>
          <a:p>
            <a:pPr lvl="0"/>
            <a:r>
              <a:rPr sz="1800" dirty="0"/>
              <a:t>Assigns the same rank to tied rows without gaps in the following ranking values.</a:t>
            </a:r>
          </a:p>
          <a:p>
            <a:pPr lvl="0" indent="0">
              <a:buNone/>
            </a:pPr>
            <a:r>
              <a:rPr sz="1400" i="1" dirty="0">
                <a:solidFill>
                  <a:srgbClr val="8F5902"/>
                </a:solidFill>
                <a:latin typeface="Courier"/>
              </a:rPr>
              <a:t>-- Assigns ranks within the partition; tied values share the same rank and</a:t>
            </a:r>
            <a:br>
              <a:rPr sz="1400" dirty="0"/>
            </a:br>
            <a:r>
              <a:rPr sz="1400" i="1" dirty="0">
                <a:solidFill>
                  <a:srgbClr val="8F5902"/>
                </a:solidFill>
                <a:latin typeface="Courier"/>
              </a:rPr>
              <a:t>-- no gaps appear in the following ranking values.</a:t>
            </a:r>
            <a:br>
              <a:rPr sz="1400" dirty="0"/>
            </a:br>
            <a:r>
              <a:rPr sz="1400" b="1" dirty="0">
                <a:solidFill>
                  <a:srgbClr val="204A87"/>
                </a:solidFill>
                <a:latin typeface="Courier"/>
              </a:rPr>
              <a:t>SELECT</a:t>
            </a:r>
            <a:r>
              <a:rPr sz="1400" dirty="0">
                <a:latin typeface="Courier"/>
              </a:rPr>
              <a:t> </a:t>
            </a:r>
            <a:r>
              <a:rPr sz="1400" dirty="0" err="1">
                <a:latin typeface="Courier"/>
              </a:rPr>
              <a:t>ename</a:t>
            </a:r>
            <a:r>
              <a:rPr sz="1400" dirty="0">
                <a:latin typeface="Courier"/>
              </a:rPr>
              <a:t>, </a:t>
            </a:r>
            <a:r>
              <a:rPr sz="1400" dirty="0" err="1">
                <a:latin typeface="Courier"/>
              </a:rPr>
              <a:t>sal</a:t>
            </a:r>
            <a:r>
              <a:rPr sz="1400" dirty="0">
                <a:latin typeface="Courier"/>
              </a:rPr>
              <a:t>, </a:t>
            </a:r>
            <a:r>
              <a:rPr sz="1400" b="1" dirty="0">
                <a:solidFill>
                  <a:srgbClr val="204A87"/>
                </a:solidFill>
                <a:latin typeface="Courier"/>
              </a:rPr>
              <a:t>DENSE_RANK</a:t>
            </a:r>
            <a:r>
              <a:rPr sz="1400" dirty="0">
                <a:latin typeface="Courier"/>
              </a:rPr>
              <a:t>() </a:t>
            </a:r>
            <a:r>
              <a:rPr sz="1400" b="1" dirty="0">
                <a:solidFill>
                  <a:srgbClr val="204A87"/>
                </a:solidFill>
                <a:latin typeface="Courier"/>
              </a:rPr>
              <a:t>OVER</a:t>
            </a:r>
            <a:r>
              <a:rPr sz="1400" dirty="0">
                <a:latin typeface="Courier"/>
              </a:rPr>
              <a:t> (</a:t>
            </a:r>
            <a:r>
              <a:rPr sz="1400" b="1" dirty="0">
                <a:solidFill>
                  <a:srgbClr val="204A87"/>
                </a:solidFill>
                <a:latin typeface="Courier"/>
              </a:rPr>
              <a:t>ORDER</a:t>
            </a:r>
            <a:r>
              <a:rPr sz="1400" dirty="0">
                <a:latin typeface="Courier"/>
              </a:rPr>
              <a:t> </a:t>
            </a:r>
            <a:r>
              <a:rPr sz="1400" b="1" dirty="0">
                <a:solidFill>
                  <a:srgbClr val="204A87"/>
                </a:solidFill>
                <a:latin typeface="Courier"/>
              </a:rPr>
              <a:t>BY</a:t>
            </a:r>
            <a:r>
              <a:rPr sz="1400" dirty="0">
                <a:latin typeface="Courier"/>
              </a:rPr>
              <a:t> </a:t>
            </a:r>
            <a:r>
              <a:rPr sz="1400" dirty="0" err="1">
                <a:latin typeface="Courier"/>
              </a:rPr>
              <a:t>sal</a:t>
            </a:r>
            <a:r>
              <a:rPr sz="1400" dirty="0">
                <a:latin typeface="Courier"/>
              </a:rPr>
              <a:t> </a:t>
            </a:r>
            <a:r>
              <a:rPr sz="1400" b="1" dirty="0">
                <a:solidFill>
                  <a:srgbClr val="204A87"/>
                </a:solidFill>
                <a:latin typeface="Courier"/>
              </a:rPr>
              <a:t>DESC</a:t>
            </a:r>
            <a:r>
              <a:rPr sz="1400" dirty="0">
                <a:latin typeface="Courier"/>
              </a:rPr>
              <a:t>) </a:t>
            </a:r>
            <a:r>
              <a:rPr sz="1400" b="1" dirty="0">
                <a:solidFill>
                  <a:srgbClr val="204A87"/>
                </a:solidFill>
                <a:latin typeface="Courier"/>
              </a:rPr>
              <a:t>AS</a:t>
            </a:r>
            <a:r>
              <a:rPr sz="1400" dirty="0">
                <a:latin typeface="Courier"/>
              </a:rPr>
              <a:t> </a:t>
            </a:r>
            <a:r>
              <a:rPr sz="1400" b="1" dirty="0" err="1">
                <a:solidFill>
                  <a:srgbClr val="204A87"/>
                </a:solidFill>
                <a:latin typeface="Courier"/>
              </a:rPr>
              <a:t>dense_rank</a:t>
            </a:r>
            <a:br>
              <a:rPr sz="1400" dirty="0"/>
            </a:br>
            <a:r>
              <a:rPr sz="1400" b="1" dirty="0">
                <a:solidFill>
                  <a:srgbClr val="204A87"/>
                </a:solidFill>
                <a:latin typeface="Courier"/>
              </a:rPr>
              <a:t>FROM</a:t>
            </a:r>
            <a:r>
              <a:rPr sz="1400" dirty="0">
                <a:latin typeface="Courier"/>
              </a:rPr>
              <a:t> </a:t>
            </a:r>
            <a:r>
              <a:rPr sz="1400" dirty="0" err="1">
                <a:latin typeface="Courier"/>
              </a:rPr>
              <a:t>employees.emp</a:t>
            </a:r>
            <a:r>
              <a:rPr sz="1400" dirty="0">
                <a:latin typeface="Courier"/>
              </a:rPr>
              <a:t>;</a:t>
            </a:r>
            <a:br>
              <a:rPr sz="1400" dirty="0"/>
            </a:br>
            <a:br>
              <a:rPr sz="1400" dirty="0"/>
            </a:br>
            <a:r>
              <a:rPr sz="1400" i="1" dirty="0">
                <a:solidFill>
                  <a:srgbClr val="8F5902"/>
                </a:solidFill>
                <a:latin typeface="Courier"/>
              </a:rPr>
              <a:t>-- Assigns a dense rank to each employee within their department based</a:t>
            </a:r>
            <a:br>
              <a:rPr sz="1400" dirty="0"/>
            </a:br>
            <a:r>
              <a:rPr sz="1400" i="1" dirty="0">
                <a:solidFill>
                  <a:srgbClr val="8F5902"/>
                </a:solidFill>
                <a:latin typeface="Courier"/>
              </a:rPr>
              <a:t>-- on their salary.</a:t>
            </a:r>
            <a:br>
              <a:rPr sz="1400" dirty="0"/>
            </a:br>
            <a:r>
              <a:rPr sz="1400" b="1" dirty="0">
                <a:solidFill>
                  <a:srgbClr val="204A87"/>
                </a:solidFill>
                <a:latin typeface="Courier"/>
              </a:rPr>
              <a:t>SELECT</a:t>
            </a:r>
            <a:r>
              <a:rPr sz="1400" dirty="0">
                <a:latin typeface="Courier"/>
              </a:rPr>
              <a:t> </a:t>
            </a:r>
            <a:r>
              <a:rPr sz="1400" dirty="0" err="1">
                <a:latin typeface="Courier"/>
              </a:rPr>
              <a:t>deptno</a:t>
            </a:r>
            <a:r>
              <a:rPr sz="1400" dirty="0">
                <a:latin typeface="Courier"/>
              </a:rPr>
              <a:t>, </a:t>
            </a:r>
            <a:r>
              <a:rPr sz="1400" dirty="0" err="1">
                <a:latin typeface="Courier"/>
              </a:rPr>
              <a:t>ename</a:t>
            </a:r>
            <a:r>
              <a:rPr sz="1400" dirty="0">
                <a:latin typeface="Courier"/>
              </a:rPr>
              <a:t>, </a:t>
            </a:r>
            <a:r>
              <a:rPr sz="1400" dirty="0" err="1">
                <a:latin typeface="Courier"/>
              </a:rPr>
              <a:t>sal</a:t>
            </a:r>
            <a:r>
              <a:rPr sz="1400" dirty="0">
                <a:latin typeface="Courier"/>
              </a:rPr>
              <a:t>,</a:t>
            </a:r>
            <a:br>
              <a:rPr sz="1400" dirty="0"/>
            </a:br>
            <a:r>
              <a:rPr sz="1400" dirty="0">
                <a:latin typeface="Courier"/>
              </a:rPr>
              <a:t>       </a:t>
            </a:r>
            <a:r>
              <a:rPr sz="1400" b="1" dirty="0">
                <a:solidFill>
                  <a:srgbClr val="204A87"/>
                </a:solidFill>
                <a:latin typeface="Courier"/>
              </a:rPr>
              <a:t>DENSE_RANK</a:t>
            </a:r>
            <a:r>
              <a:rPr sz="1400" dirty="0">
                <a:latin typeface="Courier"/>
              </a:rPr>
              <a:t>() </a:t>
            </a:r>
            <a:r>
              <a:rPr sz="1400" b="1" dirty="0">
                <a:solidFill>
                  <a:srgbClr val="204A87"/>
                </a:solidFill>
                <a:latin typeface="Courier"/>
              </a:rPr>
              <a:t>OVER</a:t>
            </a:r>
            <a:r>
              <a:rPr sz="1400" dirty="0">
                <a:latin typeface="Courier"/>
              </a:rPr>
              <a:t> (</a:t>
            </a:r>
            <a:r>
              <a:rPr sz="1400" b="1" dirty="0">
                <a:solidFill>
                  <a:srgbClr val="204A87"/>
                </a:solidFill>
                <a:latin typeface="Courier"/>
              </a:rPr>
              <a:t>PARTITION</a:t>
            </a:r>
            <a:r>
              <a:rPr sz="1400" dirty="0">
                <a:latin typeface="Courier"/>
              </a:rPr>
              <a:t> </a:t>
            </a:r>
            <a:r>
              <a:rPr sz="1400" b="1" dirty="0">
                <a:solidFill>
                  <a:srgbClr val="204A87"/>
                </a:solidFill>
                <a:latin typeface="Courier"/>
              </a:rPr>
              <a:t>BY</a:t>
            </a:r>
            <a:r>
              <a:rPr sz="1400" dirty="0">
                <a:latin typeface="Courier"/>
              </a:rPr>
              <a:t> </a:t>
            </a:r>
            <a:r>
              <a:rPr sz="1400" dirty="0" err="1">
                <a:latin typeface="Courier"/>
              </a:rPr>
              <a:t>deptno</a:t>
            </a:r>
            <a:r>
              <a:rPr sz="1400" dirty="0">
                <a:latin typeface="Courier"/>
              </a:rPr>
              <a:t> </a:t>
            </a:r>
            <a:r>
              <a:rPr sz="1400" b="1" dirty="0">
                <a:solidFill>
                  <a:srgbClr val="204A87"/>
                </a:solidFill>
                <a:latin typeface="Courier"/>
              </a:rPr>
              <a:t>ORDER</a:t>
            </a:r>
            <a:r>
              <a:rPr sz="1400" dirty="0">
                <a:latin typeface="Courier"/>
              </a:rPr>
              <a:t> </a:t>
            </a:r>
            <a:r>
              <a:rPr sz="1400" b="1" dirty="0">
                <a:solidFill>
                  <a:srgbClr val="204A87"/>
                </a:solidFill>
                <a:latin typeface="Courier"/>
              </a:rPr>
              <a:t>BY</a:t>
            </a:r>
            <a:r>
              <a:rPr sz="1400" dirty="0">
                <a:latin typeface="Courier"/>
              </a:rPr>
              <a:t> </a:t>
            </a:r>
            <a:r>
              <a:rPr sz="1400" dirty="0" err="1">
                <a:latin typeface="Courier"/>
              </a:rPr>
              <a:t>sal</a:t>
            </a:r>
            <a:r>
              <a:rPr sz="1400" dirty="0">
                <a:latin typeface="Courier"/>
              </a:rPr>
              <a:t> </a:t>
            </a:r>
            <a:r>
              <a:rPr sz="1400" b="1" dirty="0">
                <a:solidFill>
                  <a:srgbClr val="204A87"/>
                </a:solidFill>
                <a:latin typeface="Courier"/>
              </a:rPr>
              <a:t>DESC</a:t>
            </a:r>
            <a:r>
              <a:rPr sz="1400" dirty="0">
                <a:latin typeface="Courier"/>
              </a:rPr>
              <a:t>) </a:t>
            </a:r>
            <a:r>
              <a:rPr sz="1400" b="1" dirty="0">
                <a:solidFill>
                  <a:srgbClr val="204A87"/>
                </a:solidFill>
                <a:latin typeface="Courier"/>
              </a:rPr>
              <a:t>AS</a:t>
            </a:r>
            <a:r>
              <a:rPr sz="1400" dirty="0">
                <a:latin typeface="Courier"/>
              </a:rPr>
              <a:t> </a:t>
            </a:r>
            <a:r>
              <a:rPr sz="1400" b="1" dirty="0" err="1">
                <a:solidFill>
                  <a:srgbClr val="204A87"/>
                </a:solidFill>
                <a:latin typeface="Courier"/>
              </a:rPr>
              <a:t>dense_rank</a:t>
            </a:r>
            <a:br>
              <a:rPr sz="1400" dirty="0"/>
            </a:br>
            <a:r>
              <a:rPr sz="1400" b="1" dirty="0">
                <a:solidFill>
                  <a:srgbClr val="204A87"/>
                </a:solidFill>
                <a:latin typeface="Courier"/>
              </a:rPr>
              <a:t>FROM</a:t>
            </a:r>
            <a:r>
              <a:rPr sz="1400" dirty="0">
                <a:latin typeface="Courier"/>
              </a:rPr>
              <a:t> </a:t>
            </a:r>
            <a:r>
              <a:rPr sz="1400" dirty="0" err="1">
                <a:latin typeface="Courier"/>
              </a:rPr>
              <a:t>employees.emp</a:t>
            </a:r>
            <a:r>
              <a:rPr sz="1400" dirty="0">
                <a:latin typeface="Courier"/>
              </a:rPr>
              <a:t>;</a:t>
            </a:r>
          </a:p>
        </p:txBody>
      </p:sp>
      <p:sp>
        <p:nvSpPr>
          <p:cNvPr id="4" name="Title 1">
            <a:extLst>
              <a:ext uri="{FF2B5EF4-FFF2-40B4-BE49-F238E27FC236}">
                <a16:creationId xmlns:a16="http://schemas.microsoft.com/office/drawing/2014/main" id="{0EBE7F09-C80C-F796-99BF-3CB283E06FFA}"/>
              </a:ext>
            </a:extLst>
          </p:cNvPr>
          <p:cNvSpPr txBox="1">
            <a:spLocks/>
          </p:cNvSpPr>
          <p:nvPr/>
        </p:nvSpPr>
        <p:spPr>
          <a:xfrm>
            <a:off x="0" y="1"/>
            <a:ext cx="9144000" cy="548876"/>
          </a:xfrm>
          <a:prstGeom prst="rect">
            <a:avLst/>
          </a:prstGeom>
          <a:solidFill>
            <a:schemeClr val="tx1"/>
          </a:solidFill>
        </p:spPr>
        <p:txBody>
          <a:bodyPr vert="horz" lIns="91440" tIns="45720" rIns="91440" bIns="45720" rtlCol="0" anchor="ctr">
            <a:normAutofit/>
          </a:bodyPr>
          <a:lstStyle>
            <a:lvl1pPr algn="ctr" defTabSz="342900" rtl="0" eaLnBrk="1" latinLnBrk="0" hangingPunct="1">
              <a:spcBef>
                <a:spcPct val="0"/>
              </a:spcBef>
              <a:buNone/>
              <a:defRPr sz="3300" kern="1200">
                <a:solidFill>
                  <a:schemeClr val="tx1"/>
                </a:solidFill>
                <a:latin typeface="+mj-lt"/>
                <a:ea typeface="+mj-ea"/>
                <a:cs typeface="+mj-cs"/>
              </a:defRPr>
            </a:lvl1pPr>
          </a:lstStyle>
          <a:p>
            <a:pPr algn="l"/>
            <a:r>
              <a:rPr lang="en-IN" sz="2800" dirty="0">
                <a:solidFill>
                  <a:schemeClr val="bg1"/>
                </a:solidFill>
              </a:rPr>
              <a:t>DENSE_RANK():</a:t>
            </a:r>
          </a:p>
        </p:txBody>
      </p:sp>
      <p:pic>
        <p:nvPicPr>
          <p:cNvPr id="5" name="Picture 4">
            <a:extLst>
              <a:ext uri="{FF2B5EF4-FFF2-40B4-BE49-F238E27FC236}">
                <a16:creationId xmlns:a16="http://schemas.microsoft.com/office/drawing/2014/main" id="{3D2CB846-8B1D-8A85-299E-62512A45CA89}"/>
              </a:ext>
            </a:extLst>
          </p:cNvPr>
          <p:cNvPicPr>
            <a:picLocks noChangeAspect="1"/>
          </p:cNvPicPr>
          <p:nvPr/>
        </p:nvPicPr>
        <p:blipFill>
          <a:blip r:embed="rId2"/>
          <a:stretch>
            <a:fillRect/>
          </a:stretch>
        </p:blipFill>
        <p:spPr>
          <a:xfrm>
            <a:off x="5763675" y="51792"/>
            <a:ext cx="3380325" cy="445294"/>
          </a:xfrm>
          <a:prstGeom prst="rect">
            <a:avLst/>
          </a:prstGeom>
        </p:spPr>
      </p:pic>
      <p:sp>
        <p:nvSpPr>
          <p:cNvPr id="6" name="Title 1">
            <a:extLst>
              <a:ext uri="{FF2B5EF4-FFF2-40B4-BE49-F238E27FC236}">
                <a16:creationId xmlns:a16="http://schemas.microsoft.com/office/drawing/2014/main" id="{930F58CD-C816-DE08-F6DE-8504921D96CD}"/>
              </a:ext>
            </a:extLst>
          </p:cNvPr>
          <p:cNvSpPr txBox="1">
            <a:spLocks/>
          </p:cNvSpPr>
          <p:nvPr/>
        </p:nvSpPr>
        <p:spPr>
          <a:xfrm>
            <a:off x="0" y="4858718"/>
            <a:ext cx="9144000" cy="284781"/>
          </a:xfrm>
          <a:prstGeom prst="rect">
            <a:avLst/>
          </a:prstGeom>
          <a:solidFill>
            <a:schemeClr val="tx1"/>
          </a:solidFill>
        </p:spPr>
        <p:txBody>
          <a:bodyPr vert="horz" lIns="91440" tIns="45720" rIns="91440" bIns="45720" rtlCol="0" anchor="ctr">
            <a:normAutofit/>
          </a:bodyPr>
          <a:lstStyle>
            <a:lvl1pPr algn="ctr" defTabSz="342900" rtl="0" eaLnBrk="1" latinLnBrk="0" hangingPunct="1">
              <a:spcBef>
                <a:spcPct val="0"/>
              </a:spcBef>
              <a:buNone/>
              <a:defRPr sz="3300" kern="1200">
                <a:solidFill>
                  <a:schemeClr val="tx1"/>
                </a:solidFill>
                <a:latin typeface="+mj-lt"/>
                <a:ea typeface="+mj-ea"/>
                <a:cs typeface="+mj-cs"/>
              </a:defRPr>
            </a:lvl1pPr>
          </a:lstStyle>
          <a:p>
            <a:r>
              <a:rPr lang="en-IN" sz="1200" dirty="0">
                <a:solidFill>
                  <a:schemeClr val="bg1"/>
                </a:solidFill>
              </a:rPr>
              <a:t>© TINITIATE.COM</a:t>
            </a:r>
            <a:endParaRPr lang="en-IN" sz="1000" dirty="0">
              <a:solidFill>
                <a:schemeClr val="bg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33B018-1AC5-C5DF-0909-20CAE420949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04C734E-6A82-72DB-C48C-94232282FCDA}"/>
              </a:ext>
            </a:extLst>
          </p:cNvPr>
          <p:cNvSpPr>
            <a:spLocks noGrp="1"/>
          </p:cNvSpPr>
          <p:nvPr>
            <p:ph idx="1"/>
          </p:nvPr>
        </p:nvSpPr>
        <p:spPr>
          <a:xfrm>
            <a:off x="457200" y="874514"/>
            <a:ext cx="8229600" cy="3394472"/>
          </a:xfrm>
        </p:spPr>
        <p:txBody>
          <a:bodyPr>
            <a:noAutofit/>
          </a:bodyPr>
          <a:lstStyle/>
          <a:p>
            <a:pPr lvl="0" indent="0">
              <a:buNone/>
            </a:pPr>
            <a:r>
              <a:rPr sz="1400" i="1" dirty="0">
                <a:solidFill>
                  <a:srgbClr val="8F5902"/>
                </a:solidFill>
                <a:latin typeface="Courier"/>
              </a:rPr>
              <a:t>-- Multi-functions with Multi-orders example</a:t>
            </a:r>
            <a:br>
              <a:rPr sz="1400" dirty="0"/>
            </a:br>
            <a:r>
              <a:rPr sz="1400" b="1" dirty="0">
                <a:solidFill>
                  <a:srgbClr val="204A87"/>
                </a:solidFill>
                <a:latin typeface="Courier"/>
              </a:rPr>
              <a:t>SELECT</a:t>
            </a:r>
            <a:r>
              <a:rPr sz="1400" dirty="0">
                <a:latin typeface="Courier"/>
              </a:rPr>
              <a:t>  e.</a:t>
            </a:r>
            <a:r>
              <a:rPr sz="1400" b="1" dirty="0">
                <a:solidFill>
                  <a:srgbClr val="CE5C00"/>
                </a:solidFill>
                <a:latin typeface="Courier"/>
              </a:rPr>
              <a:t>*</a:t>
            </a:r>
            <a:r>
              <a:rPr sz="1400" dirty="0">
                <a:latin typeface="Courier"/>
              </a:rPr>
              <a:t>,</a:t>
            </a:r>
            <a:br>
              <a:rPr sz="1400" dirty="0"/>
            </a:br>
            <a:r>
              <a:rPr sz="1400" dirty="0">
                <a:latin typeface="Courier"/>
              </a:rPr>
              <a:t>        </a:t>
            </a:r>
            <a:r>
              <a:rPr sz="1400" b="1" dirty="0">
                <a:solidFill>
                  <a:srgbClr val="204A87"/>
                </a:solidFill>
                <a:latin typeface="Courier"/>
              </a:rPr>
              <a:t>RANK</a:t>
            </a:r>
            <a:r>
              <a:rPr sz="1400" dirty="0">
                <a:latin typeface="Courier"/>
              </a:rPr>
              <a:t>() </a:t>
            </a:r>
            <a:r>
              <a:rPr sz="1400" b="1" dirty="0">
                <a:solidFill>
                  <a:srgbClr val="204A87"/>
                </a:solidFill>
                <a:latin typeface="Courier"/>
              </a:rPr>
              <a:t>OVER</a:t>
            </a:r>
            <a:r>
              <a:rPr sz="1400" dirty="0">
                <a:latin typeface="Courier"/>
              </a:rPr>
              <a:t> (</a:t>
            </a:r>
            <a:r>
              <a:rPr sz="1400" b="1" dirty="0">
                <a:solidFill>
                  <a:srgbClr val="204A87"/>
                </a:solidFill>
                <a:latin typeface="Courier"/>
              </a:rPr>
              <a:t>ORDER</a:t>
            </a:r>
            <a:r>
              <a:rPr sz="1400" dirty="0">
                <a:latin typeface="Courier"/>
              </a:rPr>
              <a:t> </a:t>
            </a:r>
            <a:r>
              <a:rPr sz="1400" b="1" dirty="0">
                <a:solidFill>
                  <a:srgbClr val="204A87"/>
                </a:solidFill>
                <a:latin typeface="Courier"/>
              </a:rPr>
              <a:t>BY</a:t>
            </a:r>
            <a:r>
              <a:rPr sz="1400" dirty="0">
                <a:latin typeface="Courier"/>
              </a:rPr>
              <a:t> </a:t>
            </a:r>
            <a:r>
              <a:rPr sz="1400" dirty="0" err="1">
                <a:latin typeface="Courier"/>
              </a:rPr>
              <a:t>sal</a:t>
            </a:r>
            <a:r>
              <a:rPr sz="1400" dirty="0">
                <a:latin typeface="Courier"/>
              </a:rPr>
              <a:t> </a:t>
            </a:r>
            <a:r>
              <a:rPr sz="1400" b="1" dirty="0">
                <a:solidFill>
                  <a:srgbClr val="204A87"/>
                </a:solidFill>
                <a:latin typeface="Courier"/>
              </a:rPr>
              <a:t>DESC</a:t>
            </a:r>
            <a:r>
              <a:rPr sz="1400" dirty="0">
                <a:latin typeface="Courier"/>
              </a:rPr>
              <a:t>)       </a:t>
            </a:r>
            <a:r>
              <a:rPr sz="1400" b="1" dirty="0">
                <a:solidFill>
                  <a:srgbClr val="204A87"/>
                </a:solidFill>
                <a:latin typeface="Courier"/>
              </a:rPr>
              <a:t>AS</a:t>
            </a:r>
            <a:r>
              <a:rPr sz="1400" dirty="0">
                <a:latin typeface="Courier"/>
              </a:rPr>
              <a:t> </a:t>
            </a:r>
            <a:r>
              <a:rPr sz="1400" b="1" dirty="0">
                <a:solidFill>
                  <a:srgbClr val="204A87"/>
                </a:solidFill>
                <a:latin typeface="Courier"/>
              </a:rPr>
              <a:t>rank</a:t>
            </a:r>
            <a:r>
              <a:rPr sz="1400" dirty="0">
                <a:latin typeface="Courier"/>
              </a:rPr>
              <a:t>,</a:t>
            </a:r>
            <a:br>
              <a:rPr sz="1400" dirty="0"/>
            </a:br>
            <a:r>
              <a:rPr sz="1400" dirty="0">
                <a:latin typeface="Courier"/>
              </a:rPr>
              <a:t>        </a:t>
            </a:r>
            <a:r>
              <a:rPr sz="1400" b="1" dirty="0">
                <a:solidFill>
                  <a:srgbClr val="204A87"/>
                </a:solidFill>
                <a:latin typeface="Courier"/>
              </a:rPr>
              <a:t>DENSE_RANK</a:t>
            </a:r>
            <a:r>
              <a:rPr sz="1400" dirty="0">
                <a:latin typeface="Courier"/>
              </a:rPr>
              <a:t>() </a:t>
            </a:r>
            <a:r>
              <a:rPr sz="1400" b="1" dirty="0">
                <a:solidFill>
                  <a:srgbClr val="204A87"/>
                </a:solidFill>
                <a:latin typeface="Courier"/>
              </a:rPr>
              <a:t>OVER</a:t>
            </a:r>
            <a:r>
              <a:rPr sz="1400" dirty="0">
                <a:latin typeface="Courier"/>
              </a:rPr>
              <a:t> (</a:t>
            </a:r>
            <a:r>
              <a:rPr sz="1400" b="1" dirty="0">
                <a:solidFill>
                  <a:srgbClr val="204A87"/>
                </a:solidFill>
                <a:latin typeface="Courier"/>
              </a:rPr>
              <a:t>ORDER</a:t>
            </a:r>
            <a:r>
              <a:rPr sz="1400" dirty="0">
                <a:latin typeface="Courier"/>
              </a:rPr>
              <a:t> </a:t>
            </a:r>
            <a:r>
              <a:rPr sz="1400" b="1" dirty="0">
                <a:solidFill>
                  <a:srgbClr val="204A87"/>
                </a:solidFill>
                <a:latin typeface="Courier"/>
              </a:rPr>
              <a:t>BY</a:t>
            </a:r>
            <a:r>
              <a:rPr sz="1400" dirty="0">
                <a:latin typeface="Courier"/>
              </a:rPr>
              <a:t> </a:t>
            </a:r>
            <a:r>
              <a:rPr sz="1400" dirty="0" err="1">
                <a:latin typeface="Courier"/>
              </a:rPr>
              <a:t>sal</a:t>
            </a:r>
            <a:r>
              <a:rPr sz="1400" dirty="0">
                <a:latin typeface="Courier"/>
              </a:rPr>
              <a:t> </a:t>
            </a:r>
            <a:r>
              <a:rPr sz="1400" b="1" dirty="0">
                <a:solidFill>
                  <a:srgbClr val="204A87"/>
                </a:solidFill>
                <a:latin typeface="Courier"/>
              </a:rPr>
              <a:t>DESC</a:t>
            </a:r>
            <a:r>
              <a:rPr sz="1400" dirty="0">
                <a:latin typeface="Courier"/>
              </a:rPr>
              <a:t>) </a:t>
            </a:r>
            <a:r>
              <a:rPr sz="1400" b="1" dirty="0">
                <a:solidFill>
                  <a:srgbClr val="204A87"/>
                </a:solidFill>
                <a:latin typeface="Courier"/>
              </a:rPr>
              <a:t>AS</a:t>
            </a:r>
            <a:r>
              <a:rPr sz="1400" dirty="0">
                <a:latin typeface="Courier"/>
              </a:rPr>
              <a:t> </a:t>
            </a:r>
            <a:r>
              <a:rPr sz="1400" b="1" dirty="0" err="1">
                <a:solidFill>
                  <a:srgbClr val="204A87"/>
                </a:solidFill>
                <a:latin typeface="Courier"/>
              </a:rPr>
              <a:t>dense_rank</a:t>
            </a:r>
            <a:r>
              <a:rPr sz="1400" dirty="0">
                <a:latin typeface="Courier"/>
              </a:rPr>
              <a:t>,</a:t>
            </a:r>
            <a:br>
              <a:rPr sz="1400" dirty="0"/>
            </a:br>
            <a:r>
              <a:rPr sz="1400" dirty="0">
                <a:latin typeface="Courier"/>
              </a:rPr>
              <a:t>        </a:t>
            </a:r>
            <a:r>
              <a:rPr sz="1400" b="1" dirty="0">
                <a:solidFill>
                  <a:srgbClr val="204A87"/>
                </a:solidFill>
                <a:latin typeface="Courier"/>
              </a:rPr>
              <a:t>ROW_NUMBER</a:t>
            </a:r>
            <a:r>
              <a:rPr sz="1400" dirty="0">
                <a:latin typeface="Courier"/>
              </a:rPr>
              <a:t>() </a:t>
            </a:r>
            <a:r>
              <a:rPr sz="1400" b="1" dirty="0">
                <a:solidFill>
                  <a:srgbClr val="204A87"/>
                </a:solidFill>
                <a:latin typeface="Courier"/>
              </a:rPr>
              <a:t>OVER</a:t>
            </a:r>
            <a:r>
              <a:rPr sz="1400" dirty="0">
                <a:latin typeface="Courier"/>
              </a:rPr>
              <a:t> (</a:t>
            </a:r>
            <a:r>
              <a:rPr sz="1400" b="1" dirty="0">
                <a:solidFill>
                  <a:srgbClr val="204A87"/>
                </a:solidFill>
                <a:latin typeface="Courier"/>
              </a:rPr>
              <a:t>ORDER</a:t>
            </a:r>
            <a:r>
              <a:rPr sz="1400" dirty="0">
                <a:latin typeface="Courier"/>
              </a:rPr>
              <a:t> </a:t>
            </a:r>
            <a:r>
              <a:rPr sz="1400" b="1" dirty="0">
                <a:solidFill>
                  <a:srgbClr val="204A87"/>
                </a:solidFill>
                <a:latin typeface="Courier"/>
              </a:rPr>
              <a:t>BY</a:t>
            </a:r>
            <a:r>
              <a:rPr sz="1400" dirty="0">
                <a:latin typeface="Courier"/>
              </a:rPr>
              <a:t> </a:t>
            </a:r>
            <a:r>
              <a:rPr sz="1400" dirty="0" err="1">
                <a:latin typeface="Courier"/>
              </a:rPr>
              <a:t>sal</a:t>
            </a:r>
            <a:r>
              <a:rPr sz="1400" dirty="0">
                <a:latin typeface="Courier"/>
              </a:rPr>
              <a:t> </a:t>
            </a:r>
            <a:r>
              <a:rPr sz="1400" b="1" dirty="0">
                <a:solidFill>
                  <a:srgbClr val="204A87"/>
                </a:solidFill>
                <a:latin typeface="Courier"/>
              </a:rPr>
              <a:t>DESC</a:t>
            </a:r>
            <a:r>
              <a:rPr sz="1400" dirty="0">
                <a:latin typeface="Courier"/>
              </a:rPr>
              <a:t>) </a:t>
            </a:r>
            <a:r>
              <a:rPr sz="1400" b="1" dirty="0">
                <a:solidFill>
                  <a:srgbClr val="204A87"/>
                </a:solidFill>
                <a:latin typeface="Courier"/>
              </a:rPr>
              <a:t>AS</a:t>
            </a:r>
            <a:r>
              <a:rPr sz="1400" dirty="0">
                <a:latin typeface="Courier"/>
              </a:rPr>
              <a:t> </a:t>
            </a:r>
            <a:r>
              <a:rPr sz="1400" dirty="0" err="1">
                <a:latin typeface="Courier"/>
              </a:rPr>
              <a:t>rn</a:t>
            </a:r>
            <a:br>
              <a:rPr sz="1400" dirty="0"/>
            </a:br>
            <a:r>
              <a:rPr sz="1400" b="1" dirty="0">
                <a:solidFill>
                  <a:srgbClr val="204A87"/>
                </a:solidFill>
                <a:latin typeface="Courier"/>
              </a:rPr>
              <a:t>FROM</a:t>
            </a:r>
            <a:r>
              <a:rPr sz="1400" dirty="0">
                <a:latin typeface="Courier"/>
              </a:rPr>
              <a:t>    </a:t>
            </a:r>
            <a:r>
              <a:rPr sz="1400" dirty="0" err="1">
                <a:latin typeface="Courier"/>
              </a:rPr>
              <a:t>employees.emp</a:t>
            </a:r>
            <a:r>
              <a:rPr sz="1400" dirty="0">
                <a:latin typeface="Courier"/>
              </a:rPr>
              <a:t> e;</a:t>
            </a:r>
            <a:br>
              <a:rPr sz="1400" dirty="0"/>
            </a:br>
            <a:br>
              <a:rPr sz="1400" dirty="0"/>
            </a:br>
            <a:r>
              <a:rPr sz="1400" i="1" dirty="0">
                <a:solidFill>
                  <a:srgbClr val="8F5902"/>
                </a:solidFill>
                <a:latin typeface="Courier"/>
              </a:rPr>
              <a:t>-- Multi-functions with Multi-Partitions example</a:t>
            </a:r>
            <a:br>
              <a:rPr sz="1400" dirty="0"/>
            </a:br>
            <a:r>
              <a:rPr sz="1400" b="1" dirty="0">
                <a:solidFill>
                  <a:srgbClr val="204A87"/>
                </a:solidFill>
                <a:latin typeface="Courier"/>
              </a:rPr>
              <a:t>SELECT</a:t>
            </a:r>
            <a:r>
              <a:rPr sz="1400" dirty="0">
                <a:latin typeface="Courier"/>
              </a:rPr>
              <a:t>  e.</a:t>
            </a:r>
            <a:r>
              <a:rPr sz="1400" b="1" dirty="0">
                <a:solidFill>
                  <a:srgbClr val="CE5C00"/>
                </a:solidFill>
                <a:latin typeface="Courier"/>
              </a:rPr>
              <a:t>*</a:t>
            </a:r>
            <a:r>
              <a:rPr sz="1400" dirty="0">
                <a:latin typeface="Courier"/>
              </a:rPr>
              <a:t>,</a:t>
            </a:r>
            <a:br>
              <a:rPr sz="1400" dirty="0"/>
            </a:br>
            <a:r>
              <a:rPr sz="1400" dirty="0">
                <a:latin typeface="Courier"/>
              </a:rPr>
              <a:t>        </a:t>
            </a:r>
            <a:r>
              <a:rPr sz="1400" b="1" dirty="0">
                <a:solidFill>
                  <a:srgbClr val="204A87"/>
                </a:solidFill>
                <a:latin typeface="Courier"/>
              </a:rPr>
              <a:t>RANK</a:t>
            </a:r>
            <a:r>
              <a:rPr sz="1400" dirty="0">
                <a:latin typeface="Courier"/>
              </a:rPr>
              <a:t>()       </a:t>
            </a:r>
            <a:r>
              <a:rPr sz="1400" b="1" dirty="0">
                <a:solidFill>
                  <a:srgbClr val="204A87"/>
                </a:solidFill>
                <a:latin typeface="Courier"/>
              </a:rPr>
              <a:t>OVER</a:t>
            </a:r>
            <a:r>
              <a:rPr sz="1400" dirty="0">
                <a:latin typeface="Courier"/>
              </a:rPr>
              <a:t> (</a:t>
            </a:r>
            <a:r>
              <a:rPr sz="1400" b="1" dirty="0">
                <a:solidFill>
                  <a:srgbClr val="204A87"/>
                </a:solidFill>
                <a:latin typeface="Courier"/>
              </a:rPr>
              <a:t>PARTITION</a:t>
            </a:r>
            <a:r>
              <a:rPr sz="1400" dirty="0">
                <a:latin typeface="Courier"/>
              </a:rPr>
              <a:t> </a:t>
            </a:r>
            <a:r>
              <a:rPr sz="1400" b="1" dirty="0">
                <a:solidFill>
                  <a:srgbClr val="204A87"/>
                </a:solidFill>
                <a:latin typeface="Courier"/>
              </a:rPr>
              <a:t>BY</a:t>
            </a:r>
            <a:r>
              <a:rPr sz="1400" dirty="0">
                <a:latin typeface="Courier"/>
              </a:rPr>
              <a:t> </a:t>
            </a:r>
            <a:r>
              <a:rPr sz="1400" dirty="0" err="1">
                <a:latin typeface="Courier"/>
              </a:rPr>
              <a:t>deptno</a:t>
            </a:r>
            <a:r>
              <a:rPr sz="1400" dirty="0">
                <a:latin typeface="Courier"/>
              </a:rPr>
              <a:t> </a:t>
            </a:r>
            <a:r>
              <a:rPr sz="1400" b="1" dirty="0">
                <a:solidFill>
                  <a:srgbClr val="204A87"/>
                </a:solidFill>
                <a:latin typeface="Courier"/>
              </a:rPr>
              <a:t>ORDER</a:t>
            </a:r>
            <a:r>
              <a:rPr sz="1400" dirty="0">
                <a:latin typeface="Courier"/>
              </a:rPr>
              <a:t> </a:t>
            </a:r>
            <a:r>
              <a:rPr sz="1400" b="1" dirty="0">
                <a:solidFill>
                  <a:srgbClr val="204A87"/>
                </a:solidFill>
                <a:latin typeface="Courier"/>
              </a:rPr>
              <a:t>BY</a:t>
            </a:r>
            <a:r>
              <a:rPr sz="1400" dirty="0">
                <a:latin typeface="Courier"/>
              </a:rPr>
              <a:t> </a:t>
            </a:r>
            <a:r>
              <a:rPr sz="1400" dirty="0" err="1">
                <a:latin typeface="Courier"/>
              </a:rPr>
              <a:t>sal</a:t>
            </a:r>
            <a:r>
              <a:rPr sz="1400" dirty="0">
                <a:latin typeface="Courier"/>
              </a:rPr>
              <a:t> </a:t>
            </a:r>
            <a:r>
              <a:rPr sz="1400" b="1" dirty="0">
                <a:solidFill>
                  <a:srgbClr val="204A87"/>
                </a:solidFill>
                <a:latin typeface="Courier"/>
              </a:rPr>
              <a:t>DESC</a:t>
            </a:r>
            <a:r>
              <a:rPr sz="1400" dirty="0">
                <a:latin typeface="Courier"/>
              </a:rPr>
              <a:t>)       </a:t>
            </a:r>
            <a:r>
              <a:rPr sz="1400" b="1" dirty="0">
                <a:solidFill>
                  <a:srgbClr val="204A87"/>
                </a:solidFill>
                <a:latin typeface="Courier"/>
              </a:rPr>
              <a:t>AS</a:t>
            </a:r>
            <a:r>
              <a:rPr sz="1400" dirty="0">
                <a:latin typeface="Courier"/>
              </a:rPr>
              <a:t> </a:t>
            </a:r>
            <a:r>
              <a:rPr sz="1400" b="1" dirty="0">
                <a:solidFill>
                  <a:srgbClr val="204A87"/>
                </a:solidFill>
                <a:latin typeface="Courier"/>
              </a:rPr>
              <a:t>rank</a:t>
            </a:r>
            <a:r>
              <a:rPr sz="1400" dirty="0">
                <a:latin typeface="Courier"/>
              </a:rPr>
              <a:t>,</a:t>
            </a:r>
            <a:br>
              <a:rPr sz="1400" dirty="0"/>
            </a:br>
            <a:r>
              <a:rPr sz="1400" dirty="0">
                <a:latin typeface="Courier"/>
              </a:rPr>
              <a:t>        </a:t>
            </a:r>
            <a:r>
              <a:rPr sz="1400" b="1" dirty="0">
                <a:solidFill>
                  <a:srgbClr val="204A87"/>
                </a:solidFill>
                <a:latin typeface="Courier"/>
              </a:rPr>
              <a:t>DENSE_RANK</a:t>
            </a:r>
            <a:r>
              <a:rPr sz="1400" dirty="0">
                <a:latin typeface="Courier"/>
              </a:rPr>
              <a:t>() </a:t>
            </a:r>
            <a:r>
              <a:rPr sz="1400" b="1" dirty="0">
                <a:solidFill>
                  <a:srgbClr val="204A87"/>
                </a:solidFill>
                <a:latin typeface="Courier"/>
              </a:rPr>
              <a:t>OVER</a:t>
            </a:r>
            <a:r>
              <a:rPr sz="1400" dirty="0">
                <a:latin typeface="Courier"/>
              </a:rPr>
              <a:t> (</a:t>
            </a:r>
            <a:r>
              <a:rPr sz="1400" b="1" dirty="0">
                <a:solidFill>
                  <a:srgbClr val="204A87"/>
                </a:solidFill>
                <a:latin typeface="Courier"/>
              </a:rPr>
              <a:t>PARTITION</a:t>
            </a:r>
            <a:r>
              <a:rPr sz="1400" dirty="0">
                <a:latin typeface="Courier"/>
              </a:rPr>
              <a:t> </a:t>
            </a:r>
            <a:r>
              <a:rPr sz="1400" b="1" dirty="0">
                <a:solidFill>
                  <a:srgbClr val="204A87"/>
                </a:solidFill>
                <a:latin typeface="Courier"/>
              </a:rPr>
              <a:t>BY</a:t>
            </a:r>
            <a:r>
              <a:rPr sz="1400" dirty="0">
                <a:latin typeface="Courier"/>
              </a:rPr>
              <a:t> </a:t>
            </a:r>
            <a:r>
              <a:rPr sz="1400" dirty="0" err="1">
                <a:latin typeface="Courier"/>
              </a:rPr>
              <a:t>deptno</a:t>
            </a:r>
            <a:r>
              <a:rPr sz="1400" dirty="0">
                <a:latin typeface="Courier"/>
              </a:rPr>
              <a:t> </a:t>
            </a:r>
            <a:r>
              <a:rPr sz="1400" b="1" dirty="0">
                <a:solidFill>
                  <a:srgbClr val="204A87"/>
                </a:solidFill>
                <a:latin typeface="Courier"/>
              </a:rPr>
              <a:t>ORDER</a:t>
            </a:r>
            <a:r>
              <a:rPr sz="1400" dirty="0">
                <a:latin typeface="Courier"/>
              </a:rPr>
              <a:t> </a:t>
            </a:r>
            <a:r>
              <a:rPr sz="1400" b="1" dirty="0">
                <a:solidFill>
                  <a:srgbClr val="204A87"/>
                </a:solidFill>
                <a:latin typeface="Courier"/>
              </a:rPr>
              <a:t>BY</a:t>
            </a:r>
            <a:r>
              <a:rPr sz="1400" dirty="0">
                <a:latin typeface="Courier"/>
              </a:rPr>
              <a:t> </a:t>
            </a:r>
            <a:r>
              <a:rPr sz="1400" dirty="0" err="1">
                <a:latin typeface="Courier"/>
              </a:rPr>
              <a:t>sal</a:t>
            </a:r>
            <a:r>
              <a:rPr sz="1400" dirty="0">
                <a:latin typeface="Courier"/>
              </a:rPr>
              <a:t> </a:t>
            </a:r>
            <a:r>
              <a:rPr sz="1400" b="1" dirty="0">
                <a:solidFill>
                  <a:srgbClr val="204A87"/>
                </a:solidFill>
                <a:latin typeface="Courier"/>
              </a:rPr>
              <a:t>DESC</a:t>
            </a:r>
            <a:r>
              <a:rPr sz="1400" dirty="0">
                <a:latin typeface="Courier"/>
              </a:rPr>
              <a:t>) </a:t>
            </a:r>
            <a:r>
              <a:rPr sz="1400" b="1" dirty="0">
                <a:solidFill>
                  <a:srgbClr val="204A87"/>
                </a:solidFill>
                <a:latin typeface="Courier"/>
              </a:rPr>
              <a:t>AS</a:t>
            </a:r>
            <a:r>
              <a:rPr sz="1400" dirty="0">
                <a:latin typeface="Courier"/>
              </a:rPr>
              <a:t> </a:t>
            </a:r>
            <a:r>
              <a:rPr sz="1400" b="1" dirty="0" err="1">
                <a:solidFill>
                  <a:srgbClr val="204A87"/>
                </a:solidFill>
                <a:latin typeface="Courier"/>
              </a:rPr>
              <a:t>dense_rank</a:t>
            </a:r>
            <a:r>
              <a:rPr sz="1400" dirty="0">
                <a:latin typeface="Courier"/>
              </a:rPr>
              <a:t>,</a:t>
            </a:r>
            <a:br>
              <a:rPr sz="1400" dirty="0"/>
            </a:br>
            <a:r>
              <a:rPr sz="1400" dirty="0">
                <a:latin typeface="Courier"/>
              </a:rPr>
              <a:t>        </a:t>
            </a:r>
            <a:r>
              <a:rPr sz="1400" b="1" dirty="0">
                <a:solidFill>
                  <a:srgbClr val="204A87"/>
                </a:solidFill>
                <a:latin typeface="Courier"/>
              </a:rPr>
              <a:t>ROW_NUMBER</a:t>
            </a:r>
            <a:r>
              <a:rPr sz="1400" dirty="0">
                <a:latin typeface="Courier"/>
              </a:rPr>
              <a:t>() </a:t>
            </a:r>
            <a:r>
              <a:rPr sz="1400" b="1" dirty="0">
                <a:solidFill>
                  <a:srgbClr val="204A87"/>
                </a:solidFill>
                <a:latin typeface="Courier"/>
              </a:rPr>
              <a:t>OVER</a:t>
            </a:r>
            <a:r>
              <a:rPr sz="1400" dirty="0">
                <a:latin typeface="Courier"/>
              </a:rPr>
              <a:t> (</a:t>
            </a:r>
            <a:r>
              <a:rPr sz="1400" b="1" dirty="0">
                <a:solidFill>
                  <a:srgbClr val="204A87"/>
                </a:solidFill>
                <a:latin typeface="Courier"/>
              </a:rPr>
              <a:t>PARTITION</a:t>
            </a:r>
            <a:r>
              <a:rPr sz="1400" dirty="0">
                <a:latin typeface="Courier"/>
              </a:rPr>
              <a:t> </a:t>
            </a:r>
            <a:r>
              <a:rPr sz="1400" b="1" dirty="0">
                <a:solidFill>
                  <a:srgbClr val="204A87"/>
                </a:solidFill>
                <a:latin typeface="Courier"/>
              </a:rPr>
              <a:t>BY</a:t>
            </a:r>
            <a:r>
              <a:rPr sz="1400" dirty="0">
                <a:latin typeface="Courier"/>
              </a:rPr>
              <a:t> </a:t>
            </a:r>
            <a:r>
              <a:rPr sz="1400" dirty="0" err="1">
                <a:latin typeface="Courier"/>
              </a:rPr>
              <a:t>deptno</a:t>
            </a:r>
            <a:r>
              <a:rPr sz="1400" dirty="0">
                <a:latin typeface="Courier"/>
              </a:rPr>
              <a:t> </a:t>
            </a:r>
            <a:r>
              <a:rPr sz="1400" b="1" dirty="0">
                <a:solidFill>
                  <a:srgbClr val="204A87"/>
                </a:solidFill>
                <a:latin typeface="Courier"/>
              </a:rPr>
              <a:t>ORDER</a:t>
            </a:r>
            <a:r>
              <a:rPr sz="1400" dirty="0">
                <a:latin typeface="Courier"/>
              </a:rPr>
              <a:t> </a:t>
            </a:r>
            <a:r>
              <a:rPr sz="1400" b="1" dirty="0">
                <a:solidFill>
                  <a:srgbClr val="204A87"/>
                </a:solidFill>
                <a:latin typeface="Courier"/>
              </a:rPr>
              <a:t>BY</a:t>
            </a:r>
            <a:r>
              <a:rPr sz="1400" dirty="0">
                <a:latin typeface="Courier"/>
              </a:rPr>
              <a:t> </a:t>
            </a:r>
            <a:r>
              <a:rPr sz="1400" dirty="0" err="1">
                <a:latin typeface="Courier"/>
              </a:rPr>
              <a:t>sal</a:t>
            </a:r>
            <a:r>
              <a:rPr sz="1400" dirty="0">
                <a:latin typeface="Courier"/>
              </a:rPr>
              <a:t> </a:t>
            </a:r>
            <a:r>
              <a:rPr sz="1400" b="1" dirty="0">
                <a:solidFill>
                  <a:srgbClr val="204A87"/>
                </a:solidFill>
                <a:latin typeface="Courier"/>
              </a:rPr>
              <a:t>DESC</a:t>
            </a:r>
            <a:r>
              <a:rPr sz="1400" dirty="0">
                <a:latin typeface="Courier"/>
              </a:rPr>
              <a:t>) </a:t>
            </a:r>
            <a:r>
              <a:rPr sz="1400" b="1" dirty="0">
                <a:solidFill>
                  <a:srgbClr val="204A87"/>
                </a:solidFill>
                <a:latin typeface="Courier"/>
              </a:rPr>
              <a:t>AS</a:t>
            </a:r>
            <a:r>
              <a:rPr sz="1400" dirty="0">
                <a:latin typeface="Courier"/>
              </a:rPr>
              <a:t> </a:t>
            </a:r>
            <a:r>
              <a:rPr sz="1400" dirty="0" err="1">
                <a:latin typeface="Courier"/>
              </a:rPr>
              <a:t>rn</a:t>
            </a:r>
            <a:br>
              <a:rPr sz="1400" dirty="0"/>
            </a:br>
            <a:r>
              <a:rPr sz="1400" b="1" dirty="0">
                <a:solidFill>
                  <a:srgbClr val="204A87"/>
                </a:solidFill>
                <a:latin typeface="Courier"/>
              </a:rPr>
              <a:t>FROM</a:t>
            </a:r>
            <a:r>
              <a:rPr sz="1400" dirty="0">
                <a:latin typeface="Courier"/>
              </a:rPr>
              <a:t>    </a:t>
            </a:r>
            <a:r>
              <a:rPr sz="1400" dirty="0" err="1">
                <a:latin typeface="Courier"/>
              </a:rPr>
              <a:t>employees.emp</a:t>
            </a:r>
            <a:r>
              <a:rPr sz="1400" dirty="0">
                <a:latin typeface="Courier"/>
              </a:rPr>
              <a:t> e;</a:t>
            </a:r>
          </a:p>
        </p:txBody>
      </p:sp>
      <p:sp>
        <p:nvSpPr>
          <p:cNvPr id="4" name="Title 1">
            <a:extLst>
              <a:ext uri="{FF2B5EF4-FFF2-40B4-BE49-F238E27FC236}">
                <a16:creationId xmlns:a16="http://schemas.microsoft.com/office/drawing/2014/main" id="{C3EED8AB-BEE4-7B36-121F-DA977F0273A4}"/>
              </a:ext>
            </a:extLst>
          </p:cNvPr>
          <p:cNvSpPr txBox="1">
            <a:spLocks/>
          </p:cNvSpPr>
          <p:nvPr/>
        </p:nvSpPr>
        <p:spPr>
          <a:xfrm>
            <a:off x="0" y="1"/>
            <a:ext cx="9144000" cy="548876"/>
          </a:xfrm>
          <a:prstGeom prst="rect">
            <a:avLst/>
          </a:prstGeom>
          <a:solidFill>
            <a:schemeClr val="tx1"/>
          </a:solidFill>
        </p:spPr>
        <p:txBody>
          <a:bodyPr vert="horz" lIns="91440" tIns="45720" rIns="91440" bIns="45720" rtlCol="0" anchor="ctr">
            <a:normAutofit/>
          </a:bodyPr>
          <a:lstStyle>
            <a:lvl1pPr algn="ctr" defTabSz="342900" rtl="0" eaLnBrk="1" latinLnBrk="0" hangingPunct="1">
              <a:spcBef>
                <a:spcPct val="0"/>
              </a:spcBef>
              <a:buNone/>
              <a:defRPr sz="3300" kern="1200">
                <a:solidFill>
                  <a:schemeClr val="tx1"/>
                </a:solidFill>
                <a:latin typeface="+mj-lt"/>
                <a:ea typeface="+mj-ea"/>
                <a:cs typeface="+mj-cs"/>
              </a:defRPr>
            </a:lvl1pPr>
          </a:lstStyle>
          <a:p>
            <a:pPr algn="l"/>
            <a:r>
              <a:rPr lang="en-IN" sz="2800" dirty="0">
                <a:solidFill>
                  <a:schemeClr val="bg1"/>
                </a:solidFill>
              </a:rPr>
              <a:t>DENSE_RANK():</a:t>
            </a:r>
          </a:p>
        </p:txBody>
      </p:sp>
      <p:pic>
        <p:nvPicPr>
          <p:cNvPr id="5" name="Picture 4">
            <a:extLst>
              <a:ext uri="{FF2B5EF4-FFF2-40B4-BE49-F238E27FC236}">
                <a16:creationId xmlns:a16="http://schemas.microsoft.com/office/drawing/2014/main" id="{E585E3C5-FE2A-3CC7-D2D3-F9DF0D990B50}"/>
              </a:ext>
            </a:extLst>
          </p:cNvPr>
          <p:cNvPicPr>
            <a:picLocks noChangeAspect="1"/>
          </p:cNvPicPr>
          <p:nvPr/>
        </p:nvPicPr>
        <p:blipFill>
          <a:blip r:embed="rId2"/>
          <a:stretch>
            <a:fillRect/>
          </a:stretch>
        </p:blipFill>
        <p:spPr>
          <a:xfrm>
            <a:off x="5763675" y="51792"/>
            <a:ext cx="3380325" cy="445294"/>
          </a:xfrm>
          <a:prstGeom prst="rect">
            <a:avLst/>
          </a:prstGeom>
        </p:spPr>
      </p:pic>
      <p:sp>
        <p:nvSpPr>
          <p:cNvPr id="6" name="Title 1">
            <a:extLst>
              <a:ext uri="{FF2B5EF4-FFF2-40B4-BE49-F238E27FC236}">
                <a16:creationId xmlns:a16="http://schemas.microsoft.com/office/drawing/2014/main" id="{09D5BA19-0BAA-6481-F8C8-F6FEBB3611E0}"/>
              </a:ext>
            </a:extLst>
          </p:cNvPr>
          <p:cNvSpPr txBox="1">
            <a:spLocks/>
          </p:cNvSpPr>
          <p:nvPr/>
        </p:nvSpPr>
        <p:spPr>
          <a:xfrm>
            <a:off x="0" y="4858718"/>
            <a:ext cx="9144000" cy="284781"/>
          </a:xfrm>
          <a:prstGeom prst="rect">
            <a:avLst/>
          </a:prstGeom>
          <a:solidFill>
            <a:schemeClr val="tx1"/>
          </a:solidFill>
        </p:spPr>
        <p:txBody>
          <a:bodyPr vert="horz" lIns="91440" tIns="45720" rIns="91440" bIns="45720" rtlCol="0" anchor="ctr">
            <a:normAutofit/>
          </a:bodyPr>
          <a:lstStyle>
            <a:lvl1pPr algn="ctr" defTabSz="342900" rtl="0" eaLnBrk="1" latinLnBrk="0" hangingPunct="1">
              <a:spcBef>
                <a:spcPct val="0"/>
              </a:spcBef>
              <a:buNone/>
              <a:defRPr sz="3300" kern="1200">
                <a:solidFill>
                  <a:schemeClr val="tx1"/>
                </a:solidFill>
                <a:latin typeface="+mj-lt"/>
                <a:ea typeface="+mj-ea"/>
                <a:cs typeface="+mj-cs"/>
              </a:defRPr>
            </a:lvl1pPr>
          </a:lstStyle>
          <a:p>
            <a:r>
              <a:rPr lang="en-IN" sz="1200" dirty="0">
                <a:solidFill>
                  <a:schemeClr val="bg1"/>
                </a:solidFill>
              </a:rPr>
              <a:t>© TINITIATE.COM</a:t>
            </a:r>
            <a:endParaRPr lang="en-IN" sz="1000" dirty="0">
              <a:solidFill>
                <a:schemeClr val="bg1"/>
              </a:solidFill>
            </a:endParaRPr>
          </a:p>
        </p:txBody>
      </p:sp>
    </p:spTree>
    <p:extLst>
      <p:ext uri="{BB962C8B-B14F-4D97-AF65-F5344CB8AC3E}">
        <p14:creationId xmlns:p14="http://schemas.microsoft.com/office/powerpoint/2010/main" val="24126276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74514"/>
            <a:ext cx="8229600" cy="3394472"/>
          </a:xfrm>
        </p:spPr>
        <p:txBody>
          <a:bodyPr>
            <a:noAutofit/>
          </a:bodyPr>
          <a:lstStyle/>
          <a:p>
            <a:pPr lvl="0"/>
            <a:r>
              <a:rPr sz="1800" dirty="0"/>
              <a:t>Divides the result set into ‘n’ groups, assigning a group number to each row.</a:t>
            </a:r>
          </a:p>
          <a:p>
            <a:pPr lvl="0" indent="0">
              <a:buNone/>
            </a:pPr>
            <a:r>
              <a:rPr sz="1400" i="1" dirty="0">
                <a:solidFill>
                  <a:srgbClr val="8F5902"/>
                </a:solidFill>
                <a:latin typeface="Courier"/>
              </a:rPr>
              <a:t>-- Divides the result set into a specified number of roughly equal</a:t>
            </a:r>
            <a:br>
              <a:rPr sz="1400" dirty="0"/>
            </a:br>
            <a:r>
              <a:rPr sz="1400" i="1" dirty="0">
                <a:solidFill>
                  <a:srgbClr val="8F5902"/>
                </a:solidFill>
                <a:latin typeface="Courier"/>
              </a:rPr>
              <a:t>-- groups or "tiles".</a:t>
            </a:r>
            <a:br>
              <a:rPr sz="1400" dirty="0"/>
            </a:br>
            <a:r>
              <a:rPr sz="1400" b="1" dirty="0">
                <a:solidFill>
                  <a:srgbClr val="204A87"/>
                </a:solidFill>
                <a:latin typeface="Courier"/>
              </a:rPr>
              <a:t>SELECT</a:t>
            </a:r>
            <a:r>
              <a:rPr sz="1400" dirty="0">
                <a:latin typeface="Courier"/>
              </a:rPr>
              <a:t> </a:t>
            </a:r>
            <a:r>
              <a:rPr sz="1400" dirty="0" err="1">
                <a:latin typeface="Courier"/>
              </a:rPr>
              <a:t>ename</a:t>
            </a:r>
            <a:r>
              <a:rPr sz="1400" dirty="0">
                <a:latin typeface="Courier"/>
              </a:rPr>
              <a:t>, </a:t>
            </a:r>
            <a:r>
              <a:rPr sz="1400" dirty="0" err="1">
                <a:latin typeface="Courier"/>
              </a:rPr>
              <a:t>sal</a:t>
            </a:r>
            <a:r>
              <a:rPr sz="1400" dirty="0">
                <a:latin typeface="Courier"/>
              </a:rPr>
              <a:t>, </a:t>
            </a:r>
            <a:r>
              <a:rPr sz="1400" b="1" dirty="0">
                <a:solidFill>
                  <a:srgbClr val="204A87"/>
                </a:solidFill>
                <a:latin typeface="Courier"/>
              </a:rPr>
              <a:t>NTILE</a:t>
            </a:r>
            <a:r>
              <a:rPr sz="1400" dirty="0">
                <a:latin typeface="Courier"/>
              </a:rPr>
              <a:t>(</a:t>
            </a:r>
            <a:r>
              <a:rPr sz="1400" dirty="0">
                <a:solidFill>
                  <a:srgbClr val="0000CF"/>
                </a:solidFill>
                <a:latin typeface="Courier"/>
              </a:rPr>
              <a:t>4</a:t>
            </a:r>
            <a:r>
              <a:rPr sz="1400" dirty="0">
                <a:latin typeface="Courier"/>
              </a:rPr>
              <a:t>) </a:t>
            </a:r>
            <a:r>
              <a:rPr sz="1400" b="1" dirty="0">
                <a:solidFill>
                  <a:srgbClr val="204A87"/>
                </a:solidFill>
                <a:latin typeface="Courier"/>
              </a:rPr>
              <a:t>OVER</a:t>
            </a:r>
            <a:r>
              <a:rPr sz="1400" dirty="0">
                <a:latin typeface="Courier"/>
              </a:rPr>
              <a:t> (</a:t>
            </a:r>
            <a:r>
              <a:rPr sz="1400" b="1" dirty="0">
                <a:solidFill>
                  <a:srgbClr val="204A87"/>
                </a:solidFill>
                <a:latin typeface="Courier"/>
              </a:rPr>
              <a:t>ORDER</a:t>
            </a:r>
            <a:r>
              <a:rPr sz="1400" dirty="0">
                <a:latin typeface="Courier"/>
              </a:rPr>
              <a:t> </a:t>
            </a:r>
            <a:r>
              <a:rPr sz="1400" b="1" dirty="0">
                <a:solidFill>
                  <a:srgbClr val="204A87"/>
                </a:solidFill>
                <a:latin typeface="Courier"/>
              </a:rPr>
              <a:t>BY</a:t>
            </a:r>
            <a:r>
              <a:rPr sz="1400" dirty="0">
                <a:latin typeface="Courier"/>
              </a:rPr>
              <a:t> </a:t>
            </a:r>
            <a:r>
              <a:rPr sz="1400" dirty="0" err="1">
                <a:latin typeface="Courier"/>
              </a:rPr>
              <a:t>sal</a:t>
            </a:r>
            <a:r>
              <a:rPr sz="1400" dirty="0">
                <a:latin typeface="Courier"/>
              </a:rPr>
              <a:t> </a:t>
            </a:r>
            <a:r>
              <a:rPr sz="1400" b="1" dirty="0">
                <a:solidFill>
                  <a:srgbClr val="204A87"/>
                </a:solidFill>
                <a:latin typeface="Courier"/>
              </a:rPr>
              <a:t>DESC</a:t>
            </a:r>
            <a:r>
              <a:rPr sz="1400" dirty="0">
                <a:latin typeface="Courier"/>
              </a:rPr>
              <a:t>) </a:t>
            </a:r>
            <a:r>
              <a:rPr sz="1400" b="1" dirty="0">
                <a:solidFill>
                  <a:srgbClr val="204A87"/>
                </a:solidFill>
                <a:latin typeface="Courier"/>
              </a:rPr>
              <a:t>AS</a:t>
            </a:r>
            <a:r>
              <a:rPr sz="1400" dirty="0">
                <a:latin typeface="Courier"/>
              </a:rPr>
              <a:t> quartile</a:t>
            </a:r>
            <a:br>
              <a:rPr sz="1400" dirty="0"/>
            </a:br>
            <a:r>
              <a:rPr sz="1400" b="1" dirty="0">
                <a:solidFill>
                  <a:srgbClr val="204A87"/>
                </a:solidFill>
                <a:latin typeface="Courier"/>
              </a:rPr>
              <a:t>FROM</a:t>
            </a:r>
            <a:r>
              <a:rPr sz="1400" dirty="0">
                <a:latin typeface="Courier"/>
              </a:rPr>
              <a:t> </a:t>
            </a:r>
            <a:r>
              <a:rPr sz="1400" dirty="0" err="1">
                <a:latin typeface="Courier"/>
              </a:rPr>
              <a:t>employees.emp</a:t>
            </a:r>
            <a:r>
              <a:rPr sz="1400" dirty="0">
                <a:latin typeface="Courier"/>
              </a:rPr>
              <a:t>;</a:t>
            </a:r>
            <a:br>
              <a:rPr sz="1400" dirty="0"/>
            </a:br>
            <a:br>
              <a:rPr sz="1400" dirty="0"/>
            </a:br>
            <a:r>
              <a:rPr sz="1400" i="1" dirty="0">
                <a:solidFill>
                  <a:srgbClr val="8F5902"/>
                </a:solidFill>
                <a:latin typeface="Courier"/>
              </a:rPr>
              <a:t>-- Divides employees into quartiles based on their salary within each department</a:t>
            </a:r>
            <a:br>
              <a:rPr sz="1400" dirty="0"/>
            </a:br>
            <a:r>
              <a:rPr sz="1400" b="1" dirty="0">
                <a:solidFill>
                  <a:srgbClr val="204A87"/>
                </a:solidFill>
                <a:latin typeface="Courier"/>
              </a:rPr>
              <a:t>SELECT</a:t>
            </a:r>
            <a:r>
              <a:rPr sz="1400" dirty="0">
                <a:latin typeface="Courier"/>
              </a:rPr>
              <a:t> </a:t>
            </a:r>
            <a:r>
              <a:rPr sz="1400" dirty="0" err="1">
                <a:latin typeface="Courier"/>
              </a:rPr>
              <a:t>deptno</a:t>
            </a:r>
            <a:r>
              <a:rPr sz="1400" dirty="0">
                <a:latin typeface="Courier"/>
              </a:rPr>
              <a:t>, </a:t>
            </a:r>
            <a:r>
              <a:rPr sz="1400" dirty="0" err="1">
                <a:latin typeface="Courier"/>
              </a:rPr>
              <a:t>ename</a:t>
            </a:r>
            <a:r>
              <a:rPr sz="1400" dirty="0">
                <a:latin typeface="Courier"/>
              </a:rPr>
              <a:t>, </a:t>
            </a:r>
            <a:r>
              <a:rPr sz="1400" dirty="0" err="1">
                <a:latin typeface="Courier"/>
              </a:rPr>
              <a:t>sal</a:t>
            </a:r>
            <a:r>
              <a:rPr sz="1400" dirty="0">
                <a:latin typeface="Courier"/>
              </a:rPr>
              <a:t>,</a:t>
            </a:r>
            <a:br>
              <a:rPr sz="1400" dirty="0"/>
            </a:br>
            <a:r>
              <a:rPr sz="1400" dirty="0">
                <a:latin typeface="Courier"/>
              </a:rPr>
              <a:t>       </a:t>
            </a:r>
            <a:r>
              <a:rPr sz="1400" b="1" dirty="0">
                <a:solidFill>
                  <a:srgbClr val="204A87"/>
                </a:solidFill>
                <a:latin typeface="Courier"/>
              </a:rPr>
              <a:t>NTILE</a:t>
            </a:r>
            <a:r>
              <a:rPr sz="1400" dirty="0">
                <a:latin typeface="Courier"/>
              </a:rPr>
              <a:t>(</a:t>
            </a:r>
            <a:r>
              <a:rPr sz="1400" dirty="0">
                <a:solidFill>
                  <a:srgbClr val="0000CF"/>
                </a:solidFill>
                <a:latin typeface="Courier"/>
              </a:rPr>
              <a:t>4</a:t>
            </a:r>
            <a:r>
              <a:rPr sz="1400" dirty="0">
                <a:latin typeface="Courier"/>
              </a:rPr>
              <a:t>) </a:t>
            </a:r>
            <a:r>
              <a:rPr sz="1400" b="1" dirty="0">
                <a:solidFill>
                  <a:srgbClr val="204A87"/>
                </a:solidFill>
                <a:latin typeface="Courier"/>
              </a:rPr>
              <a:t>OVER</a:t>
            </a:r>
            <a:r>
              <a:rPr sz="1400" dirty="0">
                <a:latin typeface="Courier"/>
              </a:rPr>
              <a:t> (</a:t>
            </a:r>
            <a:r>
              <a:rPr sz="1400" b="1" dirty="0">
                <a:solidFill>
                  <a:srgbClr val="204A87"/>
                </a:solidFill>
                <a:latin typeface="Courier"/>
              </a:rPr>
              <a:t>PARTITION</a:t>
            </a:r>
            <a:r>
              <a:rPr sz="1400" dirty="0">
                <a:latin typeface="Courier"/>
              </a:rPr>
              <a:t> </a:t>
            </a:r>
            <a:r>
              <a:rPr sz="1400" b="1" dirty="0">
                <a:solidFill>
                  <a:srgbClr val="204A87"/>
                </a:solidFill>
                <a:latin typeface="Courier"/>
              </a:rPr>
              <a:t>BY</a:t>
            </a:r>
            <a:r>
              <a:rPr sz="1400" dirty="0">
                <a:latin typeface="Courier"/>
              </a:rPr>
              <a:t> </a:t>
            </a:r>
            <a:r>
              <a:rPr sz="1400" dirty="0" err="1">
                <a:latin typeface="Courier"/>
              </a:rPr>
              <a:t>deptno</a:t>
            </a:r>
            <a:r>
              <a:rPr sz="1400" dirty="0">
                <a:latin typeface="Courier"/>
              </a:rPr>
              <a:t> </a:t>
            </a:r>
            <a:r>
              <a:rPr sz="1400" b="1" dirty="0">
                <a:solidFill>
                  <a:srgbClr val="204A87"/>
                </a:solidFill>
                <a:latin typeface="Courier"/>
              </a:rPr>
              <a:t>ORDER</a:t>
            </a:r>
            <a:r>
              <a:rPr sz="1400" dirty="0">
                <a:latin typeface="Courier"/>
              </a:rPr>
              <a:t> </a:t>
            </a:r>
            <a:r>
              <a:rPr sz="1400" b="1" dirty="0">
                <a:solidFill>
                  <a:srgbClr val="204A87"/>
                </a:solidFill>
                <a:latin typeface="Courier"/>
              </a:rPr>
              <a:t>BY</a:t>
            </a:r>
            <a:r>
              <a:rPr sz="1400" dirty="0">
                <a:latin typeface="Courier"/>
              </a:rPr>
              <a:t> </a:t>
            </a:r>
            <a:r>
              <a:rPr sz="1400" dirty="0" err="1">
                <a:latin typeface="Courier"/>
              </a:rPr>
              <a:t>sal</a:t>
            </a:r>
            <a:r>
              <a:rPr sz="1400" dirty="0">
                <a:latin typeface="Courier"/>
              </a:rPr>
              <a:t> </a:t>
            </a:r>
            <a:r>
              <a:rPr sz="1400" b="1" dirty="0">
                <a:solidFill>
                  <a:srgbClr val="204A87"/>
                </a:solidFill>
                <a:latin typeface="Courier"/>
              </a:rPr>
              <a:t>DESC</a:t>
            </a:r>
            <a:r>
              <a:rPr sz="1400" dirty="0">
                <a:latin typeface="Courier"/>
              </a:rPr>
              <a:t>) </a:t>
            </a:r>
            <a:r>
              <a:rPr sz="1400" b="1" dirty="0">
                <a:solidFill>
                  <a:srgbClr val="204A87"/>
                </a:solidFill>
                <a:latin typeface="Courier"/>
              </a:rPr>
              <a:t>AS</a:t>
            </a:r>
            <a:r>
              <a:rPr sz="1400" dirty="0">
                <a:latin typeface="Courier"/>
              </a:rPr>
              <a:t> quartile</a:t>
            </a:r>
            <a:br>
              <a:rPr sz="1400" dirty="0"/>
            </a:br>
            <a:r>
              <a:rPr sz="1400" b="1" dirty="0">
                <a:solidFill>
                  <a:srgbClr val="204A87"/>
                </a:solidFill>
                <a:latin typeface="Courier"/>
              </a:rPr>
              <a:t>FROM</a:t>
            </a:r>
            <a:r>
              <a:rPr sz="1400" dirty="0">
                <a:latin typeface="Courier"/>
              </a:rPr>
              <a:t> </a:t>
            </a:r>
            <a:r>
              <a:rPr sz="1400" dirty="0" err="1">
                <a:latin typeface="Courier"/>
              </a:rPr>
              <a:t>employees.emp</a:t>
            </a:r>
            <a:r>
              <a:rPr sz="1400" dirty="0">
                <a:latin typeface="Courier"/>
              </a:rPr>
              <a:t>;</a:t>
            </a:r>
          </a:p>
        </p:txBody>
      </p:sp>
      <p:sp>
        <p:nvSpPr>
          <p:cNvPr id="4" name="Title 1">
            <a:extLst>
              <a:ext uri="{FF2B5EF4-FFF2-40B4-BE49-F238E27FC236}">
                <a16:creationId xmlns:a16="http://schemas.microsoft.com/office/drawing/2014/main" id="{55E2F297-B533-DB9B-2A18-E7E48FC4E29B}"/>
              </a:ext>
            </a:extLst>
          </p:cNvPr>
          <p:cNvSpPr txBox="1">
            <a:spLocks/>
          </p:cNvSpPr>
          <p:nvPr/>
        </p:nvSpPr>
        <p:spPr>
          <a:xfrm>
            <a:off x="0" y="1"/>
            <a:ext cx="9144000" cy="548876"/>
          </a:xfrm>
          <a:prstGeom prst="rect">
            <a:avLst/>
          </a:prstGeom>
          <a:solidFill>
            <a:schemeClr val="tx1"/>
          </a:solidFill>
        </p:spPr>
        <p:txBody>
          <a:bodyPr vert="horz" lIns="91440" tIns="45720" rIns="91440" bIns="45720" rtlCol="0" anchor="ctr">
            <a:normAutofit/>
          </a:bodyPr>
          <a:lstStyle>
            <a:lvl1pPr algn="ctr" defTabSz="342900" rtl="0" eaLnBrk="1" latinLnBrk="0" hangingPunct="1">
              <a:spcBef>
                <a:spcPct val="0"/>
              </a:spcBef>
              <a:buNone/>
              <a:defRPr sz="3300" kern="1200">
                <a:solidFill>
                  <a:schemeClr val="tx1"/>
                </a:solidFill>
                <a:latin typeface="+mj-lt"/>
                <a:ea typeface="+mj-ea"/>
                <a:cs typeface="+mj-cs"/>
              </a:defRPr>
            </a:lvl1pPr>
          </a:lstStyle>
          <a:p>
            <a:pPr algn="l"/>
            <a:r>
              <a:rPr lang="en-IN" sz="2800" dirty="0">
                <a:solidFill>
                  <a:schemeClr val="bg1"/>
                </a:solidFill>
              </a:rPr>
              <a:t>NTILE(n):</a:t>
            </a:r>
          </a:p>
        </p:txBody>
      </p:sp>
      <p:pic>
        <p:nvPicPr>
          <p:cNvPr id="5" name="Picture 4">
            <a:extLst>
              <a:ext uri="{FF2B5EF4-FFF2-40B4-BE49-F238E27FC236}">
                <a16:creationId xmlns:a16="http://schemas.microsoft.com/office/drawing/2014/main" id="{BAE47332-226A-3978-B6DF-ACFA5A2CDF43}"/>
              </a:ext>
            </a:extLst>
          </p:cNvPr>
          <p:cNvPicPr>
            <a:picLocks noChangeAspect="1"/>
          </p:cNvPicPr>
          <p:nvPr/>
        </p:nvPicPr>
        <p:blipFill>
          <a:blip r:embed="rId2"/>
          <a:stretch>
            <a:fillRect/>
          </a:stretch>
        </p:blipFill>
        <p:spPr>
          <a:xfrm>
            <a:off x="5763675" y="51792"/>
            <a:ext cx="3380325" cy="445294"/>
          </a:xfrm>
          <a:prstGeom prst="rect">
            <a:avLst/>
          </a:prstGeom>
        </p:spPr>
      </p:pic>
      <p:sp>
        <p:nvSpPr>
          <p:cNvPr id="6" name="Title 1">
            <a:extLst>
              <a:ext uri="{FF2B5EF4-FFF2-40B4-BE49-F238E27FC236}">
                <a16:creationId xmlns:a16="http://schemas.microsoft.com/office/drawing/2014/main" id="{38DDC306-1D77-2343-0B42-D0F99EFA28D8}"/>
              </a:ext>
            </a:extLst>
          </p:cNvPr>
          <p:cNvSpPr txBox="1">
            <a:spLocks/>
          </p:cNvSpPr>
          <p:nvPr/>
        </p:nvSpPr>
        <p:spPr>
          <a:xfrm>
            <a:off x="0" y="4858718"/>
            <a:ext cx="9144000" cy="284781"/>
          </a:xfrm>
          <a:prstGeom prst="rect">
            <a:avLst/>
          </a:prstGeom>
          <a:solidFill>
            <a:schemeClr val="tx1"/>
          </a:solidFill>
        </p:spPr>
        <p:txBody>
          <a:bodyPr vert="horz" lIns="91440" tIns="45720" rIns="91440" bIns="45720" rtlCol="0" anchor="ctr">
            <a:normAutofit/>
          </a:bodyPr>
          <a:lstStyle>
            <a:lvl1pPr algn="ctr" defTabSz="342900" rtl="0" eaLnBrk="1" latinLnBrk="0" hangingPunct="1">
              <a:spcBef>
                <a:spcPct val="0"/>
              </a:spcBef>
              <a:buNone/>
              <a:defRPr sz="3300" kern="1200">
                <a:solidFill>
                  <a:schemeClr val="tx1"/>
                </a:solidFill>
                <a:latin typeface="+mj-lt"/>
                <a:ea typeface="+mj-ea"/>
                <a:cs typeface="+mj-cs"/>
              </a:defRPr>
            </a:lvl1pPr>
          </a:lstStyle>
          <a:p>
            <a:r>
              <a:rPr lang="en-IN" sz="1200" dirty="0">
                <a:solidFill>
                  <a:schemeClr val="bg1"/>
                </a:solidFill>
              </a:rPr>
              <a:t>© TINITIATE.COM</a:t>
            </a:r>
            <a:endParaRPr lang="en-IN" sz="1000" dirty="0">
              <a:solidFill>
                <a:schemeClr val="bg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74514"/>
            <a:ext cx="8229600" cy="3394472"/>
          </a:xfrm>
        </p:spPr>
        <p:txBody>
          <a:bodyPr>
            <a:noAutofit/>
          </a:bodyPr>
          <a:lstStyle/>
          <a:p>
            <a:pPr lvl="0"/>
            <a:r>
              <a:rPr sz="1800" dirty="0"/>
              <a:t>Accesses data from a previous row in the result set.</a:t>
            </a:r>
          </a:p>
          <a:p>
            <a:pPr lvl="0" indent="0">
              <a:buNone/>
            </a:pPr>
            <a:r>
              <a:rPr sz="1400" i="1" dirty="0">
                <a:solidFill>
                  <a:srgbClr val="8F5902"/>
                </a:solidFill>
                <a:latin typeface="Courier"/>
              </a:rPr>
              <a:t>-- Retrieves employee names and salaries, along with the</a:t>
            </a:r>
            <a:br>
              <a:rPr sz="1400" dirty="0"/>
            </a:br>
            <a:r>
              <a:rPr sz="1400" i="1" dirty="0">
                <a:solidFill>
                  <a:srgbClr val="8F5902"/>
                </a:solidFill>
                <a:latin typeface="Courier"/>
              </a:rPr>
              <a:t>-- previous salary for each employee.</a:t>
            </a:r>
            <a:br>
              <a:rPr sz="1400" dirty="0"/>
            </a:br>
            <a:r>
              <a:rPr sz="1400" b="1" dirty="0">
                <a:solidFill>
                  <a:srgbClr val="204A87"/>
                </a:solidFill>
                <a:latin typeface="Courier"/>
              </a:rPr>
              <a:t>SELECT</a:t>
            </a:r>
            <a:r>
              <a:rPr sz="1400" dirty="0">
                <a:latin typeface="Courier"/>
              </a:rPr>
              <a:t> </a:t>
            </a:r>
            <a:r>
              <a:rPr sz="1400" dirty="0" err="1">
                <a:latin typeface="Courier"/>
              </a:rPr>
              <a:t>ename</a:t>
            </a:r>
            <a:r>
              <a:rPr sz="1400" dirty="0">
                <a:latin typeface="Courier"/>
              </a:rPr>
              <a:t>, </a:t>
            </a:r>
            <a:r>
              <a:rPr sz="1400" dirty="0" err="1">
                <a:latin typeface="Courier"/>
              </a:rPr>
              <a:t>sal</a:t>
            </a:r>
            <a:r>
              <a:rPr sz="1400" dirty="0">
                <a:latin typeface="Courier"/>
              </a:rPr>
              <a:t>,</a:t>
            </a:r>
            <a:br>
              <a:rPr sz="1400" dirty="0"/>
            </a:br>
            <a:r>
              <a:rPr sz="1400" dirty="0">
                <a:latin typeface="Courier"/>
              </a:rPr>
              <a:t>       </a:t>
            </a:r>
            <a:r>
              <a:rPr sz="1400" b="1" dirty="0">
                <a:solidFill>
                  <a:srgbClr val="204A87"/>
                </a:solidFill>
                <a:latin typeface="Courier"/>
              </a:rPr>
              <a:t>LAG</a:t>
            </a:r>
            <a:r>
              <a:rPr sz="1400" dirty="0">
                <a:latin typeface="Courier"/>
              </a:rPr>
              <a:t>(</a:t>
            </a:r>
            <a:r>
              <a:rPr sz="1400" dirty="0" err="1">
                <a:latin typeface="Courier"/>
              </a:rPr>
              <a:t>sal</a:t>
            </a:r>
            <a:r>
              <a:rPr sz="1400" dirty="0">
                <a:latin typeface="Courier"/>
              </a:rPr>
              <a:t>) </a:t>
            </a:r>
            <a:r>
              <a:rPr sz="1400" b="1" dirty="0">
                <a:solidFill>
                  <a:srgbClr val="204A87"/>
                </a:solidFill>
                <a:latin typeface="Courier"/>
              </a:rPr>
              <a:t>OVER</a:t>
            </a:r>
            <a:r>
              <a:rPr sz="1400" dirty="0">
                <a:latin typeface="Courier"/>
              </a:rPr>
              <a:t> (</a:t>
            </a:r>
            <a:r>
              <a:rPr sz="1400" b="1" dirty="0">
                <a:solidFill>
                  <a:srgbClr val="204A87"/>
                </a:solidFill>
                <a:latin typeface="Courier"/>
              </a:rPr>
              <a:t>ORDER</a:t>
            </a:r>
            <a:r>
              <a:rPr sz="1400" dirty="0">
                <a:latin typeface="Courier"/>
              </a:rPr>
              <a:t> </a:t>
            </a:r>
            <a:r>
              <a:rPr sz="1400" b="1" dirty="0">
                <a:solidFill>
                  <a:srgbClr val="204A87"/>
                </a:solidFill>
                <a:latin typeface="Courier"/>
              </a:rPr>
              <a:t>BY</a:t>
            </a:r>
            <a:r>
              <a:rPr sz="1400" dirty="0">
                <a:latin typeface="Courier"/>
              </a:rPr>
              <a:t> </a:t>
            </a:r>
            <a:r>
              <a:rPr sz="1400" dirty="0" err="1">
                <a:latin typeface="Courier"/>
              </a:rPr>
              <a:t>sal</a:t>
            </a:r>
            <a:r>
              <a:rPr sz="1400" dirty="0">
                <a:latin typeface="Courier"/>
              </a:rPr>
              <a:t>) </a:t>
            </a:r>
            <a:r>
              <a:rPr sz="1400" b="1" dirty="0">
                <a:solidFill>
                  <a:srgbClr val="204A87"/>
                </a:solidFill>
                <a:latin typeface="Courier"/>
              </a:rPr>
              <a:t>AS</a:t>
            </a:r>
            <a:r>
              <a:rPr sz="1400" dirty="0">
                <a:latin typeface="Courier"/>
              </a:rPr>
              <a:t> </a:t>
            </a:r>
            <a:r>
              <a:rPr sz="1400" dirty="0" err="1">
                <a:latin typeface="Courier"/>
              </a:rPr>
              <a:t>prev_sal</a:t>
            </a:r>
            <a:br>
              <a:rPr sz="1400" dirty="0"/>
            </a:br>
            <a:r>
              <a:rPr sz="1400" b="1" dirty="0">
                <a:solidFill>
                  <a:srgbClr val="204A87"/>
                </a:solidFill>
                <a:latin typeface="Courier"/>
              </a:rPr>
              <a:t>FROM</a:t>
            </a:r>
            <a:r>
              <a:rPr sz="1400" dirty="0">
                <a:latin typeface="Courier"/>
              </a:rPr>
              <a:t> </a:t>
            </a:r>
            <a:r>
              <a:rPr sz="1400" dirty="0" err="1">
                <a:latin typeface="Courier"/>
              </a:rPr>
              <a:t>employees.emp</a:t>
            </a:r>
            <a:r>
              <a:rPr sz="1400" dirty="0">
                <a:latin typeface="Courier"/>
              </a:rPr>
              <a:t>;</a:t>
            </a:r>
            <a:br>
              <a:rPr sz="1400" dirty="0"/>
            </a:br>
            <a:br>
              <a:rPr sz="1400" dirty="0"/>
            </a:br>
            <a:r>
              <a:rPr sz="1400" i="1" dirty="0">
                <a:solidFill>
                  <a:srgbClr val="8F5902"/>
                </a:solidFill>
                <a:latin typeface="Courier"/>
              </a:rPr>
              <a:t>-- Retrieves the previous salary for each employee, ordered by their hire date.</a:t>
            </a:r>
            <a:br>
              <a:rPr sz="1400" dirty="0"/>
            </a:br>
            <a:r>
              <a:rPr sz="1400" b="1" dirty="0">
                <a:solidFill>
                  <a:srgbClr val="204A87"/>
                </a:solidFill>
                <a:latin typeface="Courier"/>
              </a:rPr>
              <a:t>SELECT</a:t>
            </a:r>
            <a:r>
              <a:rPr sz="1400" dirty="0">
                <a:latin typeface="Courier"/>
              </a:rPr>
              <a:t> </a:t>
            </a:r>
            <a:r>
              <a:rPr sz="1400" dirty="0" err="1">
                <a:latin typeface="Courier"/>
              </a:rPr>
              <a:t>empno</a:t>
            </a:r>
            <a:r>
              <a:rPr sz="1400" dirty="0">
                <a:latin typeface="Courier"/>
              </a:rPr>
              <a:t>, </a:t>
            </a:r>
            <a:r>
              <a:rPr sz="1400" dirty="0" err="1">
                <a:latin typeface="Courier"/>
              </a:rPr>
              <a:t>ename</a:t>
            </a:r>
            <a:r>
              <a:rPr sz="1400" dirty="0">
                <a:latin typeface="Courier"/>
              </a:rPr>
              <a:t>, </a:t>
            </a:r>
            <a:r>
              <a:rPr sz="1400" dirty="0" err="1">
                <a:latin typeface="Courier"/>
              </a:rPr>
              <a:t>hiredate</a:t>
            </a:r>
            <a:r>
              <a:rPr sz="1400" dirty="0">
                <a:latin typeface="Courier"/>
              </a:rPr>
              <a:t>, </a:t>
            </a:r>
            <a:r>
              <a:rPr sz="1400" dirty="0" err="1">
                <a:latin typeface="Courier"/>
              </a:rPr>
              <a:t>sal</a:t>
            </a:r>
            <a:r>
              <a:rPr sz="1400" dirty="0">
                <a:latin typeface="Courier"/>
              </a:rPr>
              <a:t>,</a:t>
            </a:r>
            <a:br>
              <a:rPr sz="1400" dirty="0"/>
            </a:br>
            <a:r>
              <a:rPr sz="1400" dirty="0">
                <a:latin typeface="Courier"/>
              </a:rPr>
              <a:t>       </a:t>
            </a:r>
            <a:r>
              <a:rPr sz="1400" b="1" dirty="0">
                <a:solidFill>
                  <a:srgbClr val="204A87"/>
                </a:solidFill>
                <a:latin typeface="Courier"/>
              </a:rPr>
              <a:t>LAG</a:t>
            </a:r>
            <a:r>
              <a:rPr sz="1400" dirty="0">
                <a:latin typeface="Courier"/>
              </a:rPr>
              <a:t>(</a:t>
            </a:r>
            <a:r>
              <a:rPr sz="1400" dirty="0" err="1">
                <a:latin typeface="Courier"/>
              </a:rPr>
              <a:t>sal</a:t>
            </a:r>
            <a:r>
              <a:rPr sz="1400" dirty="0">
                <a:latin typeface="Courier"/>
              </a:rPr>
              <a:t>) </a:t>
            </a:r>
            <a:r>
              <a:rPr sz="1400" b="1" dirty="0">
                <a:solidFill>
                  <a:srgbClr val="204A87"/>
                </a:solidFill>
                <a:latin typeface="Courier"/>
              </a:rPr>
              <a:t>OVER</a:t>
            </a:r>
            <a:r>
              <a:rPr sz="1400" dirty="0">
                <a:latin typeface="Courier"/>
              </a:rPr>
              <a:t> (</a:t>
            </a:r>
            <a:r>
              <a:rPr sz="1400" b="1" dirty="0">
                <a:solidFill>
                  <a:srgbClr val="204A87"/>
                </a:solidFill>
                <a:latin typeface="Courier"/>
              </a:rPr>
              <a:t>ORDER</a:t>
            </a:r>
            <a:r>
              <a:rPr sz="1400" dirty="0">
                <a:latin typeface="Courier"/>
              </a:rPr>
              <a:t> </a:t>
            </a:r>
            <a:r>
              <a:rPr sz="1400" b="1" dirty="0">
                <a:solidFill>
                  <a:srgbClr val="204A87"/>
                </a:solidFill>
                <a:latin typeface="Courier"/>
              </a:rPr>
              <a:t>BY</a:t>
            </a:r>
            <a:r>
              <a:rPr sz="1400" dirty="0">
                <a:latin typeface="Courier"/>
              </a:rPr>
              <a:t> </a:t>
            </a:r>
            <a:r>
              <a:rPr sz="1400" dirty="0" err="1">
                <a:latin typeface="Courier"/>
              </a:rPr>
              <a:t>hiredate</a:t>
            </a:r>
            <a:r>
              <a:rPr sz="1400" dirty="0">
                <a:latin typeface="Courier"/>
              </a:rPr>
              <a:t>) </a:t>
            </a:r>
            <a:r>
              <a:rPr sz="1400" b="1" dirty="0">
                <a:solidFill>
                  <a:srgbClr val="204A87"/>
                </a:solidFill>
                <a:latin typeface="Courier"/>
              </a:rPr>
              <a:t>AS</a:t>
            </a:r>
            <a:r>
              <a:rPr sz="1400" dirty="0">
                <a:latin typeface="Courier"/>
              </a:rPr>
              <a:t> </a:t>
            </a:r>
            <a:r>
              <a:rPr sz="1400" dirty="0" err="1">
                <a:latin typeface="Courier"/>
              </a:rPr>
              <a:t>prev_sal</a:t>
            </a:r>
            <a:br>
              <a:rPr sz="1400" dirty="0"/>
            </a:br>
            <a:r>
              <a:rPr sz="1400" b="1" dirty="0">
                <a:solidFill>
                  <a:srgbClr val="204A87"/>
                </a:solidFill>
                <a:latin typeface="Courier"/>
              </a:rPr>
              <a:t>FROM</a:t>
            </a:r>
            <a:r>
              <a:rPr sz="1400" dirty="0">
                <a:latin typeface="Courier"/>
              </a:rPr>
              <a:t> </a:t>
            </a:r>
            <a:r>
              <a:rPr sz="1400" dirty="0" err="1">
                <a:latin typeface="Courier"/>
              </a:rPr>
              <a:t>employees.emp</a:t>
            </a:r>
            <a:r>
              <a:rPr sz="1400" dirty="0">
                <a:latin typeface="Courier"/>
              </a:rPr>
              <a:t>;</a:t>
            </a:r>
          </a:p>
        </p:txBody>
      </p:sp>
      <p:sp>
        <p:nvSpPr>
          <p:cNvPr id="4" name="Title 1">
            <a:extLst>
              <a:ext uri="{FF2B5EF4-FFF2-40B4-BE49-F238E27FC236}">
                <a16:creationId xmlns:a16="http://schemas.microsoft.com/office/drawing/2014/main" id="{ADCCAF98-BEC9-BAFA-A313-91DA36A7F0F4}"/>
              </a:ext>
            </a:extLst>
          </p:cNvPr>
          <p:cNvSpPr txBox="1">
            <a:spLocks/>
          </p:cNvSpPr>
          <p:nvPr/>
        </p:nvSpPr>
        <p:spPr>
          <a:xfrm>
            <a:off x="0" y="1"/>
            <a:ext cx="9144000" cy="548876"/>
          </a:xfrm>
          <a:prstGeom prst="rect">
            <a:avLst/>
          </a:prstGeom>
          <a:solidFill>
            <a:schemeClr val="tx1"/>
          </a:solidFill>
        </p:spPr>
        <p:txBody>
          <a:bodyPr vert="horz" lIns="91440" tIns="45720" rIns="91440" bIns="45720" rtlCol="0" anchor="ctr">
            <a:normAutofit/>
          </a:bodyPr>
          <a:lstStyle>
            <a:lvl1pPr algn="ctr" defTabSz="342900" rtl="0" eaLnBrk="1" latinLnBrk="0" hangingPunct="1">
              <a:spcBef>
                <a:spcPct val="0"/>
              </a:spcBef>
              <a:buNone/>
              <a:defRPr sz="3300" kern="1200">
                <a:solidFill>
                  <a:schemeClr val="tx1"/>
                </a:solidFill>
                <a:latin typeface="+mj-lt"/>
                <a:ea typeface="+mj-ea"/>
                <a:cs typeface="+mj-cs"/>
              </a:defRPr>
            </a:lvl1pPr>
          </a:lstStyle>
          <a:p>
            <a:pPr algn="l"/>
            <a:r>
              <a:rPr lang="en-IN" sz="2800" dirty="0">
                <a:solidFill>
                  <a:schemeClr val="bg1"/>
                </a:solidFill>
              </a:rPr>
              <a:t>LAG():</a:t>
            </a:r>
          </a:p>
        </p:txBody>
      </p:sp>
      <p:pic>
        <p:nvPicPr>
          <p:cNvPr id="5" name="Picture 4">
            <a:extLst>
              <a:ext uri="{FF2B5EF4-FFF2-40B4-BE49-F238E27FC236}">
                <a16:creationId xmlns:a16="http://schemas.microsoft.com/office/drawing/2014/main" id="{E4AB2913-2A74-1522-B8DE-933CEA5A74E7}"/>
              </a:ext>
            </a:extLst>
          </p:cNvPr>
          <p:cNvPicPr>
            <a:picLocks noChangeAspect="1"/>
          </p:cNvPicPr>
          <p:nvPr/>
        </p:nvPicPr>
        <p:blipFill>
          <a:blip r:embed="rId2"/>
          <a:stretch>
            <a:fillRect/>
          </a:stretch>
        </p:blipFill>
        <p:spPr>
          <a:xfrm>
            <a:off x="5763675" y="51792"/>
            <a:ext cx="3380325" cy="445294"/>
          </a:xfrm>
          <a:prstGeom prst="rect">
            <a:avLst/>
          </a:prstGeom>
        </p:spPr>
      </p:pic>
      <p:sp>
        <p:nvSpPr>
          <p:cNvPr id="6" name="Title 1">
            <a:extLst>
              <a:ext uri="{FF2B5EF4-FFF2-40B4-BE49-F238E27FC236}">
                <a16:creationId xmlns:a16="http://schemas.microsoft.com/office/drawing/2014/main" id="{55275004-C1D7-5D0B-93E3-029718D81A11}"/>
              </a:ext>
            </a:extLst>
          </p:cNvPr>
          <p:cNvSpPr txBox="1">
            <a:spLocks/>
          </p:cNvSpPr>
          <p:nvPr/>
        </p:nvSpPr>
        <p:spPr>
          <a:xfrm>
            <a:off x="0" y="4858718"/>
            <a:ext cx="9144000" cy="284781"/>
          </a:xfrm>
          <a:prstGeom prst="rect">
            <a:avLst/>
          </a:prstGeom>
          <a:solidFill>
            <a:schemeClr val="tx1"/>
          </a:solidFill>
        </p:spPr>
        <p:txBody>
          <a:bodyPr vert="horz" lIns="91440" tIns="45720" rIns="91440" bIns="45720" rtlCol="0" anchor="ctr">
            <a:normAutofit/>
          </a:bodyPr>
          <a:lstStyle>
            <a:lvl1pPr algn="ctr" defTabSz="342900" rtl="0" eaLnBrk="1" latinLnBrk="0" hangingPunct="1">
              <a:spcBef>
                <a:spcPct val="0"/>
              </a:spcBef>
              <a:buNone/>
              <a:defRPr sz="3300" kern="1200">
                <a:solidFill>
                  <a:schemeClr val="tx1"/>
                </a:solidFill>
                <a:latin typeface="+mj-lt"/>
                <a:ea typeface="+mj-ea"/>
                <a:cs typeface="+mj-cs"/>
              </a:defRPr>
            </a:lvl1pPr>
          </a:lstStyle>
          <a:p>
            <a:r>
              <a:rPr lang="en-IN" sz="1200" dirty="0">
                <a:solidFill>
                  <a:schemeClr val="bg1"/>
                </a:solidFill>
              </a:rPr>
              <a:t>© TINITIATE.COM</a:t>
            </a:r>
            <a:endParaRPr lang="en-IN" sz="1000" dirty="0">
              <a:solidFill>
                <a:schemeClr val="bg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74514"/>
            <a:ext cx="8229600" cy="3394472"/>
          </a:xfrm>
        </p:spPr>
        <p:txBody>
          <a:bodyPr>
            <a:noAutofit/>
          </a:bodyPr>
          <a:lstStyle/>
          <a:p>
            <a:pPr lvl="0"/>
            <a:r>
              <a:rPr sz="1800" dirty="0"/>
              <a:t>Accesses data from a following row in the result set.</a:t>
            </a:r>
          </a:p>
          <a:p>
            <a:pPr lvl="0" indent="0">
              <a:buNone/>
            </a:pPr>
            <a:r>
              <a:rPr sz="1400" i="1" dirty="0">
                <a:solidFill>
                  <a:srgbClr val="8F5902"/>
                </a:solidFill>
                <a:latin typeface="Courier"/>
              </a:rPr>
              <a:t>-- Retrieves employee names and salaries, along with</a:t>
            </a:r>
            <a:br>
              <a:rPr sz="1400" dirty="0"/>
            </a:br>
            <a:r>
              <a:rPr sz="1400" i="1" dirty="0">
                <a:solidFill>
                  <a:srgbClr val="8F5902"/>
                </a:solidFill>
                <a:latin typeface="Courier"/>
              </a:rPr>
              <a:t>-- the next salary for each employee.</a:t>
            </a:r>
            <a:br>
              <a:rPr sz="1400" dirty="0"/>
            </a:br>
            <a:r>
              <a:rPr sz="1400" b="1" dirty="0">
                <a:solidFill>
                  <a:srgbClr val="204A87"/>
                </a:solidFill>
                <a:latin typeface="Courier"/>
              </a:rPr>
              <a:t>SELECT</a:t>
            </a:r>
            <a:r>
              <a:rPr sz="1400" dirty="0">
                <a:latin typeface="Courier"/>
              </a:rPr>
              <a:t> </a:t>
            </a:r>
            <a:r>
              <a:rPr sz="1400" dirty="0" err="1">
                <a:latin typeface="Courier"/>
              </a:rPr>
              <a:t>ename</a:t>
            </a:r>
            <a:r>
              <a:rPr sz="1400" dirty="0">
                <a:latin typeface="Courier"/>
              </a:rPr>
              <a:t>, </a:t>
            </a:r>
            <a:r>
              <a:rPr sz="1400" dirty="0" err="1">
                <a:latin typeface="Courier"/>
              </a:rPr>
              <a:t>sal</a:t>
            </a:r>
            <a:r>
              <a:rPr sz="1400" dirty="0">
                <a:latin typeface="Courier"/>
              </a:rPr>
              <a:t>,</a:t>
            </a:r>
            <a:br>
              <a:rPr sz="1400" dirty="0"/>
            </a:br>
            <a:r>
              <a:rPr sz="1400" dirty="0">
                <a:latin typeface="Courier"/>
              </a:rPr>
              <a:t>       </a:t>
            </a:r>
            <a:r>
              <a:rPr sz="1400" b="1" dirty="0">
                <a:solidFill>
                  <a:srgbClr val="204A87"/>
                </a:solidFill>
                <a:latin typeface="Courier"/>
              </a:rPr>
              <a:t>LEAD</a:t>
            </a:r>
            <a:r>
              <a:rPr sz="1400" dirty="0">
                <a:latin typeface="Courier"/>
              </a:rPr>
              <a:t>(</a:t>
            </a:r>
            <a:r>
              <a:rPr sz="1400" dirty="0" err="1">
                <a:latin typeface="Courier"/>
              </a:rPr>
              <a:t>sal</a:t>
            </a:r>
            <a:r>
              <a:rPr sz="1400" dirty="0">
                <a:latin typeface="Courier"/>
              </a:rPr>
              <a:t>) </a:t>
            </a:r>
            <a:r>
              <a:rPr sz="1400" b="1" dirty="0">
                <a:solidFill>
                  <a:srgbClr val="204A87"/>
                </a:solidFill>
                <a:latin typeface="Courier"/>
              </a:rPr>
              <a:t>OVER</a:t>
            </a:r>
            <a:r>
              <a:rPr sz="1400" dirty="0">
                <a:latin typeface="Courier"/>
              </a:rPr>
              <a:t> (</a:t>
            </a:r>
            <a:r>
              <a:rPr sz="1400" b="1" dirty="0">
                <a:solidFill>
                  <a:srgbClr val="204A87"/>
                </a:solidFill>
                <a:latin typeface="Courier"/>
              </a:rPr>
              <a:t>ORDER</a:t>
            </a:r>
            <a:r>
              <a:rPr sz="1400" dirty="0">
                <a:latin typeface="Courier"/>
              </a:rPr>
              <a:t> </a:t>
            </a:r>
            <a:r>
              <a:rPr sz="1400" b="1" dirty="0">
                <a:solidFill>
                  <a:srgbClr val="204A87"/>
                </a:solidFill>
                <a:latin typeface="Courier"/>
              </a:rPr>
              <a:t>BY</a:t>
            </a:r>
            <a:r>
              <a:rPr sz="1400" dirty="0">
                <a:latin typeface="Courier"/>
              </a:rPr>
              <a:t> </a:t>
            </a:r>
            <a:r>
              <a:rPr sz="1400" dirty="0" err="1">
                <a:latin typeface="Courier"/>
              </a:rPr>
              <a:t>sal</a:t>
            </a:r>
            <a:r>
              <a:rPr sz="1400" dirty="0">
                <a:latin typeface="Courier"/>
              </a:rPr>
              <a:t>) </a:t>
            </a:r>
            <a:r>
              <a:rPr sz="1400" b="1" dirty="0">
                <a:solidFill>
                  <a:srgbClr val="204A87"/>
                </a:solidFill>
                <a:latin typeface="Courier"/>
              </a:rPr>
              <a:t>AS</a:t>
            </a:r>
            <a:r>
              <a:rPr sz="1400" dirty="0">
                <a:latin typeface="Courier"/>
              </a:rPr>
              <a:t> </a:t>
            </a:r>
            <a:r>
              <a:rPr sz="1400" dirty="0" err="1">
                <a:latin typeface="Courier"/>
              </a:rPr>
              <a:t>next_sal</a:t>
            </a:r>
            <a:br>
              <a:rPr sz="1400" dirty="0"/>
            </a:br>
            <a:r>
              <a:rPr sz="1400" b="1" dirty="0">
                <a:solidFill>
                  <a:srgbClr val="204A87"/>
                </a:solidFill>
                <a:latin typeface="Courier"/>
              </a:rPr>
              <a:t>FROM</a:t>
            </a:r>
            <a:r>
              <a:rPr sz="1400" dirty="0">
                <a:latin typeface="Courier"/>
              </a:rPr>
              <a:t> </a:t>
            </a:r>
            <a:r>
              <a:rPr sz="1400" dirty="0" err="1">
                <a:latin typeface="Courier"/>
              </a:rPr>
              <a:t>employees.emp</a:t>
            </a:r>
            <a:r>
              <a:rPr sz="1400" dirty="0">
                <a:latin typeface="Courier"/>
              </a:rPr>
              <a:t>;</a:t>
            </a:r>
            <a:br>
              <a:rPr sz="1400" dirty="0"/>
            </a:br>
            <a:br>
              <a:rPr sz="1400" dirty="0"/>
            </a:br>
            <a:r>
              <a:rPr sz="1400" i="1" dirty="0">
                <a:solidFill>
                  <a:srgbClr val="8F5902"/>
                </a:solidFill>
                <a:latin typeface="Courier"/>
              </a:rPr>
              <a:t>-- Retrieves the next salary for each employee, ordered by their hire date.</a:t>
            </a:r>
            <a:br>
              <a:rPr sz="1400" dirty="0"/>
            </a:br>
            <a:r>
              <a:rPr sz="1400" b="1" dirty="0">
                <a:solidFill>
                  <a:srgbClr val="204A87"/>
                </a:solidFill>
                <a:latin typeface="Courier"/>
              </a:rPr>
              <a:t>SELECT</a:t>
            </a:r>
            <a:r>
              <a:rPr sz="1400" dirty="0">
                <a:latin typeface="Courier"/>
              </a:rPr>
              <a:t> </a:t>
            </a:r>
            <a:r>
              <a:rPr sz="1400" dirty="0" err="1">
                <a:latin typeface="Courier"/>
              </a:rPr>
              <a:t>empno</a:t>
            </a:r>
            <a:r>
              <a:rPr sz="1400" dirty="0">
                <a:latin typeface="Courier"/>
              </a:rPr>
              <a:t>, </a:t>
            </a:r>
            <a:r>
              <a:rPr sz="1400" dirty="0" err="1">
                <a:latin typeface="Courier"/>
              </a:rPr>
              <a:t>ename</a:t>
            </a:r>
            <a:r>
              <a:rPr sz="1400" dirty="0">
                <a:latin typeface="Courier"/>
              </a:rPr>
              <a:t>, </a:t>
            </a:r>
            <a:r>
              <a:rPr sz="1400" dirty="0" err="1">
                <a:latin typeface="Courier"/>
              </a:rPr>
              <a:t>hiredate</a:t>
            </a:r>
            <a:r>
              <a:rPr sz="1400" dirty="0">
                <a:latin typeface="Courier"/>
              </a:rPr>
              <a:t>, </a:t>
            </a:r>
            <a:r>
              <a:rPr sz="1400" dirty="0" err="1">
                <a:latin typeface="Courier"/>
              </a:rPr>
              <a:t>sal</a:t>
            </a:r>
            <a:r>
              <a:rPr sz="1400" dirty="0">
                <a:latin typeface="Courier"/>
              </a:rPr>
              <a:t>,</a:t>
            </a:r>
            <a:br>
              <a:rPr sz="1400" dirty="0"/>
            </a:br>
            <a:r>
              <a:rPr sz="1400" dirty="0">
                <a:latin typeface="Courier"/>
              </a:rPr>
              <a:t>       </a:t>
            </a:r>
            <a:r>
              <a:rPr sz="1400" b="1" dirty="0">
                <a:solidFill>
                  <a:srgbClr val="204A87"/>
                </a:solidFill>
                <a:latin typeface="Courier"/>
              </a:rPr>
              <a:t>LEAD</a:t>
            </a:r>
            <a:r>
              <a:rPr sz="1400" dirty="0">
                <a:latin typeface="Courier"/>
              </a:rPr>
              <a:t>(</a:t>
            </a:r>
            <a:r>
              <a:rPr sz="1400" dirty="0" err="1">
                <a:latin typeface="Courier"/>
              </a:rPr>
              <a:t>sal</a:t>
            </a:r>
            <a:r>
              <a:rPr sz="1400" dirty="0">
                <a:latin typeface="Courier"/>
              </a:rPr>
              <a:t>) </a:t>
            </a:r>
            <a:r>
              <a:rPr sz="1400" b="1" dirty="0">
                <a:solidFill>
                  <a:srgbClr val="204A87"/>
                </a:solidFill>
                <a:latin typeface="Courier"/>
              </a:rPr>
              <a:t>OVER</a:t>
            </a:r>
            <a:r>
              <a:rPr sz="1400" dirty="0">
                <a:latin typeface="Courier"/>
              </a:rPr>
              <a:t> (</a:t>
            </a:r>
            <a:r>
              <a:rPr sz="1400" b="1" dirty="0">
                <a:solidFill>
                  <a:srgbClr val="204A87"/>
                </a:solidFill>
                <a:latin typeface="Courier"/>
              </a:rPr>
              <a:t>ORDER</a:t>
            </a:r>
            <a:r>
              <a:rPr sz="1400" dirty="0">
                <a:latin typeface="Courier"/>
              </a:rPr>
              <a:t> </a:t>
            </a:r>
            <a:r>
              <a:rPr sz="1400" b="1" dirty="0">
                <a:solidFill>
                  <a:srgbClr val="204A87"/>
                </a:solidFill>
                <a:latin typeface="Courier"/>
              </a:rPr>
              <a:t>BY</a:t>
            </a:r>
            <a:r>
              <a:rPr sz="1400" dirty="0">
                <a:latin typeface="Courier"/>
              </a:rPr>
              <a:t> </a:t>
            </a:r>
            <a:r>
              <a:rPr sz="1400" dirty="0" err="1">
                <a:latin typeface="Courier"/>
              </a:rPr>
              <a:t>hiredate</a:t>
            </a:r>
            <a:r>
              <a:rPr sz="1400" dirty="0">
                <a:latin typeface="Courier"/>
              </a:rPr>
              <a:t>) </a:t>
            </a:r>
            <a:r>
              <a:rPr sz="1400" b="1" dirty="0">
                <a:solidFill>
                  <a:srgbClr val="204A87"/>
                </a:solidFill>
                <a:latin typeface="Courier"/>
              </a:rPr>
              <a:t>AS</a:t>
            </a:r>
            <a:r>
              <a:rPr sz="1400" dirty="0">
                <a:latin typeface="Courier"/>
              </a:rPr>
              <a:t> </a:t>
            </a:r>
            <a:r>
              <a:rPr sz="1400" dirty="0" err="1">
                <a:latin typeface="Courier"/>
              </a:rPr>
              <a:t>next_sal</a:t>
            </a:r>
            <a:br>
              <a:rPr sz="1400" dirty="0"/>
            </a:br>
            <a:r>
              <a:rPr sz="1400" b="1" dirty="0">
                <a:solidFill>
                  <a:srgbClr val="204A87"/>
                </a:solidFill>
                <a:latin typeface="Courier"/>
              </a:rPr>
              <a:t>FROM</a:t>
            </a:r>
            <a:r>
              <a:rPr sz="1400" dirty="0">
                <a:latin typeface="Courier"/>
              </a:rPr>
              <a:t> </a:t>
            </a:r>
            <a:r>
              <a:rPr sz="1400" dirty="0" err="1">
                <a:latin typeface="Courier"/>
              </a:rPr>
              <a:t>employees.emp</a:t>
            </a:r>
            <a:r>
              <a:rPr sz="1400" dirty="0">
                <a:latin typeface="Courier"/>
              </a:rPr>
              <a:t>;</a:t>
            </a:r>
          </a:p>
        </p:txBody>
      </p:sp>
      <p:sp>
        <p:nvSpPr>
          <p:cNvPr id="4" name="Title 1">
            <a:extLst>
              <a:ext uri="{FF2B5EF4-FFF2-40B4-BE49-F238E27FC236}">
                <a16:creationId xmlns:a16="http://schemas.microsoft.com/office/drawing/2014/main" id="{CEE29FB6-3D2E-DAC6-1CBA-B933AED59291}"/>
              </a:ext>
            </a:extLst>
          </p:cNvPr>
          <p:cNvSpPr txBox="1">
            <a:spLocks/>
          </p:cNvSpPr>
          <p:nvPr/>
        </p:nvSpPr>
        <p:spPr>
          <a:xfrm>
            <a:off x="0" y="1"/>
            <a:ext cx="9144000" cy="548876"/>
          </a:xfrm>
          <a:prstGeom prst="rect">
            <a:avLst/>
          </a:prstGeom>
          <a:solidFill>
            <a:schemeClr val="tx1"/>
          </a:solidFill>
        </p:spPr>
        <p:txBody>
          <a:bodyPr vert="horz" lIns="91440" tIns="45720" rIns="91440" bIns="45720" rtlCol="0" anchor="ctr">
            <a:normAutofit/>
          </a:bodyPr>
          <a:lstStyle>
            <a:lvl1pPr algn="ctr" defTabSz="342900" rtl="0" eaLnBrk="1" latinLnBrk="0" hangingPunct="1">
              <a:spcBef>
                <a:spcPct val="0"/>
              </a:spcBef>
              <a:buNone/>
              <a:defRPr sz="3300" kern="1200">
                <a:solidFill>
                  <a:schemeClr val="tx1"/>
                </a:solidFill>
                <a:latin typeface="+mj-lt"/>
                <a:ea typeface="+mj-ea"/>
                <a:cs typeface="+mj-cs"/>
              </a:defRPr>
            </a:lvl1pPr>
          </a:lstStyle>
          <a:p>
            <a:pPr algn="l"/>
            <a:r>
              <a:rPr lang="en-IN" sz="2800" dirty="0">
                <a:solidFill>
                  <a:schemeClr val="bg1"/>
                </a:solidFill>
              </a:rPr>
              <a:t>LEAD():</a:t>
            </a:r>
          </a:p>
        </p:txBody>
      </p:sp>
      <p:pic>
        <p:nvPicPr>
          <p:cNvPr id="5" name="Picture 4">
            <a:extLst>
              <a:ext uri="{FF2B5EF4-FFF2-40B4-BE49-F238E27FC236}">
                <a16:creationId xmlns:a16="http://schemas.microsoft.com/office/drawing/2014/main" id="{1118DE0B-A916-90D6-47BE-5A2EC00513BE}"/>
              </a:ext>
            </a:extLst>
          </p:cNvPr>
          <p:cNvPicPr>
            <a:picLocks noChangeAspect="1"/>
          </p:cNvPicPr>
          <p:nvPr/>
        </p:nvPicPr>
        <p:blipFill>
          <a:blip r:embed="rId2"/>
          <a:stretch>
            <a:fillRect/>
          </a:stretch>
        </p:blipFill>
        <p:spPr>
          <a:xfrm>
            <a:off x="5763675" y="51792"/>
            <a:ext cx="3380325" cy="445294"/>
          </a:xfrm>
          <a:prstGeom prst="rect">
            <a:avLst/>
          </a:prstGeom>
        </p:spPr>
      </p:pic>
      <p:sp>
        <p:nvSpPr>
          <p:cNvPr id="6" name="Title 1">
            <a:extLst>
              <a:ext uri="{FF2B5EF4-FFF2-40B4-BE49-F238E27FC236}">
                <a16:creationId xmlns:a16="http://schemas.microsoft.com/office/drawing/2014/main" id="{E5B2F126-DEAB-2AB7-9DB8-C25DDCFC0A54}"/>
              </a:ext>
            </a:extLst>
          </p:cNvPr>
          <p:cNvSpPr txBox="1">
            <a:spLocks/>
          </p:cNvSpPr>
          <p:nvPr/>
        </p:nvSpPr>
        <p:spPr>
          <a:xfrm>
            <a:off x="0" y="4858718"/>
            <a:ext cx="9144000" cy="284781"/>
          </a:xfrm>
          <a:prstGeom prst="rect">
            <a:avLst/>
          </a:prstGeom>
          <a:solidFill>
            <a:schemeClr val="tx1"/>
          </a:solidFill>
        </p:spPr>
        <p:txBody>
          <a:bodyPr vert="horz" lIns="91440" tIns="45720" rIns="91440" bIns="45720" rtlCol="0" anchor="ctr">
            <a:normAutofit/>
          </a:bodyPr>
          <a:lstStyle>
            <a:lvl1pPr algn="ctr" defTabSz="342900" rtl="0" eaLnBrk="1" latinLnBrk="0" hangingPunct="1">
              <a:spcBef>
                <a:spcPct val="0"/>
              </a:spcBef>
              <a:buNone/>
              <a:defRPr sz="3300" kern="1200">
                <a:solidFill>
                  <a:schemeClr val="tx1"/>
                </a:solidFill>
                <a:latin typeface="+mj-lt"/>
                <a:ea typeface="+mj-ea"/>
                <a:cs typeface="+mj-cs"/>
              </a:defRPr>
            </a:lvl1pPr>
          </a:lstStyle>
          <a:p>
            <a:r>
              <a:rPr lang="en-IN" sz="1200" dirty="0">
                <a:solidFill>
                  <a:schemeClr val="bg1"/>
                </a:solidFill>
              </a:rPr>
              <a:t>© TINITIATE.COM</a:t>
            </a:r>
            <a:endParaRPr lang="en-IN" sz="1000" dirty="0">
              <a:solidFill>
                <a:schemeClr val="bg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354CF8-2F36-E3FF-E0A6-2590FA6F267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1F46C6E-25D7-6812-CED1-C430846713DD}"/>
              </a:ext>
            </a:extLst>
          </p:cNvPr>
          <p:cNvSpPr>
            <a:spLocks noGrp="1"/>
          </p:cNvSpPr>
          <p:nvPr>
            <p:ph idx="1"/>
          </p:nvPr>
        </p:nvSpPr>
        <p:spPr>
          <a:xfrm>
            <a:off x="457200" y="874514"/>
            <a:ext cx="8229600" cy="3394472"/>
          </a:xfrm>
        </p:spPr>
        <p:txBody>
          <a:bodyPr>
            <a:noAutofit/>
          </a:bodyPr>
          <a:lstStyle/>
          <a:p>
            <a:pPr lvl="0" indent="0">
              <a:buNone/>
            </a:pPr>
            <a:r>
              <a:rPr lang="en-US" sz="1400" i="1" dirty="0">
                <a:solidFill>
                  <a:srgbClr val="8F5902"/>
                </a:solidFill>
                <a:latin typeface="Courier"/>
              </a:rPr>
              <a:t>-- Lag and Lead example</a:t>
            </a:r>
            <a:br>
              <a:rPr lang="en-US" sz="1400" dirty="0"/>
            </a:br>
            <a:r>
              <a:rPr lang="en-US" sz="1400" b="1" dirty="0">
                <a:solidFill>
                  <a:srgbClr val="204A87"/>
                </a:solidFill>
                <a:latin typeface="Courier"/>
              </a:rPr>
              <a:t>SELECT</a:t>
            </a:r>
            <a:r>
              <a:rPr lang="en-US" sz="1400" dirty="0">
                <a:latin typeface="Courier"/>
              </a:rPr>
              <a:t> </a:t>
            </a:r>
            <a:r>
              <a:rPr lang="en-US" sz="1400" dirty="0" err="1">
                <a:latin typeface="Courier"/>
              </a:rPr>
              <a:t>empno</a:t>
            </a:r>
            <a:r>
              <a:rPr lang="en-US" sz="1400" dirty="0">
                <a:latin typeface="Courier"/>
              </a:rPr>
              <a:t>, </a:t>
            </a:r>
            <a:r>
              <a:rPr lang="en-US" sz="1400" dirty="0" err="1">
                <a:latin typeface="Courier"/>
              </a:rPr>
              <a:t>sal</a:t>
            </a:r>
            <a:r>
              <a:rPr lang="en-US" sz="1400" dirty="0">
                <a:latin typeface="Courier"/>
              </a:rPr>
              <a:t>,</a:t>
            </a:r>
            <a:br>
              <a:rPr lang="en-US" sz="1400" dirty="0"/>
            </a:br>
            <a:r>
              <a:rPr lang="en-US" sz="1400" dirty="0">
                <a:latin typeface="Courier"/>
              </a:rPr>
              <a:t>       </a:t>
            </a:r>
            <a:r>
              <a:rPr lang="en-US" sz="1400" b="1" dirty="0">
                <a:solidFill>
                  <a:srgbClr val="204A87"/>
                </a:solidFill>
                <a:latin typeface="Courier"/>
              </a:rPr>
              <a:t>LEAD</a:t>
            </a:r>
            <a:r>
              <a:rPr lang="en-US" sz="1400" dirty="0">
                <a:latin typeface="Courier"/>
              </a:rPr>
              <a:t>(</a:t>
            </a:r>
            <a:r>
              <a:rPr lang="en-US" sz="1400" dirty="0" err="1">
                <a:latin typeface="Courier"/>
              </a:rPr>
              <a:t>sal</a:t>
            </a:r>
            <a:r>
              <a:rPr lang="en-US" sz="1400" dirty="0">
                <a:latin typeface="Courier"/>
              </a:rPr>
              <a:t>) </a:t>
            </a:r>
            <a:r>
              <a:rPr lang="en-US" sz="1400" b="1" dirty="0">
                <a:solidFill>
                  <a:srgbClr val="204A87"/>
                </a:solidFill>
                <a:latin typeface="Courier"/>
              </a:rPr>
              <a:t>OVER</a:t>
            </a:r>
            <a:r>
              <a:rPr lang="en-US" sz="1400" dirty="0">
                <a:latin typeface="Courier"/>
              </a:rPr>
              <a:t> (</a:t>
            </a:r>
            <a:r>
              <a:rPr lang="en-US" sz="1400" b="1" dirty="0">
                <a:solidFill>
                  <a:srgbClr val="204A87"/>
                </a:solidFill>
                <a:latin typeface="Courier"/>
              </a:rPr>
              <a:t>ORDER</a:t>
            </a:r>
            <a:r>
              <a:rPr lang="en-US" sz="1400" dirty="0">
                <a:latin typeface="Courier"/>
              </a:rPr>
              <a:t> </a:t>
            </a:r>
            <a:r>
              <a:rPr lang="en-US" sz="1400" b="1" dirty="0">
                <a:solidFill>
                  <a:srgbClr val="204A87"/>
                </a:solidFill>
                <a:latin typeface="Courier"/>
              </a:rPr>
              <a:t>BY</a:t>
            </a:r>
            <a:r>
              <a:rPr lang="en-US" sz="1400" dirty="0">
                <a:latin typeface="Courier"/>
              </a:rPr>
              <a:t> </a:t>
            </a:r>
            <a:r>
              <a:rPr lang="en-US" sz="1400" dirty="0" err="1">
                <a:latin typeface="Courier"/>
              </a:rPr>
              <a:t>sal</a:t>
            </a:r>
            <a:r>
              <a:rPr lang="en-US" sz="1400" dirty="0">
                <a:latin typeface="Courier"/>
              </a:rPr>
              <a:t>) </a:t>
            </a:r>
            <a:r>
              <a:rPr lang="en-US" sz="1400" b="1" dirty="0">
                <a:solidFill>
                  <a:srgbClr val="204A87"/>
                </a:solidFill>
                <a:latin typeface="Courier"/>
              </a:rPr>
              <a:t>AS</a:t>
            </a:r>
            <a:r>
              <a:rPr lang="en-US" sz="1400" dirty="0">
                <a:latin typeface="Courier"/>
              </a:rPr>
              <a:t> </a:t>
            </a:r>
            <a:r>
              <a:rPr lang="en-US" sz="1400" dirty="0" err="1">
                <a:latin typeface="Courier"/>
              </a:rPr>
              <a:t>next_salary</a:t>
            </a:r>
            <a:r>
              <a:rPr lang="en-US" sz="1400" dirty="0">
                <a:latin typeface="Courier"/>
              </a:rPr>
              <a:t>,</a:t>
            </a:r>
            <a:br>
              <a:rPr lang="en-US" sz="1400" dirty="0"/>
            </a:br>
            <a:r>
              <a:rPr lang="en-US" sz="1400" dirty="0">
                <a:latin typeface="Courier"/>
              </a:rPr>
              <a:t>       </a:t>
            </a:r>
            <a:r>
              <a:rPr lang="en-US" sz="1400" b="1" dirty="0">
                <a:solidFill>
                  <a:srgbClr val="204A87"/>
                </a:solidFill>
                <a:latin typeface="Courier"/>
              </a:rPr>
              <a:t>LAG</a:t>
            </a:r>
            <a:r>
              <a:rPr lang="en-US" sz="1400" dirty="0">
                <a:latin typeface="Courier"/>
              </a:rPr>
              <a:t>(</a:t>
            </a:r>
            <a:r>
              <a:rPr lang="en-US" sz="1400" dirty="0" err="1">
                <a:latin typeface="Courier"/>
              </a:rPr>
              <a:t>sal</a:t>
            </a:r>
            <a:r>
              <a:rPr lang="en-US" sz="1400" dirty="0">
                <a:latin typeface="Courier"/>
              </a:rPr>
              <a:t>) </a:t>
            </a:r>
            <a:r>
              <a:rPr lang="en-US" sz="1400" b="1" dirty="0">
                <a:solidFill>
                  <a:srgbClr val="204A87"/>
                </a:solidFill>
                <a:latin typeface="Courier"/>
              </a:rPr>
              <a:t>OVER</a:t>
            </a:r>
            <a:r>
              <a:rPr lang="en-US" sz="1400" dirty="0">
                <a:latin typeface="Courier"/>
              </a:rPr>
              <a:t> (</a:t>
            </a:r>
            <a:r>
              <a:rPr lang="en-US" sz="1400" b="1" dirty="0">
                <a:solidFill>
                  <a:srgbClr val="204A87"/>
                </a:solidFill>
                <a:latin typeface="Courier"/>
              </a:rPr>
              <a:t>ORDER</a:t>
            </a:r>
            <a:r>
              <a:rPr lang="en-US" sz="1400" dirty="0">
                <a:latin typeface="Courier"/>
              </a:rPr>
              <a:t> </a:t>
            </a:r>
            <a:r>
              <a:rPr lang="en-US" sz="1400" b="1" dirty="0">
                <a:solidFill>
                  <a:srgbClr val="204A87"/>
                </a:solidFill>
                <a:latin typeface="Courier"/>
              </a:rPr>
              <a:t>BY</a:t>
            </a:r>
            <a:r>
              <a:rPr lang="en-US" sz="1400" dirty="0">
                <a:latin typeface="Courier"/>
              </a:rPr>
              <a:t> </a:t>
            </a:r>
            <a:r>
              <a:rPr lang="en-US" sz="1400" dirty="0" err="1">
                <a:latin typeface="Courier"/>
              </a:rPr>
              <a:t>sal</a:t>
            </a:r>
            <a:r>
              <a:rPr lang="en-US" sz="1400" dirty="0">
                <a:latin typeface="Courier"/>
              </a:rPr>
              <a:t>) </a:t>
            </a:r>
            <a:r>
              <a:rPr lang="en-US" sz="1400" b="1" dirty="0">
                <a:solidFill>
                  <a:srgbClr val="204A87"/>
                </a:solidFill>
                <a:latin typeface="Courier"/>
              </a:rPr>
              <a:t>AS</a:t>
            </a:r>
            <a:r>
              <a:rPr lang="en-US" sz="1400" dirty="0">
                <a:latin typeface="Courier"/>
              </a:rPr>
              <a:t> </a:t>
            </a:r>
            <a:r>
              <a:rPr lang="en-US" sz="1400" dirty="0" err="1">
                <a:latin typeface="Courier"/>
              </a:rPr>
              <a:t>previous_salary</a:t>
            </a:r>
            <a:br>
              <a:rPr lang="en-US" sz="1400" dirty="0"/>
            </a:br>
            <a:r>
              <a:rPr lang="en-US" sz="1400" b="1" dirty="0">
                <a:solidFill>
                  <a:srgbClr val="204A87"/>
                </a:solidFill>
                <a:latin typeface="Courier"/>
              </a:rPr>
              <a:t>FROM</a:t>
            </a:r>
            <a:r>
              <a:rPr lang="en-US" sz="1400" dirty="0">
                <a:latin typeface="Courier"/>
              </a:rPr>
              <a:t> </a:t>
            </a:r>
            <a:r>
              <a:rPr lang="en-US" sz="1400" dirty="0" err="1">
                <a:latin typeface="Courier"/>
              </a:rPr>
              <a:t>employees.emp</a:t>
            </a:r>
            <a:r>
              <a:rPr lang="en-US" sz="1400" dirty="0">
                <a:latin typeface="Courier"/>
              </a:rPr>
              <a:t>;</a:t>
            </a:r>
            <a:br>
              <a:rPr lang="en-US" sz="1400" dirty="0"/>
            </a:br>
            <a:br>
              <a:rPr lang="en-US" sz="1400" dirty="0"/>
            </a:br>
            <a:r>
              <a:rPr lang="en-US" sz="1400" i="1" dirty="0">
                <a:solidFill>
                  <a:srgbClr val="8F5902"/>
                </a:solidFill>
                <a:latin typeface="Courier"/>
              </a:rPr>
              <a:t>-- Calculates the difference in salary between an employee and</a:t>
            </a:r>
            <a:br>
              <a:rPr lang="en-US" sz="1400" dirty="0"/>
            </a:br>
            <a:r>
              <a:rPr lang="en-US" sz="1400" i="1" dirty="0">
                <a:solidFill>
                  <a:srgbClr val="8F5902"/>
                </a:solidFill>
                <a:latin typeface="Courier"/>
              </a:rPr>
              <a:t>-- the next and previous employee within each department.</a:t>
            </a:r>
            <a:br>
              <a:rPr lang="en-US" sz="1400" dirty="0"/>
            </a:br>
            <a:r>
              <a:rPr lang="en-US" sz="1400" b="1" dirty="0">
                <a:solidFill>
                  <a:srgbClr val="204A87"/>
                </a:solidFill>
                <a:latin typeface="Courier"/>
              </a:rPr>
              <a:t>SELECT</a:t>
            </a:r>
            <a:r>
              <a:rPr lang="en-US" sz="1400" dirty="0">
                <a:latin typeface="Courier"/>
              </a:rPr>
              <a:t> </a:t>
            </a:r>
            <a:r>
              <a:rPr lang="en-US" sz="1400" dirty="0" err="1">
                <a:latin typeface="Courier"/>
              </a:rPr>
              <a:t>deptno</a:t>
            </a:r>
            <a:r>
              <a:rPr lang="en-US" sz="1400" dirty="0">
                <a:latin typeface="Courier"/>
              </a:rPr>
              <a:t>, </a:t>
            </a:r>
            <a:r>
              <a:rPr lang="en-US" sz="1400" dirty="0" err="1">
                <a:latin typeface="Courier"/>
              </a:rPr>
              <a:t>ename</a:t>
            </a:r>
            <a:r>
              <a:rPr lang="en-US" sz="1400" dirty="0">
                <a:latin typeface="Courier"/>
              </a:rPr>
              <a:t>, </a:t>
            </a:r>
            <a:r>
              <a:rPr lang="en-US" sz="1400" dirty="0" err="1">
                <a:latin typeface="Courier"/>
              </a:rPr>
              <a:t>sal</a:t>
            </a:r>
            <a:r>
              <a:rPr lang="en-US" sz="1400" dirty="0">
                <a:latin typeface="Courier"/>
              </a:rPr>
              <a:t>,</a:t>
            </a:r>
            <a:br>
              <a:rPr lang="en-US" sz="1400" dirty="0"/>
            </a:br>
            <a:r>
              <a:rPr lang="en-US" sz="1400" dirty="0">
                <a:latin typeface="Courier"/>
              </a:rPr>
              <a:t>       </a:t>
            </a:r>
            <a:r>
              <a:rPr lang="en-US" sz="1400" dirty="0" err="1">
                <a:latin typeface="Courier"/>
              </a:rPr>
              <a:t>sal</a:t>
            </a:r>
            <a:r>
              <a:rPr lang="en-US" sz="1400" dirty="0">
                <a:latin typeface="Courier"/>
              </a:rPr>
              <a:t> </a:t>
            </a:r>
            <a:r>
              <a:rPr lang="en-US" sz="1400" b="1" dirty="0">
                <a:solidFill>
                  <a:srgbClr val="CE5C00"/>
                </a:solidFill>
                <a:latin typeface="Courier"/>
              </a:rPr>
              <a:t>-</a:t>
            </a:r>
            <a:r>
              <a:rPr lang="en-US" sz="1400" dirty="0">
                <a:latin typeface="Courier"/>
              </a:rPr>
              <a:t> </a:t>
            </a:r>
            <a:r>
              <a:rPr lang="en-US" sz="1400" b="1" dirty="0">
                <a:solidFill>
                  <a:srgbClr val="204A87"/>
                </a:solidFill>
                <a:latin typeface="Courier"/>
              </a:rPr>
              <a:t>LAG</a:t>
            </a:r>
            <a:r>
              <a:rPr lang="en-US" sz="1400" dirty="0">
                <a:latin typeface="Courier"/>
              </a:rPr>
              <a:t>(</a:t>
            </a:r>
            <a:r>
              <a:rPr lang="en-US" sz="1400" dirty="0" err="1">
                <a:latin typeface="Courier"/>
              </a:rPr>
              <a:t>sal</a:t>
            </a:r>
            <a:r>
              <a:rPr lang="en-US" sz="1400" dirty="0">
                <a:latin typeface="Courier"/>
              </a:rPr>
              <a:t>) </a:t>
            </a:r>
            <a:r>
              <a:rPr lang="en-US" sz="1400" b="1" dirty="0">
                <a:solidFill>
                  <a:srgbClr val="204A87"/>
                </a:solidFill>
                <a:latin typeface="Courier"/>
              </a:rPr>
              <a:t>OVER</a:t>
            </a:r>
            <a:r>
              <a:rPr lang="en-US" sz="1400" dirty="0">
                <a:latin typeface="Courier"/>
              </a:rPr>
              <a:t> (</a:t>
            </a:r>
            <a:r>
              <a:rPr lang="en-US" sz="1400" b="1" dirty="0">
                <a:solidFill>
                  <a:srgbClr val="204A87"/>
                </a:solidFill>
                <a:latin typeface="Courier"/>
              </a:rPr>
              <a:t>PARTITION</a:t>
            </a:r>
            <a:r>
              <a:rPr lang="en-US" sz="1400" dirty="0">
                <a:latin typeface="Courier"/>
              </a:rPr>
              <a:t> </a:t>
            </a:r>
            <a:r>
              <a:rPr lang="en-US" sz="1400" b="1" dirty="0">
                <a:solidFill>
                  <a:srgbClr val="204A87"/>
                </a:solidFill>
                <a:latin typeface="Courier"/>
              </a:rPr>
              <a:t>BY</a:t>
            </a:r>
            <a:r>
              <a:rPr lang="en-US" sz="1400" dirty="0">
                <a:latin typeface="Courier"/>
              </a:rPr>
              <a:t> </a:t>
            </a:r>
            <a:r>
              <a:rPr lang="en-US" sz="1400" dirty="0" err="1">
                <a:latin typeface="Courier"/>
              </a:rPr>
              <a:t>deptno</a:t>
            </a:r>
            <a:r>
              <a:rPr lang="en-US" sz="1400" dirty="0">
                <a:latin typeface="Courier"/>
              </a:rPr>
              <a:t> </a:t>
            </a:r>
            <a:r>
              <a:rPr lang="en-US" sz="1400" b="1" dirty="0">
                <a:solidFill>
                  <a:srgbClr val="204A87"/>
                </a:solidFill>
                <a:latin typeface="Courier"/>
              </a:rPr>
              <a:t>ORDER</a:t>
            </a:r>
            <a:r>
              <a:rPr lang="en-US" sz="1400" dirty="0">
                <a:latin typeface="Courier"/>
              </a:rPr>
              <a:t> </a:t>
            </a:r>
            <a:r>
              <a:rPr lang="en-US" sz="1400" b="1" dirty="0">
                <a:solidFill>
                  <a:srgbClr val="204A87"/>
                </a:solidFill>
                <a:latin typeface="Courier"/>
              </a:rPr>
              <a:t>BY</a:t>
            </a:r>
            <a:r>
              <a:rPr lang="en-US" sz="1400" dirty="0">
                <a:latin typeface="Courier"/>
              </a:rPr>
              <a:t> </a:t>
            </a:r>
            <a:r>
              <a:rPr lang="en-US" sz="1400" dirty="0" err="1">
                <a:latin typeface="Courier"/>
              </a:rPr>
              <a:t>sal</a:t>
            </a:r>
            <a:r>
              <a:rPr lang="en-US" sz="1400" dirty="0">
                <a:latin typeface="Courier"/>
              </a:rPr>
              <a:t>)</a:t>
            </a:r>
            <a:br>
              <a:rPr lang="en-US" sz="1400" dirty="0"/>
            </a:br>
            <a:r>
              <a:rPr lang="en-US" sz="1400" dirty="0">
                <a:latin typeface="Courier"/>
              </a:rPr>
              <a:t>        </a:t>
            </a:r>
            <a:r>
              <a:rPr lang="en-US" sz="1400" b="1" dirty="0">
                <a:solidFill>
                  <a:srgbClr val="204A87"/>
                </a:solidFill>
                <a:latin typeface="Courier"/>
              </a:rPr>
              <a:t>AS</a:t>
            </a:r>
            <a:r>
              <a:rPr lang="en-US" sz="1400" dirty="0">
                <a:latin typeface="Courier"/>
              </a:rPr>
              <a:t> </a:t>
            </a:r>
            <a:r>
              <a:rPr lang="en-US" sz="1400" dirty="0" err="1">
                <a:latin typeface="Courier"/>
              </a:rPr>
              <a:t>sal_diff_with_prev</a:t>
            </a:r>
            <a:r>
              <a:rPr lang="en-US" sz="1400" dirty="0">
                <a:latin typeface="Courier"/>
              </a:rPr>
              <a:t>,</a:t>
            </a:r>
            <a:br>
              <a:rPr lang="en-US" sz="1400" dirty="0"/>
            </a:br>
            <a:r>
              <a:rPr lang="en-US" sz="1400" dirty="0">
                <a:latin typeface="Courier"/>
              </a:rPr>
              <a:t>       </a:t>
            </a:r>
            <a:r>
              <a:rPr lang="en-US" sz="1400" b="1" dirty="0">
                <a:solidFill>
                  <a:srgbClr val="204A87"/>
                </a:solidFill>
                <a:latin typeface="Courier"/>
              </a:rPr>
              <a:t>LEAD</a:t>
            </a:r>
            <a:r>
              <a:rPr lang="en-US" sz="1400" dirty="0">
                <a:latin typeface="Courier"/>
              </a:rPr>
              <a:t>(</a:t>
            </a:r>
            <a:r>
              <a:rPr lang="en-US" sz="1400" dirty="0" err="1">
                <a:latin typeface="Courier"/>
              </a:rPr>
              <a:t>sal</a:t>
            </a:r>
            <a:r>
              <a:rPr lang="en-US" sz="1400" dirty="0">
                <a:latin typeface="Courier"/>
              </a:rPr>
              <a:t>) </a:t>
            </a:r>
            <a:r>
              <a:rPr lang="en-US" sz="1400" b="1" dirty="0">
                <a:solidFill>
                  <a:srgbClr val="204A87"/>
                </a:solidFill>
                <a:latin typeface="Courier"/>
              </a:rPr>
              <a:t>OVER</a:t>
            </a:r>
            <a:r>
              <a:rPr lang="en-US" sz="1400" dirty="0">
                <a:latin typeface="Courier"/>
              </a:rPr>
              <a:t> (</a:t>
            </a:r>
            <a:r>
              <a:rPr lang="en-US" sz="1400" b="1" dirty="0">
                <a:solidFill>
                  <a:srgbClr val="204A87"/>
                </a:solidFill>
                <a:latin typeface="Courier"/>
              </a:rPr>
              <a:t>PARTITION</a:t>
            </a:r>
            <a:r>
              <a:rPr lang="en-US" sz="1400" dirty="0">
                <a:latin typeface="Courier"/>
              </a:rPr>
              <a:t> </a:t>
            </a:r>
            <a:r>
              <a:rPr lang="en-US" sz="1400" b="1" dirty="0">
                <a:solidFill>
                  <a:srgbClr val="204A87"/>
                </a:solidFill>
                <a:latin typeface="Courier"/>
              </a:rPr>
              <a:t>BY</a:t>
            </a:r>
            <a:r>
              <a:rPr lang="en-US" sz="1400" dirty="0">
                <a:latin typeface="Courier"/>
              </a:rPr>
              <a:t> </a:t>
            </a:r>
            <a:r>
              <a:rPr lang="en-US" sz="1400" dirty="0" err="1">
                <a:latin typeface="Courier"/>
              </a:rPr>
              <a:t>deptno</a:t>
            </a:r>
            <a:r>
              <a:rPr lang="en-US" sz="1400" dirty="0">
                <a:latin typeface="Courier"/>
              </a:rPr>
              <a:t> </a:t>
            </a:r>
            <a:r>
              <a:rPr lang="en-US" sz="1400" b="1" dirty="0">
                <a:solidFill>
                  <a:srgbClr val="204A87"/>
                </a:solidFill>
                <a:latin typeface="Courier"/>
              </a:rPr>
              <a:t>ORDER</a:t>
            </a:r>
            <a:r>
              <a:rPr lang="en-US" sz="1400" dirty="0">
                <a:latin typeface="Courier"/>
              </a:rPr>
              <a:t> </a:t>
            </a:r>
            <a:r>
              <a:rPr lang="en-US" sz="1400" b="1" dirty="0">
                <a:solidFill>
                  <a:srgbClr val="204A87"/>
                </a:solidFill>
                <a:latin typeface="Courier"/>
              </a:rPr>
              <a:t>BY</a:t>
            </a:r>
            <a:r>
              <a:rPr lang="en-US" sz="1400" dirty="0">
                <a:latin typeface="Courier"/>
              </a:rPr>
              <a:t> </a:t>
            </a:r>
            <a:r>
              <a:rPr lang="en-US" sz="1400" dirty="0" err="1">
                <a:latin typeface="Courier"/>
              </a:rPr>
              <a:t>sal</a:t>
            </a:r>
            <a:r>
              <a:rPr lang="en-US" sz="1400" dirty="0">
                <a:latin typeface="Courier"/>
              </a:rPr>
              <a:t>) </a:t>
            </a:r>
            <a:r>
              <a:rPr lang="en-US" sz="1400" b="1" dirty="0">
                <a:solidFill>
                  <a:srgbClr val="CE5C00"/>
                </a:solidFill>
                <a:latin typeface="Courier"/>
              </a:rPr>
              <a:t>-</a:t>
            </a:r>
            <a:r>
              <a:rPr lang="en-US" sz="1400" dirty="0">
                <a:latin typeface="Courier"/>
              </a:rPr>
              <a:t> </a:t>
            </a:r>
            <a:r>
              <a:rPr lang="en-US" sz="1400" dirty="0" err="1">
                <a:latin typeface="Courier"/>
              </a:rPr>
              <a:t>sal</a:t>
            </a:r>
            <a:br>
              <a:rPr lang="en-US" sz="1400" dirty="0"/>
            </a:br>
            <a:r>
              <a:rPr lang="en-US" sz="1400" dirty="0">
                <a:latin typeface="Courier"/>
              </a:rPr>
              <a:t>        </a:t>
            </a:r>
            <a:r>
              <a:rPr lang="en-US" sz="1400" b="1" dirty="0">
                <a:solidFill>
                  <a:srgbClr val="204A87"/>
                </a:solidFill>
                <a:latin typeface="Courier"/>
              </a:rPr>
              <a:t>AS</a:t>
            </a:r>
            <a:r>
              <a:rPr lang="en-US" sz="1400" dirty="0">
                <a:latin typeface="Courier"/>
              </a:rPr>
              <a:t> </a:t>
            </a:r>
            <a:r>
              <a:rPr lang="en-US" sz="1400" dirty="0" err="1">
                <a:latin typeface="Courier"/>
              </a:rPr>
              <a:t>sal_diff_with_next</a:t>
            </a:r>
            <a:br>
              <a:rPr lang="en-US" sz="1400" dirty="0"/>
            </a:br>
            <a:r>
              <a:rPr lang="en-US" sz="1400" b="1" dirty="0">
                <a:solidFill>
                  <a:srgbClr val="204A87"/>
                </a:solidFill>
                <a:latin typeface="Courier"/>
              </a:rPr>
              <a:t>FROM</a:t>
            </a:r>
            <a:r>
              <a:rPr lang="en-US" sz="1400" dirty="0">
                <a:latin typeface="Courier"/>
              </a:rPr>
              <a:t> </a:t>
            </a:r>
            <a:r>
              <a:rPr lang="en-US" sz="1400" dirty="0" err="1">
                <a:latin typeface="Courier"/>
              </a:rPr>
              <a:t>employees.emp</a:t>
            </a:r>
            <a:r>
              <a:rPr lang="en-US" sz="1400" dirty="0">
                <a:latin typeface="Courier"/>
              </a:rPr>
              <a:t>;</a:t>
            </a:r>
            <a:endParaRPr sz="1400" dirty="0">
              <a:latin typeface="Courier"/>
            </a:endParaRPr>
          </a:p>
        </p:txBody>
      </p:sp>
      <p:sp>
        <p:nvSpPr>
          <p:cNvPr id="4" name="Title 1">
            <a:extLst>
              <a:ext uri="{FF2B5EF4-FFF2-40B4-BE49-F238E27FC236}">
                <a16:creationId xmlns:a16="http://schemas.microsoft.com/office/drawing/2014/main" id="{7C36B148-9F13-E2CD-DFF3-19743281DAD4}"/>
              </a:ext>
            </a:extLst>
          </p:cNvPr>
          <p:cNvSpPr txBox="1">
            <a:spLocks/>
          </p:cNvSpPr>
          <p:nvPr/>
        </p:nvSpPr>
        <p:spPr>
          <a:xfrm>
            <a:off x="0" y="1"/>
            <a:ext cx="9144000" cy="548876"/>
          </a:xfrm>
          <a:prstGeom prst="rect">
            <a:avLst/>
          </a:prstGeom>
          <a:solidFill>
            <a:schemeClr val="tx1"/>
          </a:solidFill>
        </p:spPr>
        <p:txBody>
          <a:bodyPr vert="horz" lIns="91440" tIns="45720" rIns="91440" bIns="45720" rtlCol="0" anchor="ctr">
            <a:normAutofit/>
          </a:bodyPr>
          <a:lstStyle>
            <a:lvl1pPr algn="ctr" defTabSz="342900" rtl="0" eaLnBrk="1" latinLnBrk="0" hangingPunct="1">
              <a:spcBef>
                <a:spcPct val="0"/>
              </a:spcBef>
              <a:buNone/>
              <a:defRPr sz="3300" kern="1200">
                <a:solidFill>
                  <a:schemeClr val="tx1"/>
                </a:solidFill>
                <a:latin typeface="+mj-lt"/>
                <a:ea typeface="+mj-ea"/>
                <a:cs typeface="+mj-cs"/>
              </a:defRPr>
            </a:lvl1pPr>
          </a:lstStyle>
          <a:p>
            <a:pPr algn="l"/>
            <a:r>
              <a:rPr lang="en-IN" sz="2800" dirty="0">
                <a:solidFill>
                  <a:schemeClr val="bg1"/>
                </a:solidFill>
              </a:rPr>
              <a:t>LEAD():</a:t>
            </a:r>
          </a:p>
        </p:txBody>
      </p:sp>
      <p:pic>
        <p:nvPicPr>
          <p:cNvPr id="5" name="Picture 4">
            <a:extLst>
              <a:ext uri="{FF2B5EF4-FFF2-40B4-BE49-F238E27FC236}">
                <a16:creationId xmlns:a16="http://schemas.microsoft.com/office/drawing/2014/main" id="{8E2DF43F-CE0A-3417-EA52-13F549461E85}"/>
              </a:ext>
            </a:extLst>
          </p:cNvPr>
          <p:cNvPicPr>
            <a:picLocks noChangeAspect="1"/>
          </p:cNvPicPr>
          <p:nvPr/>
        </p:nvPicPr>
        <p:blipFill>
          <a:blip r:embed="rId2"/>
          <a:stretch>
            <a:fillRect/>
          </a:stretch>
        </p:blipFill>
        <p:spPr>
          <a:xfrm>
            <a:off x="5763675" y="51792"/>
            <a:ext cx="3380325" cy="445294"/>
          </a:xfrm>
          <a:prstGeom prst="rect">
            <a:avLst/>
          </a:prstGeom>
        </p:spPr>
      </p:pic>
      <p:sp>
        <p:nvSpPr>
          <p:cNvPr id="6" name="Title 1">
            <a:extLst>
              <a:ext uri="{FF2B5EF4-FFF2-40B4-BE49-F238E27FC236}">
                <a16:creationId xmlns:a16="http://schemas.microsoft.com/office/drawing/2014/main" id="{7A1A15E9-2AB2-1A1A-365E-E4371EC46E3E}"/>
              </a:ext>
            </a:extLst>
          </p:cNvPr>
          <p:cNvSpPr txBox="1">
            <a:spLocks/>
          </p:cNvSpPr>
          <p:nvPr/>
        </p:nvSpPr>
        <p:spPr>
          <a:xfrm>
            <a:off x="0" y="4858718"/>
            <a:ext cx="9144000" cy="284781"/>
          </a:xfrm>
          <a:prstGeom prst="rect">
            <a:avLst/>
          </a:prstGeom>
          <a:solidFill>
            <a:schemeClr val="tx1"/>
          </a:solidFill>
        </p:spPr>
        <p:txBody>
          <a:bodyPr vert="horz" lIns="91440" tIns="45720" rIns="91440" bIns="45720" rtlCol="0" anchor="ctr">
            <a:normAutofit/>
          </a:bodyPr>
          <a:lstStyle>
            <a:lvl1pPr algn="ctr" defTabSz="342900" rtl="0" eaLnBrk="1" latinLnBrk="0" hangingPunct="1">
              <a:spcBef>
                <a:spcPct val="0"/>
              </a:spcBef>
              <a:buNone/>
              <a:defRPr sz="3300" kern="1200">
                <a:solidFill>
                  <a:schemeClr val="tx1"/>
                </a:solidFill>
                <a:latin typeface="+mj-lt"/>
                <a:ea typeface="+mj-ea"/>
                <a:cs typeface="+mj-cs"/>
              </a:defRPr>
            </a:lvl1pPr>
          </a:lstStyle>
          <a:p>
            <a:r>
              <a:rPr lang="en-IN" sz="1200" dirty="0">
                <a:solidFill>
                  <a:schemeClr val="bg1"/>
                </a:solidFill>
              </a:rPr>
              <a:t>© TINITIATE.COM</a:t>
            </a:r>
            <a:endParaRPr lang="en-IN" sz="1000" dirty="0">
              <a:solidFill>
                <a:schemeClr val="bg1"/>
              </a:solidFill>
            </a:endParaRPr>
          </a:p>
        </p:txBody>
      </p:sp>
    </p:spTree>
    <p:extLst>
      <p:ext uri="{BB962C8B-B14F-4D97-AF65-F5344CB8AC3E}">
        <p14:creationId xmlns:p14="http://schemas.microsoft.com/office/powerpoint/2010/main" val="41342422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74514"/>
            <a:ext cx="8229600" cy="3394472"/>
          </a:xfrm>
        </p:spPr>
        <p:txBody>
          <a:bodyPr>
            <a:noAutofit/>
          </a:bodyPr>
          <a:lstStyle/>
          <a:p>
            <a:pPr lvl="0"/>
            <a:r>
              <a:rPr sz="1800" dirty="0"/>
              <a:t>Returns the first value in an ordered set of values.</a:t>
            </a:r>
          </a:p>
          <a:p>
            <a:pPr lvl="0" indent="0">
              <a:buNone/>
            </a:pPr>
            <a:r>
              <a:rPr sz="1400" i="1" dirty="0">
                <a:solidFill>
                  <a:srgbClr val="8F5902"/>
                </a:solidFill>
                <a:latin typeface="Courier"/>
              </a:rPr>
              <a:t>-- Retrieves employee names and salaries, along with</a:t>
            </a:r>
            <a:br>
              <a:rPr sz="1400" dirty="0"/>
            </a:br>
            <a:r>
              <a:rPr sz="1400" i="1" dirty="0">
                <a:solidFill>
                  <a:srgbClr val="8F5902"/>
                </a:solidFill>
                <a:latin typeface="Courier"/>
              </a:rPr>
              <a:t>-- the first salary in the sorted order.</a:t>
            </a:r>
            <a:br>
              <a:rPr sz="1400" dirty="0"/>
            </a:br>
            <a:r>
              <a:rPr sz="1400" b="1" dirty="0">
                <a:solidFill>
                  <a:srgbClr val="204A87"/>
                </a:solidFill>
                <a:latin typeface="Courier"/>
              </a:rPr>
              <a:t>SELECT</a:t>
            </a:r>
            <a:r>
              <a:rPr sz="1400" dirty="0">
                <a:latin typeface="Courier"/>
              </a:rPr>
              <a:t> </a:t>
            </a:r>
            <a:r>
              <a:rPr sz="1400" dirty="0" err="1">
                <a:latin typeface="Courier"/>
              </a:rPr>
              <a:t>ename</a:t>
            </a:r>
            <a:r>
              <a:rPr sz="1400" dirty="0">
                <a:latin typeface="Courier"/>
              </a:rPr>
              <a:t>, </a:t>
            </a:r>
            <a:r>
              <a:rPr sz="1400" dirty="0" err="1">
                <a:latin typeface="Courier"/>
              </a:rPr>
              <a:t>sal</a:t>
            </a:r>
            <a:r>
              <a:rPr sz="1400" dirty="0">
                <a:latin typeface="Courier"/>
              </a:rPr>
              <a:t>,</a:t>
            </a:r>
            <a:br>
              <a:rPr sz="1400" dirty="0"/>
            </a:br>
            <a:r>
              <a:rPr sz="1400" dirty="0">
                <a:latin typeface="Courier"/>
              </a:rPr>
              <a:t>       </a:t>
            </a:r>
            <a:r>
              <a:rPr sz="1400" b="1" dirty="0">
                <a:solidFill>
                  <a:srgbClr val="204A87"/>
                </a:solidFill>
                <a:latin typeface="Courier"/>
              </a:rPr>
              <a:t>FIRST_VALUE</a:t>
            </a:r>
            <a:r>
              <a:rPr sz="1400" dirty="0">
                <a:latin typeface="Courier"/>
              </a:rPr>
              <a:t>(</a:t>
            </a:r>
            <a:r>
              <a:rPr sz="1400" dirty="0" err="1">
                <a:latin typeface="Courier"/>
              </a:rPr>
              <a:t>sal</a:t>
            </a:r>
            <a:r>
              <a:rPr sz="1400" dirty="0">
                <a:latin typeface="Courier"/>
              </a:rPr>
              <a:t>) </a:t>
            </a:r>
            <a:r>
              <a:rPr sz="1400" b="1" dirty="0">
                <a:solidFill>
                  <a:srgbClr val="204A87"/>
                </a:solidFill>
                <a:latin typeface="Courier"/>
              </a:rPr>
              <a:t>OVER</a:t>
            </a:r>
            <a:r>
              <a:rPr sz="1400" dirty="0">
                <a:latin typeface="Courier"/>
              </a:rPr>
              <a:t> (</a:t>
            </a:r>
            <a:r>
              <a:rPr sz="1400" b="1" dirty="0">
                <a:solidFill>
                  <a:srgbClr val="204A87"/>
                </a:solidFill>
                <a:latin typeface="Courier"/>
              </a:rPr>
              <a:t>ORDER</a:t>
            </a:r>
            <a:r>
              <a:rPr sz="1400" dirty="0">
                <a:latin typeface="Courier"/>
              </a:rPr>
              <a:t> </a:t>
            </a:r>
            <a:r>
              <a:rPr sz="1400" b="1" dirty="0">
                <a:solidFill>
                  <a:srgbClr val="204A87"/>
                </a:solidFill>
                <a:latin typeface="Courier"/>
              </a:rPr>
              <a:t>BY</a:t>
            </a:r>
            <a:r>
              <a:rPr sz="1400" dirty="0">
                <a:latin typeface="Courier"/>
              </a:rPr>
              <a:t> </a:t>
            </a:r>
            <a:r>
              <a:rPr sz="1400" dirty="0" err="1">
                <a:latin typeface="Courier"/>
              </a:rPr>
              <a:t>sal</a:t>
            </a:r>
            <a:r>
              <a:rPr sz="1400" dirty="0">
                <a:latin typeface="Courier"/>
              </a:rPr>
              <a:t>) </a:t>
            </a:r>
            <a:r>
              <a:rPr sz="1400" b="1" dirty="0">
                <a:solidFill>
                  <a:srgbClr val="204A87"/>
                </a:solidFill>
                <a:latin typeface="Courier"/>
              </a:rPr>
              <a:t>AS</a:t>
            </a:r>
            <a:r>
              <a:rPr sz="1400" dirty="0">
                <a:latin typeface="Courier"/>
              </a:rPr>
              <a:t> </a:t>
            </a:r>
            <a:r>
              <a:rPr sz="1400" dirty="0" err="1">
                <a:latin typeface="Courier"/>
              </a:rPr>
              <a:t>first_sal</a:t>
            </a:r>
            <a:br>
              <a:rPr sz="1400" dirty="0"/>
            </a:br>
            <a:r>
              <a:rPr sz="1400" b="1" dirty="0">
                <a:solidFill>
                  <a:srgbClr val="204A87"/>
                </a:solidFill>
                <a:latin typeface="Courier"/>
              </a:rPr>
              <a:t>FROM</a:t>
            </a:r>
            <a:r>
              <a:rPr sz="1400" dirty="0">
                <a:latin typeface="Courier"/>
              </a:rPr>
              <a:t> </a:t>
            </a:r>
            <a:r>
              <a:rPr sz="1400" dirty="0" err="1">
                <a:latin typeface="Courier"/>
              </a:rPr>
              <a:t>employees.emp</a:t>
            </a:r>
            <a:br>
              <a:rPr sz="1400" dirty="0"/>
            </a:br>
            <a:r>
              <a:rPr sz="1400" b="1" dirty="0">
                <a:solidFill>
                  <a:srgbClr val="204A87"/>
                </a:solidFill>
                <a:latin typeface="Courier"/>
              </a:rPr>
              <a:t>WHERE</a:t>
            </a:r>
            <a:r>
              <a:rPr sz="1400" dirty="0">
                <a:latin typeface="Courier"/>
              </a:rPr>
              <a:t> </a:t>
            </a:r>
            <a:r>
              <a:rPr sz="1400" dirty="0" err="1">
                <a:latin typeface="Courier"/>
              </a:rPr>
              <a:t>sal</a:t>
            </a:r>
            <a:r>
              <a:rPr sz="1400" dirty="0">
                <a:latin typeface="Courier"/>
              </a:rPr>
              <a:t> </a:t>
            </a:r>
            <a:r>
              <a:rPr sz="1400" b="1" dirty="0">
                <a:solidFill>
                  <a:srgbClr val="204A87"/>
                </a:solidFill>
                <a:latin typeface="Courier"/>
              </a:rPr>
              <a:t>IS</a:t>
            </a:r>
            <a:r>
              <a:rPr sz="1400" dirty="0">
                <a:latin typeface="Courier"/>
              </a:rPr>
              <a:t> </a:t>
            </a:r>
            <a:r>
              <a:rPr sz="1400" b="1" dirty="0">
                <a:solidFill>
                  <a:srgbClr val="204A87"/>
                </a:solidFill>
                <a:latin typeface="Courier"/>
              </a:rPr>
              <a:t>NOT</a:t>
            </a:r>
            <a:r>
              <a:rPr sz="1400" dirty="0">
                <a:latin typeface="Courier"/>
              </a:rPr>
              <a:t> </a:t>
            </a:r>
            <a:r>
              <a:rPr sz="1400" b="1" dirty="0">
                <a:solidFill>
                  <a:srgbClr val="204A87"/>
                </a:solidFill>
                <a:latin typeface="Courier"/>
              </a:rPr>
              <a:t>NULL</a:t>
            </a:r>
            <a:r>
              <a:rPr sz="1400" dirty="0">
                <a:latin typeface="Courier"/>
              </a:rPr>
              <a:t>;</a:t>
            </a:r>
            <a:br>
              <a:rPr sz="1400" dirty="0"/>
            </a:br>
            <a:br>
              <a:rPr sz="1400" dirty="0"/>
            </a:br>
            <a:r>
              <a:rPr sz="1400" i="1" dirty="0">
                <a:solidFill>
                  <a:srgbClr val="8F5902"/>
                </a:solidFill>
                <a:latin typeface="Courier"/>
              </a:rPr>
              <a:t>-- Finds the first salary for each department and</a:t>
            </a:r>
            <a:br>
              <a:rPr sz="1400" dirty="0"/>
            </a:br>
            <a:r>
              <a:rPr sz="1400" i="1" dirty="0">
                <a:solidFill>
                  <a:srgbClr val="8F5902"/>
                </a:solidFill>
                <a:latin typeface="Courier"/>
              </a:rPr>
              <a:t>-- compares it with each employee's salary.</a:t>
            </a:r>
            <a:br>
              <a:rPr sz="1400" dirty="0"/>
            </a:br>
            <a:r>
              <a:rPr sz="1400" b="1" dirty="0">
                <a:solidFill>
                  <a:srgbClr val="204A87"/>
                </a:solidFill>
                <a:latin typeface="Courier"/>
              </a:rPr>
              <a:t>SELECT</a:t>
            </a:r>
            <a:r>
              <a:rPr sz="1400" dirty="0">
                <a:latin typeface="Courier"/>
              </a:rPr>
              <a:t> </a:t>
            </a:r>
            <a:r>
              <a:rPr sz="1400" dirty="0" err="1">
                <a:latin typeface="Courier"/>
              </a:rPr>
              <a:t>empno</a:t>
            </a:r>
            <a:r>
              <a:rPr sz="1400" dirty="0">
                <a:latin typeface="Courier"/>
              </a:rPr>
              <a:t>, </a:t>
            </a:r>
            <a:r>
              <a:rPr sz="1400" dirty="0" err="1">
                <a:latin typeface="Courier"/>
              </a:rPr>
              <a:t>ename</a:t>
            </a:r>
            <a:r>
              <a:rPr sz="1400" dirty="0">
                <a:latin typeface="Courier"/>
              </a:rPr>
              <a:t>, </a:t>
            </a:r>
            <a:r>
              <a:rPr sz="1400" dirty="0" err="1">
                <a:latin typeface="Courier"/>
              </a:rPr>
              <a:t>deptno</a:t>
            </a:r>
            <a:r>
              <a:rPr sz="1400" dirty="0">
                <a:latin typeface="Courier"/>
              </a:rPr>
              <a:t>, </a:t>
            </a:r>
            <a:r>
              <a:rPr sz="1400" dirty="0" err="1">
                <a:latin typeface="Courier"/>
              </a:rPr>
              <a:t>sal</a:t>
            </a:r>
            <a:r>
              <a:rPr sz="1400" dirty="0">
                <a:latin typeface="Courier"/>
              </a:rPr>
              <a:t>,</a:t>
            </a:r>
            <a:br>
              <a:rPr sz="1400" dirty="0"/>
            </a:br>
            <a:r>
              <a:rPr sz="1400" dirty="0">
                <a:latin typeface="Courier"/>
              </a:rPr>
              <a:t>       </a:t>
            </a:r>
            <a:r>
              <a:rPr sz="1400" dirty="0" err="1">
                <a:latin typeface="Courier"/>
              </a:rPr>
              <a:t>sal</a:t>
            </a:r>
            <a:r>
              <a:rPr sz="1400" dirty="0">
                <a:latin typeface="Courier"/>
              </a:rPr>
              <a:t> </a:t>
            </a:r>
            <a:r>
              <a:rPr sz="1400" b="1" dirty="0">
                <a:solidFill>
                  <a:srgbClr val="CE5C00"/>
                </a:solidFill>
                <a:latin typeface="Courier"/>
              </a:rPr>
              <a:t>-</a:t>
            </a:r>
            <a:r>
              <a:rPr sz="1400" dirty="0">
                <a:latin typeface="Courier"/>
              </a:rPr>
              <a:t> </a:t>
            </a:r>
            <a:r>
              <a:rPr sz="1400" b="1" dirty="0">
                <a:solidFill>
                  <a:srgbClr val="204A87"/>
                </a:solidFill>
                <a:latin typeface="Courier"/>
              </a:rPr>
              <a:t>FIRST_VALUE</a:t>
            </a:r>
            <a:r>
              <a:rPr sz="1400" dirty="0">
                <a:latin typeface="Courier"/>
              </a:rPr>
              <a:t>(</a:t>
            </a:r>
            <a:r>
              <a:rPr sz="1400" dirty="0" err="1">
                <a:latin typeface="Courier"/>
              </a:rPr>
              <a:t>sal</a:t>
            </a:r>
            <a:r>
              <a:rPr sz="1400" dirty="0">
                <a:latin typeface="Courier"/>
              </a:rPr>
              <a:t>) </a:t>
            </a:r>
            <a:r>
              <a:rPr sz="1400" b="1" dirty="0">
                <a:solidFill>
                  <a:srgbClr val="204A87"/>
                </a:solidFill>
                <a:latin typeface="Courier"/>
              </a:rPr>
              <a:t>OVER</a:t>
            </a:r>
            <a:r>
              <a:rPr sz="1400" dirty="0">
                <a:latin typeface="Courier"/>
              </a:rPr>
              <a:t> (</a:t>
            </a:r>
            <a:r>
              <a:rPr sz="1400" b="1" dirty="0">
                <a:solidFill>
                  <a:srgbClr val="204A87"/>
                </a:solidFill>
                <a:latin typeface="Courier"/>
              </a:rPr>
              <a:t>PARTITION</a:t>
            </a:r>
            <a:r>
              <a:rPr sz="1400" dirty="0">
                <a:latin typeface="Courier"/>
              </a:rPr>
              <a:t> </a:t>
            </a:r>
            <a:r>
              <a:rPr sz="1400" b="1" dirty="0">
                <a:solidFill>
                  <a:srgbClr val="204A87"/>
                </a:solidFill>
                <a:latin typeface="Courier"/>
              </a:rPr>
              <a:t>BY</a:t>
            </a:r>
            <a:r>
              <a:rPr sz="1400" dirty="0">
                <a:latin typeface="Courier"/>
              </a:rPr>
              <a:t> </a:t>
            </a:r>
            <a:r>
              <a:rPr sz="1400" dirty="0" err="1">
                <a:latin typeface="Courier"/>
              </a:rPr>
              <a:t>deptno</a:t>
            </a:r>
            <a:r>
              <a:rPr sz="1400" dirty="0">
                <a:latin typeface="Courier"/>
              </a:rPr>
              <a:t> </a:t>
            </a:r>
            <a:r>
              <a:rPr sz="1400" b="1" dirty="0">
                <a:solidFill>
                  <a:srgbClr val="204A87"/>
                </a:solidFill>
                <a:latin typeface="Courier"/>
              </a:rPr>
              <a:t>ORDER</a:t>
            </a:r>
            <a:r>
              <a:rPr sz="1400" dirty="0">
                <a:latin typeface="Courier"/>
              </a:rPr>
              <a:t> </a:t>
            </a:r>
            <a:r>
              <a:rPr sz="1400" b="1" dirty="0">
                <a:solidFill>
                  <a:srgbClr val="204A87"/>
                </a:solidFill>
                <a:latin typeface="Courier"/>
              </a:rPr>
              <a:t>BY</a:t>
            </a:r>
            <a:r>
              <a:rPr sz="1400" dirty="0">
                <a:latin typeface="Courier"/>
              </a:rPr>
              <a:t> </a:t>
            </a:r>
            <a:r>
              <a:rPr sz="1400" dirty="0" err="1">
                <a:latin typeface="Courier"/>
              </a:rPr>
              <a:t>hiredate</a:t>
            </a:r>
            <a:r>
              <a:rPr sz="1400" dirty="0">
                <a:latin typeface="Courier"/>
              </a:rPr>
              <a:t>)</a:t>
            </a:r>
            <a:br>
              <a:rPr sz="1400" dirty="0"/>
            </a:br>
            <a:r>
              <a:rPr sz="1400" dirty="0">
                <a:latin typeface="Courier"/>
              </a:rPr>
              <a:t>        </a:t>
            </a:r>
            <a:r>
              <a:rPr sz="1400" b="1" dirty="0">
                <a:solidFill>
                  <a:srgbClr val="204A87"/>
                </a:solidFill>
                <a:latin typeface="Courier"/>
              </a:rPr>
              <a:t>AS</a:t>
            </a:r>
            <a:r>
              <a:rPr sz="1400" dirty="0">
                <a:latin typeface="Courier"/>
              </a:rPr>
              <a:t> </a:t>
            </a:r>
            <a:r>
              <a:rPr sz="1400" dirty="0" err="1">
                <a:latin typeface="Courier"/>
              </a:rPr>
              <a:t>sal_diff_with_first</a:t>
            </a:r>
            <a:br>
              <a:rPr sz="1400" dirty="0"/>
            </a:br>
            <a:r>
              <a:rPr sz="1400" b="1" dirty="0">
                <a:solidFill>
                  <a:srgbClr val="204A87"/>
                </a:solidFill>
                <a:latin typeface="Courier"/>
              </a:rPr>
              <a:t>FROM</a:t>
            </a:r>
            <a:r>
              <a:rPr sz="1400" dirty="0">
                <a:latin typeface="Courier"/>
              </a:rPr>
              <a:t> </a:t>
            </a:r>
            <a:r>
              <a:rPr sz="1400" dirty="0" err="1">
                <a:latin typeface="Courier"/>
              </a:rPr>
              <a:t>employees.emp</a:t>
            </a:r>
            <a:r>
              <a:rPr sz="1400" dirty="0">
                <a:latin typeface="Courier"/>
              </a:rPr>
              <a:t>;</a:t>
            </a:r>
          </a:p>
        </p:txBody>
      </p:sp>
      <p:sp>
        <p:nvSpPr>
          <p:cNvPr id="4" name="Title 1">
            <a:extLst>
              <a:ext uri="{FF2B5EF4-FFF2-40B4-BE49-F238E27FC236}">
                <a16:creationId xmlns:a16="http://schemas.microsoft.com/office/drawing/2014/main" id="{D2C25DB3-79EF-C5FE-B58F-63FA53EA14C5}"/>
              </a:ext>
            </a:extLst>
          </p:cNvPr>
          <p:cNvSpPr txBox="1">
            <a:spLocks/>
          </p:cNvSpPr>
          <p:nvPr/>
        </p:nvSpPr>
        <p:spPr>
          <a:xfrm>
            <a:off x="0" y="1"/>
            <a:ext cx="9144000" cy="548876"/>
          </a:xfrm>
          <a:prstGeom prst="rect">
            <a:avLst/>
          </a:prstGeom>
          <a:solidFill>
            <a:schemeClr val="tx1"/>
          </a:solidFill>
        </p:spPr>
        <p:txBody>
          <a:bodyPr vert="horz" lIns="91440" tIns="45720" rIns="91440" bIns="45720" rtlCol="0" anchor="ctr">
            <a:normAutofit/>
          </a:bodyPr>
          <a:lstStyle>
            <a:lvl1pPr algn="ctr" defTabSz="342900" rtl="0" eaLnBrk="1" latinLnBrk="0" hangingPunct="1">
              <a:spcBef>
                <a:spcPct val="0"/>
              </a:spcBef>
              <a:buNone/>
              <a:defRPr sz="3300" kern="1200">
                <a:solidFill>
                  <a:schemeClr val="tx1"/>
                </a:solidFill>
                <a:latin typeface="+mj-lt"/>
                <a:ea typeface="+mj-ea"/>
                <a:cs typeface="+mj-cs"/>
              </a:defRPr>
            </a:lvl1pPr>
          </a:lstStyle>
          <a:p>
            <a:pPr algn="l"/>
            <a:r>
              <a:rPr lang="en-IN" sz="2800" dirty="0">
                <a:solidFill>
                  <a:schemeClr val="bg1"/>
                </a:solidFill>
              </a:rPr>
              <a:t>FIRST_VALUE():</a:t>
            </a:r>
          </a:p>
        </p:txBody>
      </p:sp>
      <p:pic>
        <p:nvPicPr>
          <p:cNvPr id="5" name="Picture 4">
            <a:extLst>
              <a:ext uri="{FF2B5EF4-FFF2-40B4-BE49-F238E27FC236}">
                <a16:creationId xmlns:a16="http://schemas.microsoft.com/office/drawing/2014/main" id="{79F5BB98-641F-7C67-4E66-5A61E9BD3F68}"/>
              </a:ext>
            </a:extLst>
          </p:cNvPr>
          <p:cNvPicPr>
            <a:picLocks noChangeAspect="1"/>
          </p:cNvPicPr>
          <p:nvPr/>
        </p:nvPicPr>
        <p:blipFill>
          <a:blip r:embed="rId2"/>
          <a:stretch>
            <a:fillRect/>
          </a:stretch>
        </p:blipFill>
        <p:spPr>
          <a:xfrm>
            <a:off x="5763675" y="51792"/>
            <a:ext cx="3380325" cy="445294"/>
          </a:xfrm>
          <a:prstGeom prst="rect">
            <a:avLst/>
          </a:prstGeom>
        </p:spPr>
      </p:pic>
      <p:sp>
        <p:nvSpPr>
          <p:cNvPr id="6" name="Title 1">
            <a:extLst>
              <a:ext uri="{FF2B5EF4-FFF2-40B4-BE49-F238E27FC236}">
                <a16:creationId xmlns:a16="http://schemas.microsoft.com/office/drawing/2014/main" id="{0B154BC6-3EB8-6A3B-3797-9DD5B66DA884}"/>
              </a:ext>
            </a:extLst>
          </p:cNvPr>
          <p:cNvSpPr txBox="1">
            <a:spLocks/>
          </p:cNvSpPr>
          <p:nvPr/>
        </p:nvSpPr>
        <p:spPr>
          <a:xfrm>
            <a:off x="0" y="4858718"/>
            <a:ext cx="9144000" cy="284781"/>
          </a:xfrm>
          <a:prstGeom prst="rect">
            <a:avLst/>
          </a:prstGeom>
          <a:solidFill>
            <a:schemeClr val="tx1"/>
          </a:solidFill>
        </p:spPr>
        <p:txBody>
          <a:bodyPr vert="horz" lIns="91440" tIns="45720" rIns="91440" bIns="45720" rtlCol="0" anchor="ctr">
            <a:normAutofit/>
          </a:bodyPr>
          <a:lstStyle>
            <a:lvl1pPr algn="ctr" defTabSz="342900" rtl="0" eaLnBrk="1" latinLnBrk="0" hangingPunct="1">
              <a:spcBef>
                <a:spcPct val="0"/>
              </a:spcBef>
              <a:buNone/>
              <a:defRPr sz="3300" kern="1200">
                <a:solidFill>
                  <a:schemeClr val="tx1"/>
                </a:solidFill>
                <a:latin typeface="+mj-lt"/>
                <a:ea typeface="+mj-ea"/>
                <a:cs typeface="+mj-cs"/>
              </a:defRPr>
            </a:lvl1pPr>
          </a:lstStyle>
          <a:p>
            <a:r>
              <a:rPr lang="en-IN" sz="1200" dirty="0">
                <a:solidFill>
                  <a:schemeClr val="bg1"/>
                </a:solidFill>
              </a:rPr>
              <a:t>© TINITIATE.COM</a:t>
            </a:r>
            <a:endParaRPr lang="en-IN" sz="1000" dirty="0">
              <a:solidFill>
                <a:schemeClr val="bg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74514"/>
            <a:ext cx="8229600" cy="3394472"/>
          </a:xfrm>
        </p:spPr>
        <p:txBody>
          <a:bodyPr>
            <a:noAutofit/>
          </a:bodyPr>
          <a:lstStyle/>
          <a:p>
            <a:pPr lvl="0"/>
            <a:r>
              <a:rPr sz="1800" dirty="0"/>
              <a:t>Returns the last value in an ordered set of values.</a:t>
            </a:r>
          </a:p>
          <a:p>
            <a:pPr lvl="0" indent="0">
              <a:buNone/>
            </a:pPr>
            <a:r>
              <a:rPr sz="1400" i="1" dirty="0">
                <a:solidFill>
                  <a:srgbClr val="8F5902"/>
                </a:solidFill>
                <a:latin typeface="Courier"/>
              </a:rPr>
              <a:t>-- Retrieves employee names and salaries,</a:t>
            </a:r>
            <a:br>
              <a:rPr sz="1400" dirty="0"/>
            </a:br>
            <a:r>
              <a:rPr sz="1400" i="1" dirty="0">
                <a:solidFill>
                  <a:srgbClr val="8F5902"/>
                </a:solidFill>
                <a:latin typeface="Courier"/>
              </a:rPr>
              <a:t>-- along with the last salary in the sorted order.</a:t>
            </a:r>
            <a:br>
              <a:rPr sz="1400" dirty="0"/>
            </a:br>
            <a:r>
              <a:rPr sz="1400" b="1" dirty="0">
                <a:solidFill>
                  <a:srgbClr val="204A87"/>
                </a:solidFill>
                <a:latin typeface="Courier"/>
              </a:rPr>
              <a:t>SELECT</a:t>
            </a:r>
            <a:r>
              <a:rPr sz="1400" dirty="0">
                <a:latin typeface="Courier"/>
              </a:rPr>
              <a:t> </a:t>
            </a:r>
            <a:r>
              <a:rPr sz="1400" dirty="0" err="1">
                <a:latin typeface="Courier"/>
              </a:rPr>
              <a:t>ename</a:t>
            </a:r>
            <a:r>
              <a:rPr sz="1400" dirty="0">
                <a:latin typeface="Courier"/>
              </a:rPr>
              <a:t>, </a:t>
            </a:r>
            <a:r>
              <a:rPr sz="1400" dirty="0" err="1">
                <a:latin typeface="Courier"/>
              </a:rPr>
              <a:t>sal</a:t>
            </a:r>
            <a:r>
              <a:rPr sz="1400" dirty="0">
                <a:latin typeface="Courier"/>
              </a:rPr>
              <a:t>,</a:t>
            </a:r>
            <a:br>
              <a:rPr sz="1400" dirty="0"/>
            </a:br>
            <a:r>
              <a:rPr sz="1400" dirty="0">
                <a:latin typeface="Courier"/>
              </a:rPr>
              <a:t>       </a:t>
            </a:r>
            <a:r>
              <a:rPr sz="1400" b="1" dirty="0">
                <a:solidFill>
                  <a:srgbClr val="204A87"/>
                </a:solidFill>
                <a:latin typeface="Courier"/>
              </a:rPr>
              <a:t>LAST_VALUE</a:t>
            </a:r>
            <a:r>
              <a:rPr sz="1400" dirty="0">
                <a:latin typeface="Courier"/>
              </a:rPr>
              <a:t>(</a:t>
            </a:r>
            <a:r>
              <a:rPr sz="1400" dirty="0" err="1">
                <a:latin typeface="Courier"/>
              </a:rPr>
              <a:t>sal</a:t>
            </a:r>
            <a:r>
              <a:rPr sz="1400" dirty="0">
                <a:latin typeface="Courier"/>
              </a:rPr>
              <a:t>) </a:t>
            </a:r>
            <a:r>
              <a:rPr sz="1400" b="1" dirty="0">
                <a:solidFill>
                  <a:srgbClr val="204A87"/>
                </a:solidFill>
                <a:latin typeface="Courier"/>
              </a:rPr>
              <a:t>OVER</a:t>
            </a:r>
            <a:r>
              <a:rPr sz="1400" dirty="0">
                <a:latin typeface="Courier"/>
              </a:rPr>
              <a:t> (</a:t>
            </a:r>
            <a:r>
              <a:rPr sz="1400" b="1" dirty="0">
                <a:solidFill>
                  <a:srgbClr val="204A87"/>
                </a:solidFill>
                <a:latin typeface="Courier"/>
              </a:rPr>
              <a:t>ORDER</a:t>
            </a:r>
            <a:r>
              <a:rPr sz="1400" dirty="0">
                <a:latin typeface="Courier"/>
              </a:rPr>
              <a:t> </a:t>
            </a:r>
            <a:r>
              <a:rPr sz="1400" b="1" dirty="0">
                <a:solidFill>
                  <a:srgbClr val="204A87"/>
                </a:solidFill>
                <a:latin typeface="Courier"/>
              </a:rPr>
              <a:t>BY</a:t>
            </a:r>
            <a:r>
              <a:rPr sz="1400" dirty="0">
                <a:latin typeface="Courier"/>
              </a:rPr>
              <a:t> </a:t>
            </a:r>
            <a:r>
              <a:rPr sz="1400" dirty="0" err="1">
                <a:latin typeface="Courier"/>
              </a:rPr>
              <a:t>sal</a:t>
            </a:r>
            <a:br>
              <a:rPr sz="1400" dirty="0"/>
            </a:br>
            <a:r>
              <a:rPr sz="1400" dirty="0">
                <a:latin typeface="Courier"/>
              </a:rPr>
              <a:t>       </a:t>
            </a:r>
            <a:r>
              <a:rPr sz="1400" b="1" dirty="0">
                <a:solidFill>
                  <a:srgbClr val="204A87"/>
                </a:solidFill>
                <a:latin typeface="Courier"/>
              </a:rPr>
              <a:t>ROWS</a:t>
            </a:r>
            <a:r>
              <a:rPr sz="1400" dirty="0">
                <a:latin typeface="Courier"/>
              </a:rPr>
              <a:t> </a:t>
            </a:r>
            <a:r>
              <a:rPr sz="1400" b="1" dirty="0">
                <a:solidFill>
                  <a:srgbClr val="204A87"/>
                </a:solidFill>
                <a:latin typeface="Courier"/>
              </a:rPr>
              <a:t>BETWEEN</a:t>
            </a:r>
            <a:r>
              <a:rPr sz="1400" dirty="0">
                <a:latin typeface="Courier"/>
              </a:rPr>
              <a:t> </a:t>
            </a:r>
            <a:r>
              <a:rPr sz="1400" b="1" dirty="0">
                <a:solidFill>
                  <a:srgbClr val="204A87"/>
                </a:solidFill>
                <a:latin typeface="Courier"/>
              </a:rPr>
              <a:t>UNBOUNDED</a:t>
            </a:r>
            <a:r>
              <a:rPr sz="1400" dirty="0">
                <a:latin typeface="Courier"/>
              </a:rPr>
              <a:t> </a:t>
            </a:r>
            <a:r>
              <a:rPr sz="1400" b="1" dirty="0">
                <a:solidFill>
                  <a:srgbClr val="204A87"/>
                </a:solidFill>
                <a:latin typeface="Courier"/>
              </a:rPr>
              <a:t>PRECEDING</a:t>
            </a:r>
            <a:r>
              <a:rPr sz="1400" dirty="0">
                <a:latin typeface="Courier"/>
              </a:rPr>
              <a:t> </a:t>
            </a:r>
            <a:r>
              <a:rPr sz="1400" b="1" dirty="0">
                <a:solidFill>
                  <a:srgbClr val="204A87"/>
                </a:solidFill>
                <a:latin typeface="Courier"/>
              </a:rPr>
              <a:t>AND</a:t>
            </a:r>
            <a:r>
              <a:rPr sz="1400" dirty="0">
                <a:latin typeface="Courier"/>
              </a:rPr>
              <a:t> </a:t>
            </a:r>
            <a:r>
              <a:rPr sz="1400" b="1" dirty="0">
                <a:solidFill>
                  <a:srgbClr val="204A87"/>
                </a:solidFill>
                <a:latin typeface="Courier"/>
              </a:rPr>
              <a:t>UNBOUNDED</a:t>
            </a:r>
            <a:r>
              <a:rPr sz="1400" dirty="0">
                <a:latin typeface="Courier"/>
              </a:rPr>
              <a:t> </a:t>
            </a:r>
            <a:r>
              <a:rPr sz="1400" b="1" dirty="0">
                <a:solidFill>
                  <a:srgbClr val="204A87"/>
                </a:solidFill>
                <a:latin typeface="Courier"/>
              </a:rPr>
              <a:t>FOLLOWING</a:t>
            </a:r>
            <a:r>
              <a:rPr sz="1400" dirty="0">
                <a:latin typeface="Courier"/>
              </a:rPr>
              <a:t>)</a:t>
            </a:r>
            <a:br>
              <a:rPr sz="1400" dirty="0"/>
            </a:br>
            <a:r>
              <a:rPr sz="1400" dirty="0">
                <a:latin typeface="Courier"/>
              </a:rPr>
              <a:t>       </a:t>
            </a:r>
            <a:r>
              <a:rPr sz="1400" b="1" dirty="0">
                <a:solidFill>
                  <a:srgbClr val="204A87"/>
                </a:solidFill>
                <a:latin typeface="Courier"/>
              </a:rPr>
              <a:t>AS</a:t>
            </a:r>
            <a:r>
              <a:rPr sz="1400" dirty="0">
                <a:latin typeface="Courier"/>
              </a:rPr>
              <a:t> </a:t>
            </a:r>
            <a:r>
              <a:rPr sz="1400" dirty="0" err="1">
                <a:latin typeface="Courier"/>
              </a:rPr>
              <a:t>last_sal</a:t>
            </a:r>
            <a:br>
              <a:rPr sz="1400" dirty="0"/>
            </a:br>
            <a:r>
              <a:rPr sz="1400" b="1" dirty="0">
                <a:solidFill>
                  <a:srgbClr val="204A87"/>
                </a:solidFill>
                <a:latin typeface="Courier"/>
              </a:rPr>
              <a:t>FROM</a:t>
            </a:r>
            <a:r>
              <a:rPr sz="1400" dirty="0">
                <a:latin typeface="Courier"/>
              </a:rPr>
              <a:t> </a:t>
            </a:r>
            <a:r>
              <a:rPr sz="1400" dirty="0" err="1">
                <a:latin typeface="Courier"/>
              </a:rPr>
              <a:t>employees.emp</a:t>
            </a:r>
            <a:r>
              <a:rPr sz="1400" dirty="0">
                <a:latin typeface="Courier"/>
              </a:rPr>
              <a:t>;</a:t>
            </a:r>
            <a:br>
              <a:rPr sz="1400" dirty="0"/>
            </a:br>
            <a:br>
              <a:rPr sz="1400" dirty="0"/>
            </a:br>
            <a:r>
              <a:rPr sz="1400" i="1" dirty="0">
                <a:solidFill>
                  <a:srgbClr val="8F5902"/>
                </a:solidFill>
                <a:latin typeface="Courier"/>
              </a:rPr>
              <a:t>-- Finds the last salary for each department and</a:t>
            </a:r>
            <a:br>
              <a:rPr sz="1400" dirty="0"/>
            </a:br>
            <a:r>
              <a:rPr sz="1400" i="1" dirty="0">
                <a:solidFill>
                  <a:srgbClr val="8F5902"/>
                </a:solidFill>
                <a:latin typeface="Courier"/>
              </a:rPr>
              <a:t>-- compares it with each employee's salary.</a:t>
            </a:r>
            <a:br>
              <a:rPr sz="1400" dirty="0"/>
            </a:br>
            <a:r>
              <a:rPr sz="1400" b="1" dirty="0">
                <a:solidFill>
                  <a:srgbClr val="204A87"/>
                </a:solidFill>
                <a:latin typeface="Courier"/>
              </a:rPr>
              <a:t>SELECT</a:t>
            </a:r>
            <a:r>
              <a:rPr sz="1400" dirty="0">
                <a:latin typeface="Courier"/>
              </a:rPr>
              <a:t> </a:t>
            </a:r>
            <a:r>
              <a:rPr sz="1400" dirty="0" err="1">
                <a:latin typeface="Courier"/>
              </a:rPr>
              <a:t>empno</a:t>
            </a:r>
            <a:r>
              <a:rPr sz="1400" dirty="0">
                <a:latin typeface="Courier"/>
              </a:rPr>
              <a:t>, </a:t>
            </a:r>
            <a:r>
              <a:rPr sz="1400" dirty="0" err="1">
                <a:latin typeface="Courier"/>
              </a:rPr>
              <a:t>ename</a:t>
            </a:r>
            <a:r>
              <a:rPr sz="1400" dirty="0">
                <a:latin typeface="Courier"/>
              </a:rPr>
              <a:t>, </a:t>
            </a:r>
            <a:r>
              <a:rPr sz="1400" dirty="0" err="1">
                <a:latin typeface="Courier"/>
              </a:rPr>
              <a:t>deptno</a:t>
            </a:r>
            <a:r>
              <a:rPr sz="1400" dirty="0">
                <a:latin typeface="Courier"/>
              </a:rPr>
              <a:t>, </a:t>
            </a:r>
            <a:r>
              <a:rPr sz="1400" dirty="0" err="1">
                <a:latin typeface="Courier"/>
              </a:rPr>
              <a:t>sal</a:t>
            </a:r>
            <a:r>
              <a:rPr sz="1400" dirty="0">
                <a:latin typeface="Courier"/>
              </a:rPr>
              <a:t>,</a:t>
            </a:r>
            <a:br>
              <a:rPr sz="1400" dirty="0"/>
            </a:br>
            <a:r>
              <a:rPr sz="1400" dirty="0">
                <a:latin typeface="Courier"/>
              </a:rPr>
              <a:t>       </a:t>
            </a:r>
            <a:r>
              <a:rPr sz="1400" dirty="0" err="1">
                <a:latin typeface="Courier"/>
              </a:rPr>
              <a:t>sal</a:t>
            </a:r>
            <a:r>
              <a:rPr sz="1400" dirty="0">
                <a:latin typeface="Courier"/>
              </a:rPr>
              <a:t> </a:t>
            </a:r>
            <a:r>
              <a:rPr sz="1400" b="1" dirty="0">
                <a:solidFill>
                  <a:srgbClr val="CE5C00"/>
                </a:solidFill>
                <a:latin typeface="Courier"/>
              </a:rPr>
              <a:t>-</a:t>
            </a:r>
            <a:r>
              <a:rPr sz="1400" dirty="0">
                <a:latin typeface="Courier"/>
              </a:rPr>
              <a:t> </a:t>
            </a:r>
            <a:r>
              <a:rPr sz="1400" b="1" dirty="0">
                <a:solidFill>
                  <a:srgbClr val="204A87"/>
                </a:solidFill>
                <a:latin typeface="Courier"/>
              </a:rPr>
              <a:t>LAST_VALUE</a:t>
            </a:r>
            <a:r>
              <a:rPr sz="1400" dirty="0">
                <a:latin typeface="Courier"/>
              </a:rPr>
              <a:t>(</a:t>
            </a:r>
            <a:r>
              <a:rPr sz="1400" dirty="0" err="1">
                <a:latin typeface="Courier"/>
              </a:rPr>
              <a:t>sal</a:t>
            </a:r>
            <a:r>
              <a:rPr sz="1400" dirty="0">
                <a:latin typeface="Courier"/>
              </a:rPr>
              <a:t>) </a:t>
            </a:r>
            <a:r>
              <a:rPr sz="1400" b="1" dirty="0">
                <a:solidFill>
                  <a:srgbClr val="204A87"/>
                </a:solidFill>
                <a:latin typeface="Courier"/>
              </a:rPr>
              <a:t>OVER</a:t>
            </a:r>
            <a:r>
              <a:rPr sz="1400" dirty="0">
                <a:latin typeface="Courier"/>
              </a:rPr>
              <a:t> (</a:t>
            </a:r>
            <a:r>
              <a:rPr sz="1400" b="1" dirty="0">
                <a:solidFill>
                  <a:srgbClr val="204A87"/>
                </a:solidFill>
                <a:latin typeface="Courier"/>
              </a:rPr>
              <a:t>PARTITION</a:t>
            </a:r>
            <a:r>
              <a:rPr sz="1400" dirty="0">
                <a:latin typeface="Courier"/>
              </a:rPr>
              <a:t> </a:t>
            </a:r>
            <a:r>
              <a:rPr sz="1400" b="1" dirty="0">
                <a:solidFill>
                  <a:srgbClr val="204A87"/>
                </a:solidFill>
                <a:latin typeface="Courier"/>
              </a:rPr>
              <a:t>BY</a:t>
            </a:r>
            <a:r>
              <a:rPr sz="1400" dirty="0">
                <a:latin typeface="Courier"/>
              </a:rPr>
              <a:t> </a:t>
            </a:r>
            <a:r>
              <a:rPr sz="1400" dirty="0" err="1">
                <a:latin typeface="Courier"/>
              </a:rPr>
              <a:t>deptno</a:t>
            </a:r>
            <a:r>
              <a:rPr sz="1400" dirty="0">
                <a:latin typeface="Courier"/>
              </a:rPr>
              <a:t> </a:t>
            </a:r>
            <a:r>
              <a:rPr sz="1400" b="1" dirty="0">
                <a:solidFill>
                  <a:srgbClr val="204A87"/>
                </a:solidFill>
                <a:latin typeface="Courier"/>
              </a:rPr>
              <a:t>ORDER</a:t>
            </a:r>
            <a:r>
              <a:rPr sz="1400" dirty="0">
                <a:latin typeface="Courier"/>
              </a:rPr>
              <a:t> </a:t>
            </a:r>
            <a:r>
              <a:rPr sz="1400" b="1" dirty="0">
                <a:solidFill>
                  <a:srgbClr val="204A87"/>
                </a:solidFill>
                <a:latin typeface="Courier"/>
              </a:rPr>
              <a:t>BY</a:t>
            </a:r>
            <a:br>
              <a:rPr sz="1400" dirty="0"/>
            </a:br>
            <a:r>
              <a:rPr sz="1400" dirty="0">
                <a:latin typeface="Courier"/>
              </a:rPr>
              <a:t>        </a:t>
            </a:r>
            <a:r>
              <a:rPr sz="1400" dirty="0" err="1">
                <a:latin typeface="Courier"/>
              </a:rPr>
              <a:t>hiredate</a:t>
            </a:r>
            <a:r>
              <a:rPr sz="1400" dirty="0">
                <a:latin typeface="Courier"/>
              </a:rPr>
              <a:t> </a:t>
            </a:r>
            <a:r>
              <a:rPr sz="1400" b="1" dirty="0">
                <a:solidFill>
                  <a:srgbClr val="204A87"/>
                </a:solidFill>
                <a:latin typeface="Courier"/>
              </a:rPr>
              <a:t>ROWS</a:t>
            </a:r>
            <a:r>
              <a:rPr sz="1400" dirty="0">
                <a:latin typeface="Courier"/>
              </a:rPr>
              <a:t> </a:t>
            </a:r>
            <a:r>
              <a:rPr sz="1400" b="1" dirty="0">
                <a:solidFill>
                  <a:srgbClr val="204A87"/>
                </a:solidFill>
                <a:latin typeface="Courier"/>
              </a:rPr>
              <a:t>BETWEEN</a:t>
            </a:r>
            <a:r>
              <a:rPr sz="1400" dirty="0">
                <a:latin typeface="Courier"/>
              </a:rPr>
              <a:t> </a:t>
            </a:r>
            <a:r>
              <a:rPr sz="1400" b="1" dirty="0">
                <a:solidFill>
                  <a:srgbClr val="204A87"/>
                </a:solidFill>
                <a:latin typeface="Courier"/>
              </a:rPr>
              <a:t>UNBOUNDED</a:t>
            </a:r>
            <a:r>
              <a:rPr sz="1400" dirty="0">
                <a:latin typeface="Courier"/>
              </a:rPr>
              <a:t> </a:t>
            </a:r>
            <a:r>
              <a:rPr sz="1400" b="1" dirty="0">
                <a:solidFill>
                  <a:srgbClr val="204A87"/>
                </a:solidFill>
                <a:latin typeface="Courier"/>
              </a:rPr>
              <a:t>PRECEDING</a:t>
            </a:r>
            <a:r>
              <a:rPr sz="1400" dirty="0">
                <a:latin typeface="Courier"/>
              </a:rPr>
              <a:t> </a:t>
            </a:r>
            <a:r>
              <a:rPr sz="1400" b="1" dirty="0">
                <a:solidFill>
                  <a:srgbClr val="204A87"/>
                </a:solidFill>
                <a:latin typeface="Courier"/>
              </a:rPr>
              <a:t>AND</a:t>
            </a:r>
            <a:r>
              <a:rPr sz="1400" dirty="0">
                <a:latin typeface="Courier"/>
              </a:rPr>
              <a:t> </a:t>
            </a:r>
            <a:r>
              <a:rPr sz="1400" b="1" dirty="0">
                <a:solidFill>
                  <a:srgbClr val="204A87"/>
                </a:solidFill>
                <a:latin typeface="Courier"/>
              </a:rPr>
              <a:t>UNBOUNDED</a:t>
            </a:r>
            <a:r>
              <a:rPr sz="1400" dirty="0">
                <a:latin typeface="Courier"/>
              </a:rPr>
              <a:t> </a:t>
            </a:r>
            <a:r>
              <a:rPr sz="1400" b="1" dirty="0">
                <a:solidFill>
                  <a:srgbClr val="204A87"/>
                </a:solidFill>
                <a:latin typeface="Courier"/>
              </a:rPr>
              <a:t>FOLLOWING</a:t>
            </a:r>
            <a:r>
              <a:rPr sz="1400" dirty="0">
                <a:latin typeface="Courier"/>
              </a:rPr>
              <a:t>)</a:t>
            </a:r>
            <a:br>
              <a:rPr sz="1400" dirty="0"/>
            </a:br>
            <a:r>
              <a:rPr sz="1400" dirty="0">
                <a:latin typeface="Courier"/>
              </a:rPr>
              <a:t>         </a:t>
            </a:r>
            <a:r>
              <a:rPr sz="1400" b="1" dirty="0">
                <a:solidFill>
                  <a:srgbClr val="204A87"/>
                </a:solidFill>
                <a:latin typeface="Courier"/>
              </a:rPr>
              <a:t>AS</a:t>
            </a:r>
            <a:r>
              <a:rPr sz="1400" dirty="0">
                <a:latin typeface="Courier"/>
              </a:rPr>
              <a:t> </a:t>
            </a:r>
            <a:r>
              <a:rPr sz="1400" dirty="0" err="1">
                <a:latin typeface="Courier"/>
              </a:rPr>
              <a:t>sal_diff_with_last</a:t>
            </a:r>
            <a:br>
              <a:rPr sz="1400" dirty="0"/>
            </a:br>
            <a:r>
              <a:rPr sz="1400" b="1" dirty="0">
                <a:solidFill>
                  <a:srgbClr val="204A87"/>
                </a:solidFill>
                <a:latin typeface="Courier"/>
              </a:rPr>
              <a:t>FROM</a:t>
            </a:r>
            <a:r>
              <a:rPr sz="1400" dirty="0">
                <a:latin typeface="Courier"/>
              </a:rPr>
              <a:t> </a:t>
            </a:r>
            <a:r>
              <a:rPr sz="1400" dirty="0" err="1">
                <a:latin typeface="Courier"/>
              </a:rPr>
              <a:t>employees.emp</a:t>
            </a:r>
            <a:r>
              <a:rPr sz="1400" dirty="0">
                <a:latin typeface="Courier"/>
              </a:rPr>
              <a:t>;</a:t>
            </a:r>
          </a:p>
        </p:txBody>
      </p:sp>
      <p:sp>
        <p:nvSpPr>
          <p:cNvPr id="4" name="Title 1">
            <a:extLst>
              <a:ext uri="{FF2B5EF4-FFF2-40B4-BE49-F238E27FC236}">
                <a16:creationId xmlns:a16="http://schemas.microsoft.com/office/drawing/2014/main" id="{3E5793C5-3063-5D5B-EE34-9D6A689587A4}"/>
              </a:ext>
            </a:extLst>
          </p:cNvPr>
          <p:cNvSpPr txBox="1">
            <a:spLocks/>
          </p:cNvSpPr>
          <p:nvPr/>
        </p:nvSpPr>
        <p:spPr>
          <a:xfrm>
            <a:off x="0" y="1"/>
            <a:ext cx="9144000" cy="548876"/>
          </a:xfrm>
          <a:prstGeom prst="rect">
            <a:avLst/>
          </a:prstGeom>
          <a:solidFill>
            <a:schemeClr val="tx1"/>
          </a:solidFill>
        </p:spPr>
        <p:txBody>
          <a:bodyPr vert="horz" lIns="91440" tIns="45720" rIns="91440" bIns="45720" rtlCol="0" anchor="ctr">
            <a:normAutofit/>
          </a:bodyPr>
          <a:lstStyle>
            <a:lvl1pPr algn="ctr" defTabSz="342900" rtl="0" eaLnBrk="1" latinLnBrk="0" hangingPunct="1">
              <a:spcBef>
                <a:spcPct val="0"/>
              </a:spcBef>
              <a:buNone/>
              <a:defRPr sz="3300" kern="1200">
                <a:solidFill>
                  <a:schemeClr val="tx1"/>
                </a:solidFill>
                <a:latin typeface="+mj-lt"/>
                <a:ea typeface="+mj-ea"/>
                <a:cs typeface="+mj-cs"/>
              </a:defRPr>
            </a:lvl1pPr>
          </a:lstStyle>
          <a:p>
            <a:pPr algn="l"/>
            <a:r>
              <a:rPr lang="en-IN" sz="2800" dirty="0">
                <a:solidFill>
                  <a:schemeClr val="bg1"/>
                </a:solidFill>
              </a:rPr>
              <a:t>LAST_VALUE():</a:t>
            </a:r>
          </a:p>
        </p:txBody>
      </p:sp>
      <p:pic>
        <p:nvPicPr>
          <p:cNvPr id="5" name="Picture 4">
            <a:extLst>
              <a:ext uri="{FF2B5EF4-FFF2-40B4-BE49-F238E27FC236}">
                <a16:creationId xmlns:a16="http://schemas.microsoft.com/office/drawing/2014/main" id="{6BDFEDDA-1158-83A4-1098-7B9D6CC4902F}"/>
              </a:ext>
            </a:extLst>
          </p:cNvPr>
          <p:cNvPicPr>
            <a:picLocks noChangeAspect="1"/>
          </p:cNvPicPr>
          <p:nvPr/>
        </p:nvPicPr>
        <p:blipFill>
          <a:blip r:embed="rId2"/>
          <a:stretch>
            <a:fillRect/>
          </a:stretch>
        </p:blipFill>
        <p:spPr>
          <a:xfrm>
            <a:off x="5763675" y="51792"/>
            <a:ext cx="3380325" cy="445294"/>
          </a:xfrm>
          <a:prstGeom prst="rect">
            <a:avLst/>
          </a:prstGeom>
        </p:spPr>
      </p:pic>
      <p:sp>
        <p:nvSpPr>
          <p:cNvPr id="6" name="Title 1">
            <a:extLst>
              <a:ext uri="{FF2B5EF4-FFF2-40B4-BE49-F238E27FC236}">
                <a16:creationId xmlns:a16="http://schemas.microsoft.com/office/drawing/2014/main" id="{3B8D7309-166E-E84B-F900-4E0BDB144864}"/>
              </a:ext>
            </a:extLst>
          </p:cNvPr>
          <p:cNvSpPr txBox="1">
            <a:spLocks/>
          </p:cNvSpPr>
          <p:nvPr/>
        </p:nvSpPr>
        <p:spPr>
          <a:xfrm>
            <a:off x="0" y="4858718"/>
            <a:ext cx="9144000" cy="284781"/>
          </a:xfrm>
          <a:prstGeom prst="rect">
            <a:avLst/>
          </a:prstGeom>
          <a:solidFill>
            <a:schemeClr val="tx1"/>
          </a:solidFill>
        </p:spPr>
        <p:txBody>
          <a:bodyPr vert="horz" lIns="91440" tIns="45720" rIns="91440" bIns="45720" rtlCol="0" anchor="ctr">
            <a:normAutofit/>
          </a:bodyPr>
          <a:lstStyle>
            <a:lvl1pPr algn="ctr" defTabSz="342900" rtl="0" eaLnBrk="1" latinLnBrk="0" hangingPunct="1">
              <a:spcBef>
                <a:spcPct val="0"/>
              </a:spcBef>
              <a:buNone/>
              <a:defRPr sz="3300" kern="1200">
                <a:solidFill>
                  <a:schemeClr val="tx1"/>
                </a:solidFill>
                <a:latin typeface="+mj-lt"/>
                <a:ea typeface="+mj-ea"/>
                <a:cs typeface="+mj-cs"/>
              </a:defRPr>
            </a:lvl1pPr>
          </a:lstStyle>
          <a:p>
            <a:r>
              <a:rPr lang="en-IN" sz="1200" dirty="0">
                <a:solidFill>
                  <a:schemeClr val="bg1"/>
                </a:solidFill>
              </a:rPr>
              <a:t>© TINITIATE.COM</a:t>
            </a:r>
            <a:endParaRPr lang="en-IN" sz="1000" dirty="0">
              <a:solidFill>
                <a:schemeClr val="bg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0014F9-FC9A-7671-DC3B-73FE55042E3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348239A-8E3E-F27F-633D-45A26EA67CE7}"/>
              </a:ext>
            </a:extLst>
          </p:cNvPr>
          <p:cNvSpPr>
            <a:spLocks noGrp="1"/>
          </p:cNvSpPr>
          <p:nvPr>
            <p:ph idx="1"/>
          </p:nvPr>
        </p:nvSpPr>
        <p:spPr>
          <a:xfrm>
            <a:off x="457200" y="874514"/>
            <a:ext cx="8229600" cy="3394472"/>
          </a:xfrm>
        </p:spPr>
        <p:txBody>
          <a:bodyPr>
            <a:noAutofit/>
          </a:bodyPr>
          <a:lstStyle/>
          <a:p>
            <a:pPr lvl="0" indent="0">
              <a:buNone/>
            </a:pPr>
            <a:r>
              <a:rPr sz="1400" i="1" dirty="0">
                <a:solidFill>
                  <a:srgbClr val="8F5902"/>
                </a:solidFill>
                <a:latin typeface="Courier"/>
              </a:rPr>
              <a:t>-- Finds the difference between each employee's salary and</a:t>
            </a:r>
            <a:br>
              <a:rPr sz="1400" dirty="0"/>
            </a:br>
            <a:r>
              <a:rPr sz="1400" i="1" dirty="0">
                <a:solidFill>
                  <a:srgbClr val="8F5902"/>
                </a:solidFill>
                <a:latin typeface="Courier"/>
              </a:rPr>
              <a:t>-- the first and last salary within their department.</a:t>
            </a:r>
            <a:br>
              <a:rPr sz="1400" dirty="0"/>
            </a:br>
            <a:r>
              <a:rPr sz="1400" b="1" dirty="0">
                <a:solidFill>
                  <a:srgbClr val="204A87"/>
                </a:solidFill>
                <a:latin typeface="Courier"/>
              </a:rPr>
              <a:t>SELECT</a:t>
            </a:r>
            <a:r>
              <a:rPr sz="1400" dirty="0">
                <a:latin typeface="Courier"/>
              </a:rPr>
              <a:t> </a:t>
            </a:r>
            <a:r>
              <a:rPr sz="1400" dirty="0" err="1">
                <a:latin typeface="Courier"/>
              </a:rPr>
              <a:t>deptno</a:t>
            </a:r>
            <a:r>
              <a:rPr sz="1400" dirty="0">
                <a:latin typeface="Courier"/>
              </a:rPr>
              <a:t>, </a:t>
            </a:r>
            <a:r>
              <a:rPr sz="1400" dirty="0" err="1">
                <a:latin typeface="Courier"/>
              </a:rPr>
              <a:t>ename</a:t>
            </a:r>
            <a:r>
              <a:rPr sz="1400" dirty="0">
                <a:latin typeface="Courier"/>
              </a:rPr>
              <a:t>, </a:t>
            </a:r>
            <a:r>
              <a:rPr sz="1400" dirty="0" err="1">
                <a:latin typeface="Courier"/>
              </a:rPr>
              <a:t>sal</a:t>
            </a:r>
            <a:r>
              <a:rPr sz="1400" dirty="0">
                <a:latin typeface="Courier"/>
              </a:rPr>
              <a:t>,</a:t>
            </a:r>
            <a:br>
              <a:rPr sz="1400" dirty="0"/>
            </a:br>
            <a:r>
              <a:rPr sz="1400" dirty="0">
                <a:latin typeface="Courier"/>
              </a:rPr>
              <a:t>       </a:t>
            </a:r>
            <a:r>
              <a:rPr sz="1400" dirty="0" err="1">
                <a:latin typeface="Courier"/>
              </a:rPr>
              <a:t>sal</a:t>
            </a:r>
            <a:r>
              <a:rPr sz="1400" dirty="0">
                <a:latin typeface="Courier"/>
              </a:rPr>
              <a:t> </a:t>
            </a:r>
            <a:r>
              <a:rPr sz="1400" b="1" dirty="0">
                <a:solidFill>
                  <a:srgbClr val="CE5C00"/>
                </a:solidFill>
                <a:latin typeface="Courier"/>
              </a:rPr>
              <a:t>-</a:t>
            </a:r>
            <a:r>
              <a:rPr sz="1400" dirty="0">
                <a:latin typeface="Courier"/>
              </a:rPr>
              <a:t> </a:t>
            </a:r>
            <a:r>
              <a:rPr sz="1400" b="1" dirty="0">
                <a:solidFill>
                  <a:srgbClr val="204A87"/>
                </a:solidFill>
                <a:latin typeface="Courier"/>
              </a:rPr>
              <a:t>FIRST_VALUE</a:t>
            </a:r>
            <a:r>
              <a:rPr sz="1400" dirty="0">
                <a:latin typeface="Courier"/>
              </a:rPr>
              <a:t>(</a:t>
            </a:r>
            <a:r>
              <a:rPr sz="1400" dirty="0" err="1">
                <a:latin typeface="Courier"/>
              </a:rPr>
              <a:t>sal</a:t>
            </a:r>
            <a:r>
              <a:rPr sz="1400" dirty="0">
                <a:latin typeface="Courier"/>
              </a:rPr>
              <a:t>) </a:t>
            </a:r>
            <a:r>
              <a:rPr sz="1400" b="1" dirty="0">
                <a:solidFill>
                  <a:srgbClr val="204A87"/>
                </a:solidFill>
                <a:latin typeface="Courier"/>
              </a:rPr>
              <a:t>OVER</a:t>
            </a:r>
            <a:r>
              <a:rPr sz="1400" dirty="0">
                <a:latin typeface="Courier"/>
              </a:rPr>
              <a:t> (</a:t>
            </a:r>
            <a:r>
              <a:rPr sz="1400" b="1" dirty="0">
                <a:solidFill>
                  <a:srgbClr val="204A87"/>
                </a:solidFill>
                <a:latin typeface="Courier"/>
              </a:rPr>
              <a:t>PARTITION</a:t>
            </a:r>
            <a:r>
              <a:rPr sz="1400" dirty="0">
                <a:latin typeface="Courier"/>
              </a:rPr>
              <a:t> </a:t>
            </a:r>
            <a:r>
              <a:rPr sz="1400" b="1" dirty="0">
                <a:solidFill>
                  <a:srgbClr val="204A87"/>
                </a:solidFill>
                <a:latin typeface="Courier"/>
              </a:rPr>
              <a:t>BY</a:t>
            </a:r>
            <a:r>
              <a:rPr sz="1400" dirty="0">
                <a:latin typeface="Courier"/>
              </a:rPr>
              <a:t> </a:t>
            </a:r>
            <a:r>
              <a:rPr sz="1400" dirty="0" err="1">
                <a:latin typeface="Courier"/>
              </a:rPr>
              <a:t>deptno</a:t>
            </a:r>
            <a:r>
              <a:rPr sz="1400" dirty="0">
                <a:latin typeface="Courier"/>
              </a:rPr>
              <a:t> </a:t>
            </a:r>
            <a:r>
              <a:rPr sz="1400" b="1" dirty="0">
                <a:solidFill>
                  <a:srgbClr val="204A87"/>
                </a:solidFill>
                <a:latin typeface="Courier"/>
              </a:rPr>
              <a:t>ORDER</a:t>
            </a:r>
            <a:r>
              <a:rPr sz="1400" dirty="0">
                <a:latin typeface="Courier"/>
              </a:rPr>
              <a:t> </a:t>
            </a:r>
            <a:r>
              <a:rPr sz="1400" b="1" dirty="0">
                <a:solidFill>
                  <a:srgbClr val="204A87"/>
                </a:solidFill>
                <a:latin typeface="Courier"/>
              </a:rPr>
              <a:t>BY</a:t>
            </a:r>
            <a:r>
              <a:rPr sz="1400" dirty="0">
                <a:latin typeface="Courier"/>
              </a:rPr>
              <a:t> </a:t>
            </a:r>
            <a:r>
              <a:rPr sz="1400" dirty="0" err="1">
                <a:latin typeface="Courier"/>
              </a:rPr>
              <a:t>sal</a:t>
            </a:r>
            <a:r>
              <a:rPr sz="1400" dirty="0">
                <a:latin typeface="Courier"/>
              </a:rPr>
              <a:t>)</a:t>
            </a:r>
            <a:br>
              <a:rPr sz="1400" dirty="0"/>
            </a:br>
            <a:r>
              <a:rPr sz="1400" dirty="0">
                <a:latin typeface="Courier"/>
              </a:rPr>
              <a:t>        </a:t>
            </a:r>
            <a:r>
              <a:rPr sz="1400" b="1" dirty="0">
                <a:solidFill>
                  <a:srgbClr val="204A87"/>
                </a:solidFill>
                <a:latin typeface="Courier"/>
              </a:rPr>
              <a:t>AS</a:t>
            </a:r>
            <a:r>
              <a:rPr sz="1400" dirty="0">
                <a:latin typeface="Courier"/>
              </a:rPr>
              <a:t> </a:t>
            </a:r>
            <a:r>
              <a:rPr sz="1400" dirty="0" err="1">
                <a:latin typeface="Courier"/>
              </a:rPr>
              <a:t>sal_diff_with_first</a:t>
            </a:r>
            <a:r>
              <a:rPr sz="1400" dirty="0">
                <a:latin typeface="Courier"/>
              </a:rPr>
              <a:t>,</a:t>
            </a:r>
            <a:br>
              <a:rPr sz="1400" dirty="0"/>
            </a:br>
            <a:r>
              <a:rPr sz="1400" dirty="0">
                <a:latin typeface="Courier"/>
              </a:rPr>
              <a:t>       </a:t>
            </a:r>
            <a:r>
              <a:rPr sz="1400" b="1" dirty="0">
                <a:solidFill>
                  <a:srgbClr val="204A87"/>
                </a:solidFill>
                <a:latin typeface="Courier"/>
              </a:rPr>
              <a:t>LAST_VALUE</a:t>
            </a:r>
            <a:r>
              <a:rPr sz="1400" dirty="0">
                <a:latin typeface="Courier"/>
              </a:rPr>
              <a:t>(</a:t>
            </a:r>
            <a:r>
              <a:rPr sz="1400" dirty="0" err="1">
                <a:latin typeface="Courier"/>
              </a:rPr>
              <a:t>sal</a:t>
            </a:r>
            <a:r>
              <a:rPr sz="1400" dirty="0">
                <a:latin typeface="Courier"/>
              </a:rPr>
              <a:t>) </a:t>
            </a:r>
            <a:r>
              <a:rPr sz="1400" b="1" dirty="0">
                <a:solidFill>
                  <a:srgbClr val="204A87"/>
                </a:solidFill>
                <a:latin typeface="Courier"/>
              </a:rPr>
              <a:t>OVER</a:t>
            </a:r>
            <a:r>
              <a:rPr sz="1400" dirty="0">
                <a:latin typeface="Courier"/>
              </a:rPr>
              <a:t> (</a:t>
            </a:r>
            <a:r>
              <a:rPr sz="1400" b="1" dirty="0">
                <a:solidFill>
                  <a:srgbClr val="204A87"/>
                </a:solidFill>
                <a:latin typeface="Courier"/>
              </a:rPr>
              <a:t>PARTITION</a:t>
            </a:r>
            <a:r>
              <a:rPr sz="1400" dirty="0">
                <a:latin typeface="Courier"/>
              </a:rPr>
              <a:t> </a:t>
            </a:r>
            <a:r>
              <a:rPr sz="1400" b="1" dirty="0">
                <a:solidFill>
                  <a:srgbClr val="204A87"/>
                </a:solidFill>
                <a:latin typeface="Courier"/>
              </a:rPr>
              <a:t>BY</a:t>
            </a:r>
            <a:r>
              <a:rPr sz="1400" dirty="0">
                <a:latin typeface="Courier"/>
              </a:rPr>
              <a:t> </a:t>
            </a:r>
            <a:r>
              <a:rPr sz="1400" dirty="0" err="1">
                <a:latin typeface="Courier"/>
              </a:rPr>
              <a:t>deptno</a:t>
            </a:r>
            <a:r>
              <a:rPr sz="1400" dirty="0">
                <a:latin typeface="Courier"/>
              </a:rPr>
              <a:t> </a:t>
            </a:r>
            <a:r>
              <a:rPr sz="1400" b="1" dirty="0">
                <a:solidFill>
                  <a:srgbClr val="204A87"/>
                </a:solidFill>
                <a:latin typeface="Courier"/>
              </a:rPr>
              <a:t>ORDER</a:t>
            </a:r>
            <a:r>
              <a:rPr sz="1400" dirty="0">
                <a:latin typeface="Courier"/>
              </a:rPr>
              <a:t> </a:t>
            </a:r>
            <a:r>
              <a:rPr sz="1400" b="1" dirty="0">
                <a:solidFill>
                  <a:srgbClr val="204A87"/>
                </a:solidFill>
                <a:latin typeface="Courier"/>
              </a:rPr>
              <a:t>BY</a:t>
            </a:r>
            <a:br>
              <a:rPr sz="1400" dirty="0"/>
            </a:br>
            <a:r>
              <a:rPr sz="1400" dirty="0">
                <a:latin typeface="Courier"/>
              </a:rPr>
              <a:t>        </a:t>
            </a:r>
            <a:r>
              <a:rPr sz="1400" dirty="0" err="1">
                <a:latin typeface="Courier"/>
              </a:rPr>
              <a:t>sal</a:t>
            </a:r>
            <a:r>
              <a:rPr sz="1400" dirty="0">
                <a:latin typeface="Courier"/>
              </a:rPr>
              <a:t> </a:t>
            </a:r>
            <a:r>
              <a:rPr sz="1400" b="1" dirty="0">
                <a:solidFill>
                  <a:srgbClr val="204A87"/>
                </a:solidFill>
                <a:latin typeface="Courier"/>
              </a:rPr>
              <a:t>ROWS</a:t>
            </a:r>
            <a:r>
              <a:rPr sz="1400" dirty="0">
                <a:latin typeface="Courier"/>
              </a:rPr>
              <a:t> </a:t>
            </a:r>
            <a:r>
              <a:rPr sz="1400" b="1" dirty="0">
                <a:solidFill>
                  <a:srgbClr val="204A87"/>
                </a:solidFill>
                <a:latin typeface="Courier"/>
              </a:rPr>
              <a:t>BETWEEN</a:t>
            </a:r>
            <a:r>
              <a:rPr sz="1400" dirty="0">
                <a:latin typeface="Courier"/>
              </a:rPr>
              <a:t> </a:t>
            </a:r>
            <a:r>
              <a:rPr sz="1400" b="1" dirty="0">
                <a:solidFill>
                  <a:srgbClr val="204A87"/>
                </a:solidFill>
                <a:latin typeface="Courier"/>
              </a:rPr>
              <a:t>UNBOUNDED</a:t>
            </a:r>
            <a:r>
              <a:rPr sz="1400" dirty="0">
                <a:latin typeface="Courier"/>
              </a:rPr>
              <a:t> </a:t>
            </a:r>
            <a:r>
              <a:rPr sz="1400" b="1" dirty="0">
                <a:solidFill>
                  <a:srgbClr val="204A87"/>
                </a:solidFill>
                <a:latin typeface="Courier"/>
              </a:rPr>
              <a:t>PRECEDING</a:t>
            </a:r>
            <a:r>
              <a:rPr sz="1400" dirty="0">
                <a:latin typeface="Courier"/>
              </a:rPr>
              <a:t> </a:t>
            </a:r>
            <a:r>
              <a:rPr sz="1400" b="1" dirty="0">
                <a:solidFill>
                  <a:srgbClr val="204A87"/>
                </a:solidFill>
                <a:latin typeface="Courier"/>
              </a:rPr>
              <a:t>AND</a:t>
            </a:r>
            <a:r>
              <a:rPr sz="1400" dirty="0">
                <a:latin typeface="Courier"/>
              </a:rPr>
              <a:t> </a:t>
            </a:r>
            <a:r>
              <a:rPr sz="1400" b="1" dirty="0">
                <a:solidFill>
                  <a:srgbClr val="204A87"/>
                </a:solidFill>
                <a:latin typeface="Courier"/>
              </a:rPr>
              <a:t>UNBOUNDED</a:t>
            </a:r>
            <a:r>
              <a:rPr sz="1400" dirty="0">
                <a:latin typeface="Courier"/>
              </a:rPr>
              <a:t> </a:t>
            </a:r>
            <a:r>
              <a:rPr sz="1400" b="1" dirty="0">
                <a:solidFill>
                  <a:srgbClr val="204A87"/>
                </a:solidFill>
                <a:latin typeface="Courier"/>
              </a:rPr>
              <a:t>FOLLOWING</a:t>
            </a:r>
            <a:r>
              <a:rPr sz="1400" dirty="0">
                <a:latin typeface="Courier"/>
              </a:rPr>
              <a:t>) </a:t>
            </a:r>
            <a:r>
              <a:rPr sz="1400" b="1" dirty="0">
                <a:solidFill>
                  <a:srgbClr val="CE5C00"/>
                </a:solidFill>
                <a:latin typeface="Courier"/>
              </a:rPr>
              <a:t>-</a:t>
            </a:r>
            <a:r>
              <a:rPr sz="1400" dirty="0">
                <a:latin typeface="Courier"/>
              </a:rPr>
              <a:t> </a:t>
            </a:r>
            <a:r>
              <a:rPr sz="1400" dirty="0" err="1">
                <a:latin typeface="Courier"/>
              </a:rPr>
              <a:t>sal</a:t>
            </a:r>
            <a:br>
              <a:rPr sz="1400" dirty="0"/>
            </a:br>
            <a:r>
              <a:rPr sz="1400" dirty="0">
                <a:latin typeface="Courier"/>
              </a:rPr>
              <a:t>         </a:t>
            </a:r>
            <a:r>
              <a:rPr sz="1400" b="1" dirty="0">
                <a:solidFill>
                  <a:srgbClr val="204A87"/>
                </a:solidFill>
                <a:latin typeface="Courier"/>
              </a:rPr>
              <a:t>AS</a:t>
            </a:r>
            <a:r>
              <a:rPr sz="1400" dirty="0">
                <a:latin typeface="Courier"/>
              </a:rPr>
              <a:t> </a:t>
            </a:r>
            <a:r>
              <a:rPr sz="1400" dirty="0" err="1">
                <a:latin typeface="Courier"/>
              </a:rPr>
              <a:t>sal_diff_with_last</a:t>
            </a:r>
            <a:br>
              <a:rPr sz="1400" dirty="0"/>
            </a:br>
            <a:r>
              <a:rPr sz="1400" b="1" dirty="0">
                <a:solidFill>
                  <a:srgbClr val="204A87"/>
                </a:solidFill>
                <a:latin typeface="Courier"/>
              </a:rPr>
              <a:t>FROM</a:t>
            </a:r>
            <a:r>
              <a:rPr sz="1400" dirty="0">
                <a:latin typeface="Courier"/>
              </a:rPr>
              <a:t> </a:t>
            </a:r>
            <a:r>
              <a:rPr sz="1400" dirty="0" err="1">
                <a:latin typeface="Courier"/>
              </a:rPr>
              <a:t>employees.emp</a:t>
            </a:r>
            <a:r>
              <a:rPr sz="1400" dirty="0">
                <a:latin typeface="Courier"/>
              </a:rPr>
              <a:t>;</a:t>
            </a:r>
          </a:p>
        </p:txBody>
      </p:sp>
      <p:sp>
        <p:nvSpPr>
          <p:cNvPr id="4" name="Title 1">
            <a:extLst>
              <a:ext uri="{FF2B5EF4-FFF2-40B4-BE49-F238E27FC236}">
                <a16:creationId xmlns:a16="http://schemas.microsoft.com/office/drawing/2014/main" id="{067E34C9-D2A8-4595-5593-A4967D42DC1D}"/>
              </a:ext>
            </a:extLst>
          </p:cNvPr>
          <p:cNvSpPr txBox="1">
            <a:spLocks/>
          </p:cNvSpPr>
          <p:nvPr/>
        </p:nvSpPr>
        <p:spPr>
          <a:xfrm>
            <a:off x="0" y="1"/>
            <a:ext cx="9144000" cy="548876"/>
          </a:xfrm>
          <a:prstGeom prst="rect">
            <a:avLst/>
          </a:prstGeom>
          <a:solidFill>
            <a:schemeClr val="tx1"/>
          </a:solidFill>
        </p:spPr>
        <p:txBody>
          <a:bodyPr vert="horz" lIns="91440" tIns="45720" rIns="91440" bIns="45720" rtlCol="0" anchor="ctr">
            <a:normAutofit/>
          </a:bodyPr>
          <a:lstStyle>
            <a:lvl1pPr algn="ctr" defTabSz="342900" rtl="0" eaLnBrk="1" latinLnBrk="0" hangingPunct="1">
              <a:spcBef>
                <a:spcPct val="0"/>
              </a:spcBef>
              <a:buNone/>
              <a:defRPr sz="3300" kern="1200">
                <a:solidFill>
                  <a:schemeClr val="tx1"/>
                </a:solidFill>
                <a:latin typeface="+mj-lt"/>
                <a:ea typeface="+mj-ea"/>
                <a:cs typeface="+mj-cs"/>
              </a:defRPr>
            </a:lvl1pPr>
          </a:lstStyle>
          <a:p>
            <a:pPr algn="l"/>
            <a:r>
              <a:rPr lang="en-IN" sz="2800" dirty="0">
                <a:solidFill>
                  <a:schemeClr val="bg1"/>
                </a:solidFill>
              </a:rPr>
              <a:t>LAST_VALUE():</a:t>
            </a:r>
          </a:p>
        </p:txBody>
      </p:sp>
      <p:pic>
        <p:nvPicPr>
          <p:cNvPr id="5" name="Picture 4">
            <a:extLst>
              <a:ext uri="{FF2B5EF4-FFF2-40B4-BE49-F238E27FC236}">
                <a16:creationId xmlns:a16="http://schemas.microsoft.com/office/drawing/2014/main" id="{4B46EB81-EB21-5B2E-BFAE-ECCABA5326BC}"/>
              </a:ext>
            </a:extLst>
          </p:cNvPr>
          <p:cNvPicPr>
            <a:picLocks noChangeAspect="1"/>
          </p:cNvPicPr>
          <p:nvPr/>
        </p:nvPicPr>
        <p:blipFill>
          <a:blip r:embed="rId2"/>
          <a:stretch>
            <a:fillRect/>
          </a:stretch>
        </p:blipFill>
        <p:spPr>
          <a:xfrm>
            <a:off x="5763675" y="51792"/>
            <a:ext cx="3380325" cy="445294"/>
          </a:xfrm>
          <a:prstGeom prst="rect">
            <a:avLst/>
          </a:prstGeom>
        </p:spPr>
      </p:pic>
      <p:sp>
        <p:nvSpPr>
          <p:cNvPr id="6" name="Title 1">
            <a:extLst>
              <a:ext uri="{FF2B5EF4-FFF2-40B4-BE49-F238E27FC236}">
                <a16:creationId xmlns:a16="http://schemas.microsoft.com/office/drawing/2014/main" id="{2C4CFBC0-05F2-F038-7570-CEF71D367041}"/>
              </a:ext>
            </a:extLst>
          </p:cNvPr>
          <p:cNvSpPr txBox="1">
            <a:spLocks/>
          </p:cNvSpPr>
          <p:nvPr/>
        </p:nvSpPr>
        <p:spPr>
          <a:xfrm>
            <a:off x="0" y="4858718"/>
            <a:ext cx="9144000" cy="284781"/>
          </a:xfrm>
          <a:prstGeom prst="rect">
            <a:avLst/>
          </a:prstGeom>
          <a:solidFill>
            <a:schemeClr val="tx1"/>
          </a:solidFill>
        </p:spPr>
        <p:txBody>
          <a:bodyPr vert="horz" lIns="91440" tIns="45720" rIns="91440" bIns="45720" rtlCol="0" anchor="ctr">
            <a:normAutofit/>
          </a:bodyPr>
          <a:lstStyle>
            <a:lvl1pPr algn="ctr" defTabSz="342900" rtl="0" eaLnBrk="1" latinLnBrk="0" hangingPunct="1">
              <a:spcBef>
                <a:spcPct val="0"/>
              </a:spcBef>
              <a:buNone/>
              <a:defRPr sz="3300" kern="1200">
                <a:solidFill>
                  <a:schemeClr val="tx1"/>
                </a:solidFill>
                <a:latin typeface="+mj-lt"/>
                <a:ea typeface="+mj-ea"/>
                <a:cs typeface="+mj-cs"/>
              </a:defRPr>
            </a:lvl1pPr>
          </a:lstStyle>
          <a:p>
            <a:r>
              <a:rPr lang="en-IN" sz="1200" dirty="0">
                <a:solidFill>
                  <a:schemeClr val="bg1"/>
                </a:solidFill>
              </a:rPr>
              <a:t>© TINITIATE.COM</a:t>
            </a:r>
            <a:endParaRPr lang="en-IN" sz="1000" dirty="0">
              <a:solidFill>
                <a:schemeClr val="bg1"/>
              </a:solidFill>
            </a:endParaRPr>
          </a:p>
        </p:txBody>
      </p:sp>
    </p:spTree>
    <p:extLst>
      <p:ext uri="{BB962C8B-B14F-4D97-AF65-F5344CB8AC3E}">
        <p14:creationId xmlns:p14="http://schemas.microsoft.com/office/powerpoint/2010/main" val="2459967699"/>
      </p:ext>
    </p:extLst>
  </p:cSld>
  <p:clrMapOvr>
    <a:masterClrMapping/>
  </p:clrMapOvr>
</p:sld>
</file>

<file path=ppt/theme/theme1.xml><?xml version="1.0" encoding="utf-8"?>
<a:theme xmlns:a="http://schemas.openxmlformats.org/drawingml/2006/main" name="Office Theme">
  <a:themeElements>
    <a:clrScheme name="Custom 17">
      <a:dk1>
        <a:srgbClr val="1F497D"/>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8</TotalTime>
  <Words>2185</Words>
  <Application>Microsoft Office PowerPoint</Application>
  <PresentationFormat>On-screen Show (16:9)</PresentationFormat>
  <Paragraphs>65</Paragraphs>
  <Slides>18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Courier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app0.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cp:lastModifiedBy>Rohit K</cp:lastModifiedBy>
  <cp:revision>3</cp:revision>
  <dcterms:created xsi:type="dcterms:W3CDTF">2025-08-01T10:23:59Z</dcterms:created>
  <dcterms:modified xsi:type="dcterms:W3CDTF">2025-08-12T09:10:38Z</dcterms:modified>
</cp:coreProperties>
</file>