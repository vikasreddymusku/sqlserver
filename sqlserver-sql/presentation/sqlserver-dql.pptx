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6" r:id="rId5"/>
    <p:sldId id="260" r:id="rId6"/>
    <p:sldId id="267" r:id="rId7"/>
    <p:sldId id="261" r:id="rId8"/>
    <p:sldId id="262" r:id="rId9"/>
    <p:sldId id="263" r:id="rId10"/>
    <p:sldId id="264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226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3" name="Picture 2" descr="sqlserver.png">
            <a:extLst>
              <a:ext uri="{FF2B5EF4-FFF2-40B4-BE49-F238E27FC236}">
                <a16:creationId xmlns:a16="http://schemas.microsoft.com/office/drawing/2014/main" id="{C1117977-4A65-9C29-DA52-DB08066209CC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rcRect l="2193" t="4481" r="3658" b="6674"/>
          <a:stretch>
            <a:fillRect/>
          </a:stretch>
        </p:blipFill>
        <p:spPr bwMode="auto">
          <a:xfrm>
            <a:off x="131736" y="1619573"/>
            <a:ext cx="6540285" cy="16663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rmAutofit/>
          </a:bodyPr>
          <a:lstStyle/>
          <a:p>
            <a:pPr lvl="0"/>
            <a:r>
              <a:rPr sz="1800" dirty="0"/>
              <a:t>In SQL Server, DQL (Data Query Language) refers to the subset of SQL (Structured Query Language) specifically designed for querying and retrieving data from a SQL Server database.</a:t>
            </a:r>
          </a:p>
          <a:p>
            <a:pPr lvl="0"/>
            <a:r>
              <a:rPr sz="1800" dirty="0"/>
              <a:t>DQL primarily involves the use of SELECT statements to extract information from one or more tables within the database.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F7BBC37-CACD-C892-1CA5-33F49E41BCF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DQL - Data Query Language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1F5639-F6DE-738A-24B9-D0B1B129B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CFA682B-649D-4A45-8EF9-1E273AA26DD4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0"/>
            <a:r>
              <a:rPr sz="1800" dirty="0"/>
              <a:t>The fundamental component of DQL is the SELECT statement, which is used to retrieve data from one or more tables in the database.</a:t>
            </a:r>
          </a:p>
          <a:p>
            <a:pPr lvl="0"/>
            <a:r>
              <a:rPr sz="1800" dirty="0"/>
              <a:t>It allows users to specify the columns they want to retrieve from one or more tables in the database.</a:t>
            </a:r>
          </a:p>
          <a:p>
            <a:pPr lvl="0"/>
            <a:r>
              <a:rPr sz="1800" dirty="0"/>
              <a:t>SELECT statements can also include various clauses for filtering, sorting, and grouping the data.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Retrieve all columns from the emp table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;</a:t>
            </a:r>
            <a:br>
              <a:rPr sz="1400" dirty="0"/>
            </a:br>
            <a:br>
              <a:rPr sz="1400" dirty="0"/>
            </a:br>
            <a:r>
              <a:rPr sz="1400" i="1" dirty="0">
                <a:solidFill>
                  <a:srgbClr val="8F5902"/>
                </a:solidFill>
                <a:latin typeface="Courier"/>
              </a:rPr>
              <a:t>-- Retrieve </a:t>
            </a:r>
            <a:r>
              <a:rPr sz="1400" i="1" dirty="0" err="1">
                <a:solidFill>
                  <a:srgbClr val="8F5902"/>
                </a:solidFill>
                <a:latin typeface="Courier"/>
              </a:rPr>
              <a:t>empno</a:t>
            </a:r>
            <a:r>
              <a:rPr sz="1400" i="1" dirty="0">
                <a:solidFill>
                  <a:srgbClr val="8F5902"/>
                </a:solidFill>
                <a:latin typeface="Courier"/>
              </a:rPr>
              <a:t>, </a:t>
            </a:r>
            <a:r>
              <a:rPr sz="1400" i="1" dirty="0" err="1">
                <a:solidFill>
                  <a:srgbClr val="8F5902"/>
                </a:solidFill>
                <a:latin typeface="Courier"/>
              </a:rPr>
              <a:t>ename</a:t>
            </a:r>
            <a:r>
              <a:rPr sz="1400" i="1" dirty="0">
                <a:solidFill>
                  <a:srgbClr val="8F5902"/>
                </a:solidFill>
                <a:latin typeface="Courier"/>
              </a:rPr>
              <a:t> and job columns from the emp table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empno</a:t>
            </a:r>
            <a:r>
              <a:rPr sz="1400" dirty="0">
                <a:latin typeface="Courier"/>
              </a:rPr>
              <a:t>, </a:t>
            </a:r>
            <a:r>
              <a:rPr sz="1400" dirty="0" err="1">
                <a:latin typeface="Courier"/>
              </a:rPr>
              <a:t>ename</a:t>
            </a:r>
            <a:r>
              <a:rPr sz="1400" dirty="0">
                <a:latin typeface="Courier"/>
              </a:rPr>
              <a:t>, job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8CC8095-2E6F-CC69-BE5F-2104579FA86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SELECT Statement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C6A67C-BE4E-9E67-D514-2AECB9BC1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29AD736-5396-1EC8-4106-B2578B7FAA3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D23B5-F7A8-B500-99B2-D48E81E04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B7255-E2B2-F74B-D9D2-70E9C9F86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0" indent="0">
              <a:buNone/>
            </a:pPr>
            <a:r>
              <a:rPr lang="en-US" sz="1400" i="1" dirty="0">
                <a:solidFill>
                  <a:srgbClr val="8F5902"/>
                </a:solidFill>
                <a:latin typeface="Courier"/>
              </a:rPr>
              <a:t>-- DISTINCT can be used to retrieve unique titles from the column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DISTINCT</a:t>
            </a:r>
            <a:r>
              <a:rPr lang="en-US" sz="1400" dirty="0">
                <a:latin typeface="Courier"/>
              </a:rPr>
              <a:t> job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employees.emp</a:t>
            </a:r>
            <a:r>
              <a:rPr lang="en-US" sz="1400" dirty="0">
                <a:latin typeface="Courier"/>
              </a:rPr>
              <a:t>;</a:t>
            </a:r>
            <a:br>
              <a:rPr lang="en-US" sz="1400" dirty="0"/>
            </a:br>
            <a:br>
              <a:rPr lang="en-US" sz="1400" dirty="0"/>
            </a:br>
            <a:r>
              <a:rPr lang="en-US" sz="1400" i="1" dirty="0">
                <a:solidFill>
                  <a:srgbClr val="8F5902"/>
                </a:solidFill>
                <a:latin typeface="Courier"/>
              </a:rPr>
              <a:t>-- Using alias to display column name as per requirement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DISTINCT</a:t>
            </a:r>
            <a:r>
              <a:rPr lang="en-US" sz="1400" dirty="0">
                <a:latin typeface="Courier"/>
              </a:rPr>
              <a:t> job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employeejob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employees.emp</a:t>
            </a:r>
            <a:r>
              <a:rPr lang="en-US" sz="1400" dirty="0">
                <a:latin typeface="Courier"/>
              </a:rPr>
              <a:t>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67D572-F7E9-725F-FA7D-3817E96076B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SELECT Statement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E25FA7-3400-0590-0EC6-709DF544D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99829EA-8ADA-54BC-EA6F-FDE36C62C97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1814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506" y="874514"/>
            <a:ext cx="8229600" cy="3394472"/>
          </a:xfrm>
        </p:spPr>
        <p:txBody>
          <a:bodyPr>
            <a:noAutofit/>
          </a:bodyPr>
          <a:lstStyle/>
          <a:p>
            <a:pPr lvl="0"/>
            <a:r>
              <a:rPr sz="1800" dirty="0"/>
              <a:t>In SQL Server DQL, clauses are components of SQL statements that provide additional instructions or conditions to control the behavior of the query.</a:t>
            </a:r>
          </a:p>
          <a:p>
            <a:pPr lvl="0"/>
            <a:r>
              <a:rPr sz="1800" dirty="0"/>
              <a:t>Clauses can be used in various SQL statements such as SELECT, INSERT, UPDATE, DELETE, and more.</a:t>
            </a:r>
          </a:p>
          <a:p>
            <a:pPr lvl="0"/>
            <a:r>
              <a:rPr sz="1800" dirty="0"/>
              <a:t>These clauses allow users to filter, manipulate, and organize data according to specific requirements. </a:t>
            </a:r>
            <a:endParaRPr sz="1800" dirty="0"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97A8074-08AF-BA7E-A933-DB97EACA483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Commonly used clauses in SQL Server: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A52810-7EBE-9474-F5A4-D516B6DEC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74360C3-81EA-7732-84D7-AF9F8B2E5BC8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DA66C-EEC9-825C-2E31-11F37E209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A9D7F-C71A-4DEE-B95C-53440F34C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0"/>
            <a:r>
              <a:rPr sz="1800" dirty="0"/>
              <a:t>The WHERE clause is used to filter rows based on specified conditions.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Retrieve employees with a specific job title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400" dirty="0">
                <a:latin typeface="Courier"/>
              </a:rPr>
              <a:t> job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'manager'</a:t>
            </a:r>
            <a:r>
              <a:rPr sz="1400" dirty="0">
                <a:latin typeface="Courier"/>
              </a:rPr>
              <a:t>;</a:t>
            </a:r>
            <a:br>
              <a:rPr sz="1400" dirty="0"/>
            </a:br>
            <a:br>
              <a:rPr sz="1400" dirty="0"/>
            </a:br>
            <a:r>
              <a:rPr sz="1400" i="1" dirty="0">
                <a:solidFill>
                  <a:srgbClr val="8F5902"/>
                </a:solidFill>
                <a:latin typeface="Courier"/>
              </a:rPr>
              <a:t>-- Retrieve employees hired after a specific date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hiredate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&gt;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'1982-01-01'</a:t>
            </a:r>
            <a:r>
              <a:rPr sz="1400" dirty="0">
                <a:latin typeface="Courier"/>
              </a:rPr>
              <a:t>;</a:t>
            </a:r>
            <a:br>
              <a:rPr sz="1400" dirty="0"/>
            </a:br>
            <a:br>
              <a:rPr sz="1400" dirty="0"/>
            </a:br>
            <a:r>
              <a:rPr sz="1400" i="1" dirty="0">
                <a:solidFill>
                  <a:srgbClr val="8F5902"/>
                </a:solidFill>
                <a:latin typeface="Courier"/>
              </a:rPr>
              <a:t>-- Retrieve employees with a salary higher than a certain amount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sal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&gt;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2000</a:t>
            </a:r>
            <a:r>
              <a:rPr sz="1400" dirty="0">
                <a:latin typeface="Courier"/>
              </a:rPr>
              <a:t>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A4D4DB9-B05A-0D33-8E4A-5AE283E6FB4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WHERE Clause: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AB15B4-6F47-E472-B9A9-E1C1DD446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CE3F9F2-64FE-61DD-AC95-FA74987D193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6815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sz="1900" dirty="0"/>
              <a:t>The GROUP BY clause is used to group rows that have the same values into summary rows.</a:t>
            </a:r>
          </a:p>
          <a:p>
            <a:pPr lvl="0" indent="0">
              <a:buNone/>
            </a:pPr>
            <a:r>
              <a:rPr sz="1500" i="1" dirty="0">
                <a:solidFill>
                  <a:srgbClr val="8F5902"/>
                </a:solidFill>
                <a:latin typeface="Courier"/>
              </a:rPr>
              <a:t>-- Calculate the total salary expense for each dept</a:t>
            </a:r>
            <a:br>
              <a:rPr sz="1500" dirty="0"/>
            </a:br>
            <a:r>
              <a:rPr sz="15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500" dirty="0">
                <a:latin typeface="Courier"/>
              </a:rPr>
              <a:t> </a:t>
            </a:r>
            <a:r>
              <a:rPr sz="1500" dirty="0" err="1">
                <a:latin typeface="Courier"/>
              </a:rPr>
              <a:t>deptno</a:t>
            </a:r>
            <a:r>
              <a:rPr sz="1500" dirty="0">
                <a:latin typeface="Courier"/>
              </a:rPr>
              <a:t>, </a:t>
            </a:r>
            <a:r>
              <a:rPr sz="1500" b="1" dirty="0">
                <a:solidFill>
                  <a:srgbClr val="204A87"/>
                </a:solidFill>
                <a:latin typeface="Courier"/>
              </a:rPr>
              <a:t>SUM</a:t>
            </a:r>
            <a:r>
              <a:rPr sz="1500" dirty="0">
                <a:latin typeface="Courier"/>
              </a:rPr>
              <a:t>(</a:t>
            </a:r>
            <a:r>
              <a:rPr sz="1500" dirty="0" err="1">
                <a:latin typeface="Courier"/>
              </a:rPr>
              <a:t>sal</a:t>
            </a:r>
            <a:r>
              <a:rPr sz="1500" dirty="0">
                <a:latin typeface="Courier"/>
              </a:rPr>
              <a:t>) </a:t>
            </a:r>
            <a:r>
              <a:rPr sz="15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500" dirty="0">
                <a:latin typeface="Courier"/>
              </a:rPr>
              <a:t> </a:t>
            </a:r>
            <a:r>
              <a:rPr sz="1500" dirty="0" err="1">
                <a:latin typeface="Courier"/>
              </a:rPr>
              <a:t>total_salary</a:t>
            </a:r>
            <a:br>
              <a:rPr sz="1500" dirty="0"/>
            </a:br>
            <a:r>
              <a:rPr sz="15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500" dirty="0">
                <a:latin typeface="Courier"/>
              </a:rPr>
              <a:t> </a:t>
            </a:r>
            <a:r>
              <a:rPr sz="1500" dirty="0" err="1">
                <a:latin typeface="Courier"/>
              </a:rPr>
              <a:t>employees.emp</a:t>
            </a:r>
            <a:br>
              <a:rPr sz="1500" dirty="0"/>
            </a:br>
            <a:r>
              <a:rPr sz="1500" b="1" dirty="0">
                <a:solidFill>
                  <a:srgbClr val="204A87"/>
                </a:solidFill>
                <a:latin typeface="Courier"/>
              </a:rPr>
              <a:t>GROUP</a:t>
            </a:r>
            <a:r>
              <a:rPr sz="1500" dirty="0">
                <a:latin typeface="Courier"/>
              </a:rPr>
              <a:t> </a:t>
            </a:r>
            <a:r>
              <a:rPr sz="1500" b="1" dirty="0">
                <a:solidFill>
                  <a:srgbClr val="204A87"/>
                </a:solidFill>
                <a:latin typeface="Courier"/>
              </a:rPr>
              <a:t>BY</a:t>
            </a:r>
            <a:r>
              <a:rPr sz="1500" dirty="0">
                <a:latin typeface="Courier"/>
              </a:rPr>
              <a:t> </a:t>
            </a:r>
            <a:r>
              <a:rPr sz="1500" dirty="0" err="1">
                <a:latin typeface="Courier"/>
              </a:rPr>
              <a:t>deptno</a:t>
            </a:r>
            <a:r>
              <a:rPr sz="1500" dirty="0">
                <a:latin typeface="Courier"/>
              </a:rPr>
              <a:t>;</a:t>
            </a:r>
            <a:br>
              <a:rPr sz="1500" dirty="0"/>
            </a:br>
            <a:br>
              <a:rPr sz="1500" dirty="0"/>
            </a:br>
            <a:r>
              <a:rPr sz="1500" i="1" dirty="0">
                <a:solidFill>
                  <a:srgbClr val="8F5902"/>
                </a:solidFill>
                <a:latin typeface="Courier"/>
              </a:rPr>
              <a:t>-- Count the number of employees in each job title</a:t>
            </a:r>
            <a:br>
              <a:rPr sz="1500" dirty="0"/>
            </a:br>
            <a:r>
              <a:rPr sz="15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500" dirty="0">
                <a:latin typeface="Courier"/>
              </a:rPr>
              <a:t> job, </a:t>
            </a:r>
            <a:r>
              <a:rPr sz="1500" b="1" dirty="0">
                <a:solidFill>
                  <a:srgbClr val="204A87"/>
                </a:solidFill>
                <a:latin typeface="Courier"/>
              </a:rPr>
              <a:t>COUNT</a:t>
            </a:r>
            <a:r>
              <a:rPr sz="1500" dirty="0">
                <a:latin typeface="Courier"/>
              </a:rPr>
              <a:t>(</a:t>
            </a:r>
            <a:r>
              <a:rPr sz="15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1500" dirty="0">
                <a:latin typeface="Courier"/>
              </a:rPr>
              <a:t>) </a:t>
            </a:r>
            <a:r>
              <a:rPr sz="15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500" dirty="0">
                <a:latin typeface="Courier"/>
              </a:rPr>
              <a:t> </a:t>
            </a:r>
            <a:r>
              <a:rPr sz="1500" dirty="0" err="1">
                <a:latin typeface="Courier"/>
              </a:rPr>
              <a:t>num_employees</a:t>
            </a:r>
            <a:br>
              <a:rPr sz="1500" dirty="0"/>
            </a:br>
            <a:r>
              <a:rPr sz="15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500" dirty="0">
                <a:latin typeface="Courier"/>
              </a:rPr>
              <a:t> </a:t>
            </a:r>
            <a:r>
              <a:rPr sz="1500" dirty="0" err="1">
                <a:latin typeface="Courier"/>
              </a:rPr>
              <a:t>employees.emp</a:t>
            </a:r>
            <a:br>
              <a:rPr sz="1500" dirty="0"/>
            </a:br>
            <a:r>
              <a:rPr sz="1500" b="1" dirty="0">
                <a:solidFill>
                  <a:srgbClr val="204A87"/>
                </a:solidFill>
                <a:latin typeface="Courier"/>
              </a:rPr>
              <a:t>GROUP</a:t>
            </a:r>
            <a:r>
              <a:rPr sz="1500" dirty="0">
                <a:latin typeface="Courier"/>
              </a:rPr>
              <a:t> </a:t>
            </a:r>
            <a:r>
              <a:rPr sz="1500" b="1" dirty="0">
                <a:solidFill>
                  <a:srgbClr val="204A87"/>
                </a:solidFill>
                <a:latin typeface="Courier"/>
              </a:rPr>
              <a:t>BY</a:t>
            </a:r>
            <a:r>
              <a:rPr sz="1500" dirty="0">
                <a:latin typeface="Courier"/>
              </a:rPr>
              <a:t> job;</a:t>
            </a:r>
            <a:br>
              <a:rPr sz="1500" dirty="0"/>
            </a:br>
            <a:br>
              <a:rPr sz="1500" dirty="0"/>
            </a:br>
            <a:r>
              <a:rPr sz="1500" i="1" dirty="0">
                <a:solidFill>
                  <a:srgbClr val="8F5902"/>
                </a:solidFill>
                <a:latin typeface="Courier"/>
              </a:rPr>
              <a:t>-- Calculate the average commission for each dept</a:t>
            </a:r>
            <a:br>
              <a:rPr sz="1500" dirty="0"/>
            </a:br>
            <a:r>
              <a:rPr sz="15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500" dirty="0">
                <a:latin typeface="Courier"/>
              </a:rPr>
              <a:t> </a:t>
            </a:r>
            <a:r>
              <a:rPr sz="1500" dirty="0" err="1">
                <a:latin typeface="Courier"/>
              </a:rPr>
              <a:t>deptno</a:t>
            </a:r>
            <a:r>
              <a:rPr sz="1500" dirty="0">
                <a:latin typeface="Courier"/>
              </a:rPr>
              <a:t>, </a:t>
            </a:r>
            <a:r>
              <a:rPr sz="1500" b="1" dirty="0">
                <a:solidFill>
                  <a:srgbClr val="204A87"/>
                </a:solidFill>
                <a:latin typeface="Courier"/>
              </a:rPr>
              <a:t>AVG</a:t>
            </a:r>
            <a:r>
              <a:rPr sz="1500" dirty="0">
                <a:latin typeface="Courier"/>
              </a:rPr>
              <a:t>(commission) </a:t>
            </a:r>
            <a:r>
              <a:rPr sz="15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500" dirty="0">
                <a:latin typeface="Courier"/>
              </a:rPr>
              <a:t> </a:t>
            </a:r>
            <a:r>
              <a:rPr sz="1500" dirty="0" err="1">
                <a:latin typeface="Courier"/>
              </a:rPr>
              <a:t>avg_commission</a:t>
            </a:r>
            <a:br>
              <a:rPr sz="1500" dirty="0"/>
            </a:br>
            <a:r>
              <a:rPr sz="15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500" dirty="0">
                <a:latin typeface="Courier"/>
              </a:rPr>
              <a:t> </a:t>
            </a:r>
            <a:r>
              <a:rPr sz="1500" dirty="0" err="1">
                <a:latin typeface="Courier"/>
              </a:rPr>
              <a:t>employees.emp</a:t>
            </a:r>
            <a:br>
              <a:rPr sz="1500" dirty="0"/>
            </a:br>
            <a:r>
              <a:rPr sz="1500" b="1" dirty="0">
                <a:solidFill>
                  <a:srgbClr val="204A87"/>
                </a:solidFill>
                <a:latin typeface="Courier"/>
              </a:rPr>
              <a:t>GROUP</a:t>
            </a:r>
            <a:r>
              <a:rPr sz="1500" dirty="0">
                <a:latin typeface="Courier"/>
              </a:rPr>
              <a:t> </a:t>
            </a:r>
            <a:r>
              <a:rPr sz="1500" b="1" dirty="0">
                <a:solidFill>
                  <a:srgbClr val="204A87"/>
                </a:solidFill>
                <a:latin typeface="Courier"/>
              </a:rPr>
              <a:t>BY</a:t>
            </a:r>
            <a:r>
              <a:rPr sz="1500" dirty="0">
                <a:latin typeface="Courier"/>
              </a:rPr>
              <a:t> </a:t>
            </a:r>
            <a:r>
              <a:rPr sz="1500" dirty="0" err="1">
                <a:latin typeface="Courier"/>
              </a:rPr>
              <a:t>deptno</a:t>
            </a:r>
            <a:r>
              <a:rPr sz="1500" dirty="0">
                <a:latin typeface="Courier"/>
              </a:rPr>
              <a:t>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29A16B1-A148-26CE-5958-75E344E0FAB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GROUP BY Clause: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EC5DBD-5243-353C-8CD1-F130EC3E3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D565F65-0D85-C15C-017A-9C0C57AF1EAC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rmAutofit fontScale="55000" lnSpcReduction="20000"/>
          </a:bodyPr>
          <a:lstStyle/>
          <a:p>
            <a:pPr lvl="0"/>
            <a:r>
              <a:rPr sz="3300" dirty="0"/>
              <a:t>The HAVING clause is used to filter groups of rows returned by a GROUP BY clause.</a:t>
            </a:r>
          </a:p>
          <a:p>
            <a:pPr lvl="0" indent="0">
              <a:buNone/>
            </a:pPr>
            <a:r>
              <a:rPr sz="2500" i="1" dirty="0">
                <a:solidFill>
                  <a:srgbClr val="8F5902"/>
                </a:solidFill>
                <a:latin typeface="Courier"/>
              </a:rPr>
              <a:t>-- Retrieve departments with more than two employees</a:t>
            </a:r>
            <a:br>
              <a:rPr sz="2500" dirty="0"/>
            </a:br>
            <a:r>
              <a:rPr sz="25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2500" dirty="0">
                <a:latin typeface="Courier"/>
              </a:rPr>
              <a:t> </a:t>
            </a:r>
            <a:r>
              <a:rPr sz="2500" dirty="0" err="1">
                <a:latin typeface="Courier"/>
              </a:rPr>
              <a:t>deptno</a:t>
            </a:r>
            <a:r>
              <a:rPr sz="2500" dirty="0">
                <a:latin typeface="Courier"/>
              </a:rPr>
              <a:t>, </a:t>
            </a:r>
            <a:r>
              <a:rPr sz="2500" b="1" dirty="0">
                <a:solidFill>
                  <a:srgbClr val="204A87"/>
                </a:solidFill>
                <a:latin typeface="Courier"/>
              </a:rPr>
              <a:t>COUNT</a:t>
            </a:r>
            <a:r>
              <a:rPr sz="2500" dirty="0">
                <a:latin typeface="Courier"/>
              </a:rPr>
              <a:t>(</a:t>
            </a:r>
            <a:r>
              <a:rPr sz="25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2500" dirty="0">
                <a:latin typeface="Courier"/>
              </a:rPr>
              <a:t>) </a:t>
            </a:r>
            <a:r>
              <a:rPr sz="25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2500" dirty="0">
                <a:latin typeface="Courier"/>
              </a:rPr>
              <a:t> </a:t>
            </a:r>
            <a:r>
              <a:rPr sz="2500" dirty="0" err="1">
                <a:latin typeface="Courier"/>
              </a:rPr>
              <a:t>num_employees</a:t>
            </a:r>
            <a:br>
              <a:rPr sz="2500" dirty="0"/>
            </a:br>
            <a:r>
              <a:rPr sz="25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2500" dirty="0">
                <a:latin typeface="Courier"/>
              </a:rPr>
              <a:t> </a:t>
            </a:r>
            <a:r>
              <a:rPr sz="2500" dirty="0" err="1">
                <a:latin typeface="Courier"/>
              </a:rPr>
              <a:t>employees.emp</a:t>
            </a:r>
            <a:br>
              <a:rPr sz="2500" dirty="0"/>
            </a:br>
            <a:r>
              <a:rPr sz="2500" b="1" dirty="0">
                <a:solidFill>
                  <a:srgbClr val="204A87"/>
                </a:solidFill>
                <a:latin typeface="Courier"/>
              </a:rPr>
              <a:t>GROUP</a:t>
            </a:r>
            <a:r>
              <a:rPr sz="2500" dirty="0">
                <a:latin typeface="Courier"/>
              </a:rPr>
              <a:t> </a:t>
            </a:r>
            <a:r>
              <a:rPr sz="2500" b="1" dirty="0">
                <a:solidFill>
                  <a:srgbClr val="204A87"/>
                </a:solidFill>
                <a:latin typeface="Courier"/>
              </a:rPr>
              <a:t>BY</a:t>
            </a:r>
            <a:r>
              <a:rPr sz="2500" dirty="0">
                <a:latin typeface="Courier"/>
              </a:rPr>
              <a:t> </a:t>
            </a:r>
            <a:r>
              <a:rPr sz="2500" dirty="0" err="1">
                <a:latin typeface="Courier"/>
              </a:rPr>
              <a:t>deptno</a:t>
            </a:r>
            <a:br>
              <a:rPr sz="2500" dirty="0"/>
            </a:br>
            <a:r>
              <a:rPr sz="2500" b="1" dirty="0">
                <a:solidFill>
                  <a:srgbClr val="204A87"/>
                </a:solidFill>
                <a:latin typeface="Courier"/>
              </a:rPr>
              <a:t>HAVING</a:t>
            </a:r>
            <a:r>
              <a:rPr sz="2500" dirty="0">
                <a:latin typeface="Courier"/>
              </a:rPr>
              <a:t> </a:t>
            </a:r>
            <a:r>
              <a:rPr sz="2500" b="1" dirty="0">
                <a:solidFill>
                  <a:srgbClr val="204A87"/>
                </a:solidFill>
                <a:latin typeface="Courier"/>
              </a:rPr>
              <a:t>COUNT</a:t>
            </a:r>
            <a:r>
              <a:rPr sz="2500" dirty="0">
                <a:latin typeface="Courier"/>
              </a:rPr>
              <a:t>(</a:t>
            </a:r>
            <a:r>
              <a:rPr sz="25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2500" dirty="0">
                <a:latin typeface="Courier"/>
              </a:rPr>
              <a:t>) </a:t>
            </a:r>
            <a:r>
              <a:rPr sz="2500" b="1" dirty="0">
                <a:solidFill>
                  <a:srgbClr val="CE5C00"/>
                </a:solidFill>
                <a:latin typeface="Courier"/>
              </a:rPr>
              <a:t>&gt;</a:t>
            </a:r>
            <a:r>
              <a:rPr sz="2500" dirty="0">
                <a:latin typeface="Courier"/>
              </a:rPr>
              <a:t> </a:t>
            </a:r>
            <a:r>
              <a:rPr sz="2500" dirty="0">
                <a:solidFill>
                  <a:srgbClr val="0000CF"/>
                </a:solidFill>
                <a:latin typeface="Courier"/>
              </a:rPr>
              <a:t>2</a:t>
            </a:r>
            <a:r>
              <a:rPr sz="2500" dirty="0">
                <a:latin typeface="Courier"/>
              </a:rPr>
              <a:t>;</a:t>
            </a:r>
            <a:br>
              <a:rPr sz="2500" dirty="0"/>
            </a:br>
            <a:br>
              <a:rPr sz="2500" dirty="0"/>
            </a:br>
            <a:r>
              <a:rPr sz="2500" i="1" dirty="0">
                <a:solidFill>
                  <a:srgbClr val="8F5902"/>
                </a:solidFill>
                <a:latin typeface="Courier"/>
              </a:rPr>
              <a:t>-- Retrieve job titles with an average salary greater than 2500</a:t>
            </a:r>
            <a:br>
              <a:rPr sz="2500" dirty="0"/>
            </a:br>
            <a:r>
              <a:rPr sz="25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2500" dirty="0">
                <a:latin typeface="Courier"/>
              </a:rPr>
              <a:t> job, </a:t>
            </a:r>
            <a:r>
              <a:rPr sz="2500" b="1" dirty="0">
                <a:solidFill>
                  <a:srgbClr val="204A87"/>
                </a:solidFill>
                <a:latin typeface="Courier"/>
              </a:rPr>
              <a:t>AVG</a:t>
            </a:r>
            <a:r>
              <a:rPr sz="2500" dirty="0">
                <a:latin typeface="Courier"/>
              </a:rPr>
              <a:t>(</a:t>
            </a:r>
            <a:r>
              <a:rPr sz="2500" dirty="0" err="1">
                <a:latin typeface="Courier"/>
              </a:rPr>
              <a:t>sal</a:t>
            </a:r>
            <a:r>
              <a:rPr sz="2500" dirty="0">
                <a:latin typeface="Courier"/>
              </a:rPr>
              <a:t>) </a:t>
            </a:r>
            <a:r>
              <a:rPr sz="25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2500" dirty="0">
                <a:latin typeface="Courier"/>
              </a:rPr>
              <a:t> </a:t>
            </a:r>
            <a:r>
              <a:rPr sz="2500" dirty="0" err="1">
                <a:latin typeface="Courier"/>
              </a:rPr>
              <a:t>avg_salary</a:t>
            </a:r>
            <a:br>
              <a:rPr sz="2500" dirty="0"/>
            </a:br>
            <a:r>
              <a:rPr sz="25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2500" dirty="0">
                <a:latin typeface="Courier"/>
              </a:rPr>
              <a:t> </a:t>
            </a:r>
            <a:r>
              <a:rPr sz="2500" dirty="0" err="1">
                <a:latin typeface="Courier"/>
              </a:rPr>
              <a:t>employees.emp</a:t>
            </a:r>
            <a:br>
              <a:rPr sz="2500" dirty="0"/>
            </a:br>
            <a:r>
              <a:rPr sz="2500" b="1" dirty="0">
                <a:solidFill>
                  <a:srgbClr val="204A87"/>
                </a:solidFill>
                <a:latin typeface="Courier"/>
              </a:rPr>
              <a:t>GROUP</a:t>
            </a:r>
            <a:r>
              <a:rPr sz="2500" dirty="0">
                <a:latin typeface="Courier"/>
              </a:rPr>
              <a:t> </a:t>
            </a:r>
            <a:r>
              <a:rPr sz="2500" b="1" dirty="0">
                <a:solidFill>
                  <a:srgbClr val="204A87"/>
                </a:solidFill>
                <a:latin typeface="Courier"/>
              </a:rPr>
              <a:t>BY</a:t>
            </a:r>
            <a:r>
              <a:rPr sz="2500" dirty="0">
                <a:latin typeface="Courier"/>
              </a:rPr>
              <a:t> job</a:t>
            </a:r>
            <a:br>
              <a:rPr sz="2500" dirty="0"/>
            </a:br>
            <a:r>
              <a:rPr sz="2500" b="1" dirty="0">
                <a:solidFill>
                  <a:srgbClr val="204A87"/>
                </a:solidFill>
                <a:latin typeface="Courier"/>
              </a:rPr>
              <a:t>HAVING</a:t>
            </a:r>
            <a:r>
              <a:rPr sz="2500" dirty="0">
                <a:latin typeface="Courier"/>
              </a:rPr>
              <a:t> </a:t>
            </a:r>
            <a:r>
              <a:rPr sz="2500" b="1" dirty="0">
                <a:solidFill>
                  <a:srgbClr val="204A87"/>
                </a:solidFill>
                <a:latin typeface="Courier"/>
              </a:rPr>
              <a:t>AVG</a:t>
            </a:r>
            <a:r>
              <a:rPr sz="2500" dirty="0">
                <a:latin typeface="Courier"/>
              </a:rPr>
              <a:t>(</a:t>
            </a:r>
            <a:r>
              <a:rPr sz="2500" dirty="0" err="1">
                <a:latin typeface="Courier"/>
              </a:rPr>
              <a:t>sal</a:t>
            </a:r>
            <a:r>
              <a:rPr sz="2500" dirty="0">
                <a:latin typeface="Courier"/>
              </a:rPr>
              <a:t>) </a:t>
            </a:r>
            <a:r>
              <a:rPr sz="2500" b="1" dirty="0">
                <a:solidFill>
                  <a:srgbClr val="CE5C00"/>
                </a:solidFill>
                <a:latin typeface="Courier"/>
              </a:rPr>
              <a:t>&gt;</a:t>
            </a:r>
            <a:r>
              <a:rPr sz="2500" dirty="0">
                <a:latin typeface="Courier"/>
              </a:rPr>
              <a:t> </a:t>
            </a:r>
            <a:r>
              <a:rPr sz="2500" dirty="0">
                <a:solidFill>
                  <a:srgbClr val="0000CF"/>
                </a:solidFill>
                <a:latin typeface="Courier"/>
              </a:rPr>
              <a:t>2500</a:t>
            </a:r>
            <a:r>
              <a:rPr sz="2500" dirty="0">
                <a:latin typeface="Courier"/>
              </a:rPr>
              <a:t>;</a:t>
            </a:r>
            <a:br>
              <a:rPr sz="2500" dirty="0"/>
            </a:br>
            <a:br>
              <a:rPr sz="2500" dirty="0"/>
            </a:br>
            <a:r>
              <a:rPr sz="2500" i="1" dirty="0">
                <a:solidFill>
                  <a:srgbClr val="8F5902"/>
                </a:solidFill>
                <a:latin typeface="Courier"/>
              </a:rPr>
              <a:t>-- Retrieve departments where the total salary expense exceeds 10000</a:t>
            </a:r>
            <a:br>
              <a:rPr sz="2500" dirty="0"/>
            </a:br>
            <a:r>
              <a:rPr sz="25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2500" dirty="0">
                <a:latin typeface="Courier"/>
              </a:rPr>
              <a:t> </a:t>
            </a:r>
            <a:r>
              <a:rPr sz="2500" dirty="0" err="1">
                <a:latin typeface="Courier"/>
              </a:rPr>
              <a:t>deptno</a:t>
            </a:r>
            <a:r>
              <a:rPr sz="2500" dirty="0">
                <a:latin typeface="Courier"/>
              </a:rPr>
              <a:t>, </a:t>
            </a:r>
            <a:r>
              <a:rPr sz="2500" b="1" dirty="0">
                <a:solidFill>
                  <a:srgbClr val="204A87"/>
                </a:solidFill>
                <a:latin typeface="Courier"/>
              </a:rPr>
              <a:t>SUM</a:t>
            </a:r>
            <a:r>
              <a:rPr sz="2500" dirty="0">
                <a:latin typeface="Courier"/>
              </a:rPr>
              <a:t>(</a:t>
            </a:r>
            <a:r>
              <a:rPr sz="2500" dirty="0" err="1">
                <a:latin typeface="Courier"/>
              </a:rPr>
              <a:t>sal</a:t>
            </a:r>
            <a:r>
              <a:rPr sz="2500" dirty="0">
                <a:latin typeface="Courier"/>
              </a:rPr>
              <a:t>) </a:t>
            </a:r>
            <a:r>
              <a:rPr sz="25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2500" dirty="0">
                <a:latin typeface="Courier"/>
              </a:rPr>
              <a:t> </a:t>
            </a:r>
            <a:r>
              <a:rPr sz="2500" dirty="0" err="1">
                <a:latin typeface="Courier"/>
              </a:rPr>
              <a:t>total_salary</a:t>
            </a:r>
            <a:br>
              <a:rPr sz="2500" dirty="0"/>
            </a:br>
            <a:r>
              <a:rPr sz="25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2500" dirty="0">
                <a:latin typeface="Courier"/>
              </a:rPr>
              <a:t> </a:t>
            </a:r>
            <a:r>
              <a:rPr sz="2500" dirty="0" err="1">
                <a:latin typeface="Courier"/>
              </a:rPr>
              <a:t>employees.emp</a:t>
            </a:r>
            <a:br>
              <a:rPr sz="2500" dirty="0"/>
            </a:br>
            <a:r>
              <a:rPr sz="2500" b="1" dirty="0">
                <a:solidFill>
                  <a:srgbClr val="204A87"/>
                </a:solidFill>
                <a:latin typeface="Courier"/>
              </a:rPr>
              <a:t>GROUP</a:t>
            </a:r>
            <a:r>
              <a:rPr sz="2500" dirty="0">
                <a:latin typeface="Courier"/>
              </a:rPr>
              <a:t> </a:t>
            </a:r>
            <a:r>
              <a:rPr sz="2500" b="1" dirty="0">
                <a:solidFill>
                  <a:srgbClr val="204A87"/>
                </a:solidFill>
                <a:latin typeface="Courier"/>
              </a:rPr>
              <a:t>BY</a:t>
            </a:r>
            <a:r>
              <a:rPr sz="2500" dirty="0">
                <a:latin typeface="Courier"/>
              </a:rPr>
              <a:t> </a:t>
            </a:r>
            <a:r>
              <a:rPr sz="2500" dirty="0" err="1">
                <a:latin typeface="Courier"/>
              </a:rPr>
              <a:t>deptno</a:t>
            </a:r>
            <a:br>
              <a:rPr sz="2500" dirty="0"/>
            </a:br>
            <a:r>
              <a:rPr sz="2500" b="1" dirty="0">
                <a:solidFill>
                  <a:srgbClr val="204A87"/>
                </a:solidFill>
                <a:latin typeface="Courier"/>
              </a:rPr>
              <a:t>HAVING</a:t>
            </a:r>
            <a:r>
              <a:rPr sz="2500" dirty="0">
                <a:latin typeface="Courier"/>
              </a:rPr>
              <a:t> </a:t>
            </a:r>
            <a:r>
              <a:rPr sz="2500" b="1" dirty="0">
                <a:solidFill>
                  <a:srgbClr val="204A87"/>
                </a:solidFill>
                <a:latin typeface="Courier"/>
              </a:rPr>
              <a:t>SUM</a:t>
            </a:r>
            <a:r>
              <a:rPr sz="2500" dirty="0">
                <a:latin typeface="Courier"/>
              </a:rPr>
              <a:t>(</a:t>
            </a:r>
            <a:r>
              <a:rPr sz="2500" dirty="0" err="1">
                <a:latin typeface="Courier"/>
              </a:rPr>
              <a:t>sal</a:t>
            </a:r>
            <a:r>
              <a:rPr sz="2500" dirty="0">
                <a:latin typeface="Courier"/>
              </a:rPr>
              <a:t>) </a:t>
            </a:r>
            <a:r>
              <a:rPr sz="2500" b="1" dirty="0">
                <a:solidFill>
                  <a:srgbClr val="CE5C00"/>
                </a:solidFill>
                <a:latin typeface="Courier"/>
              </a:rPr>
              <a:t>&gt;</a:t>
            </a:r>
            <a:r>
              <a:rPr sz="2500" dirty="0">
                <a:latin typeface="Courier"/>
              </a:rPr>
              <a:t> </a:t>
            </a:r>
            <a:r>
              <a:rPr sz="2500" dirty="0">
                <a:solidFill>
                  <a:srgbClr val="0000CF"/>
                </a:solidFill>
                <a:latin typeface="Courier"/>
              </a:rPr>
              <a:t>10000</a:t>
            </a:r>
            <a:r>
              <a:rPr sz="2500" dirty="0">
                <a:latin typeface="Courier"/>
              </a:rPr>
              <a:t>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D4C77C-FDE1-58D3-18D7-0BF46BB43A1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HAVING Clause: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2A7526-F8C0-F3D0-2D29-452D87A7F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596ACD1-28FE-0124-84D0-ED98120609BB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sz="2600" dirty="0"/>
              <a:t>The ORDER BY clause is used to sort the result set based on specified columns.</a:t>
            </a:r>
          </a:p>
          <a:p>
            <a:pPr lvl="0" indent="0">
              <a:buNone/>
            </a:pPr>
            <a:r>
              <a:rPr sz="2000" i="1" dirty="0">
                <a:solidFill>
                  <a:srgbClr val="8F5902"/>
                </a:solidFill>
                <a:latin typeface="Courier"/>
              </a:rPr>
              <a:t>-- Retrieve employees sorted by salary in descending order</a:t>
            </a:r>
            <a:br>
              <a:rPr sz="2000" dirty="0"/>
            </a:br>
            <a:r>
              <a:rPr sz="20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2000" dirty="0">
                <a:latin typeface="Courier"/>
              </a:rPr>
              <a:t> </a:t>
            </a:r>
            <a:r>
              <a:rPr sz="2000" b="1" dirty="0">
                <a:solidFill>
                  <a:srgbClr val="CE5C00"/>
                </a:solidFill>
                <a:latin typeface="Courier"/>
              </a:rPr>
              <a:t>*</a:t>
            </a:r>
            <a:br>
              <a:rPr sz="2000" dirty="0"/>
            </a:br>
            <a:r>
              <a:rPr sz="20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2000" dirty="0">
                <a:latin typeface="Courier"/>
              </a:rPr>
              <a:t> </a:t>
            </a:r>
            <a:r>
              <a:rPr sz="2000" dirty="0" err="1">
                <a:latin typeface="Courier"/>
              </a:rPr>
              <a:t>employees.emp</a:t>
            </a:r>
            <a:br>
              <a:rPr sz="2000" dirty="0"/>
            </a:br>
            <a:r>
              <a:rPr sz="2000" b="1" dirty="0">
                <a:solidFill>
                  <a:srgbClr val="204A87"/>
                </a:solidFill>
                <a:latin typeface="Courier"/>
              </a:rPr>
              <a:t>ORDER</a:t>
            </a:r>
            <a:r>
              <a:rPr sz="2000" dirty="0">
                <a:latin typeface="Courier"/>
              </a:rPr>
              <a:t> </a:t>
            </a:r>
            <a:r>
              <a:rPr sz="2000" b="1" dirty="0">
                <a:solidFill>
                  <a:srgbClr val="204A87"/>
                </a:solidFill>
                <a:latin typeface="Courier"/>
              </a:rPr>
              <a:t>BY</a:t>
            </a:r>
            <a:r>
              <a:rPr sz="2000" dirty="0">
                <a:latin typeface="Courier"/>
              </a:rPr>
              <a:t> </a:t>
            </a:r>
            <a:r>
              <a:rPr sz="2000" dirty="0" err="1">
                <a:latin typeface="Courier"/>
              </a:rPr>
              <a:t>sal</a:t>
            </a:r>
            <a:r>
              <a:rPr sz="2000" dirty="0">
                <a:latin typeface="Courier"/>
              </a:rPr>
              <a:t> </a:t>
            </a:r>
            <a:r>
              <a:rPr sz="2000" b="1" dirty="0">
                <a:solidFill>
                  <a:srgbClr val="204A87"/>
                </a:solidFill>
                <a:latin typeface="Courier"/>
              </a:rPr>
              <a:t>DESC</a:t>
            </a:r>
            <a:r>
              <a:rPr sz="2000" dirty="0">
                <a:latin typeface="Courier"/>
              </a:rPr>
              <a:t>;</a:t>
            </a:r>
            <a:br>
              <a:rPr sz="2000" dirty="0"/>
            </a:br>
            <a:br>
              <a:rPr sz="2000" dirty="0"/>
            </a:br>
            <a:r>
              <a:rPr sz="2000" i="1" dirty="0">
                <a:solidFill>
                  <a:srgbClr val="8F5902"/>
                </a:solidFill>
                <a:latin typeface="Courier"/>
              </a:rPr>
              <a:t>-- Retrieve employees sorted by hire date in ascending order</a:t>
            </a:r>
            <a:br>
              <a:rPr sz="2000" dirty="0"/>
            </a:br>
            <a:r>
              <a:rPr sz="20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2000" dirty="0">
                <a:latin typeface="Courier"/>
              </a:rPr>
              <a:t> </a:t>
            </a:r>
            <a:r>
              <a:rPr sz="2000" b="1" dirty="0">
                <a:solidFill>
                  <a:srgbClr val="CE5C00"/>
                </a:solidFill>
                <a:latin typeface="Courier"/>
              </a:rPr>
              <a:t>*</a:t>
            </a:r>
            <a:br>
              <a:rPr sz="2000" dirty="0"/>
            </a:br>
            <a:r>
              <a:rPr sz="20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2000" dirty="0">
                <a:latin typeface="Courier"/>
              </a:rPr>
              <a:t> </a:t>
            </a:r>
            <a:r>
              <a:rPr sz="2000" dirty="0" err="1">
                <a:latin typeface="Courier"/>
              </a:rPr>
              <a:t>employees.emp</a:t>
            </a:r>
            <a:br>
              <a:rPr sz="2000" dirty="0"/>
            </a:br>
            <a:r>
              <a:rPr sz="2000" b="1" dirty="0">
                <a:solidFill>
                  <a:srgbClr val="204A87"/>
                </a:solidFill>
                <a:latin typeface="Courier"/>
              </a:rPr>
              <a:t>ORDER</a:t>
            </a:r>
            <a:r>
              <a:rPr sz="2000" dirty="0">
                <a:latin typeface="Courier"/>
              </a:rPr>
              <a:t> </a:t>
            </a:r>
            <a:r>
              <a:rPr sz="2000" b="1" dirty="0">
                <a:solidFill>
                  <a:srgbClr val="204A87"/>
                </a:solidFill>
                <a:latin typeface="Courier"/>
              </a:rPr>
              <a:t>BY</a:t>
            </a:r>
            <a:r>
              <a:rPr sz="2000" dirty="0">
                <a:latin typeface="Courier"/>
              </a:rPr>
              <a:t> </a:t>
            </a:r>
            <a:r>
              <a:rPr sz="2000" dirty="0" err="1">
                <a:latin typeface="Courier"/>
              </a:rPr>
              <a:t>hiredate</a:t>
            </a:r>
            <a:r>
              <a:rPr sz="2000" dirty="0">
                <a:latin typeface="Courier"/>
              </a:rPr>
              <a:t> </a:t>
            </a:r>
            <a:r>
              <a:rPr sz="2000" b="1" dirty="0">
                <a:solidFill>
                  <a:srgbClr val="204A87"/>
                </a:solidFill>
                <a:latin typeface="Courier"/>
              </a:rPr>
              <a:t>ASC</a:t>
            </a:r>
            <a:r>
              <a:rPr sz="2000" dirty="0">
                <a:latin typeface="Courier"/>
              </a:rPr>
              <a:t>;</a:t>
            </a:r>
            <a:br>
              <a:rPr sz="2000" dirty="0"/>
            </a:br>
            <a:br>
              <a:rPr sz="2000" dirty="0"/>
            </a:br>
            <a:r>
              <a:rPr sz="2000" i="1" dirty="0">
                <a:solidFill>
                  <a:srgbClr val="8F5902"/>
                </a:solidFill>
                <a:latin typeface="Courier"/>
              </a:rPr>
              <a:t>-- Retrieve employees sorted by department number in ascending</a:t>
            </a:r>
            <a:br>
              <a:rPr sz="2000" dirty="0"/>
            </a:br>
            <a:r>
              <a:rPr sz="2000" i="1" dirty="0">
                <a:solidFill>
                  <a:srgbClr val="8F5902"/>
                </a:solidFill>
                <a:latin typeface="Courier"/>
              </a:rPr>
              <a:t>-- and salary in descending order</a:t>
            </a:r>
            <a:br>
              <a:rPr sz="2000" dirty="0"/>
            </a:br>
            <a:r>
              <a:rPr sz="20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2000" dirty="0">
                <a:latin typeface="Courier"/>
              </a:rPr>
              <a:t> </a:t>
            </a:r>
            <a:r>
              <a:rPr sz="2000" b="1" dirty="0">
                <a:solidFill>
                  <a:srgbClr val="CE5C00"/>
                </a:solidFill>
                <a:latin typeface="Courier"/>
              </a:rPr>
              <a:t>*</a:t>
            </a:r>
            <a:br>
              <a:rPr sz="2000" dirty="0"/>
            </a:br>
            <a:r>
              <a:rPr sz="20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2000" dirty="0">
                <a:latin typeface="Courier"/>
              </a:rPr>
              <a:t> </a:t>
            </a:r>
            <a:r>
              <a:rPr sz="2000" dirty="0" err="1">
                <a:latin typeface="Courier"/>
              </a:rPr>
              <a:t>employees.emp</a:t>
            </a:r>
            <a:br>
              <a:rPr sz="2000" dirty="0"/>
            </a:br>
            <a:r>
              <a:rPr sz="2000" b="1" dirty="0">
                <a:solidFill>
                  <a:srgbClr val="204A87"/>
                </a:solidFill>
                <a:latin typeface="Courier"/>
              </a:rPr>
              <a:t>ORDER</a:t>
            </a:r>
            <a:r>
              <a:rPr sz="2000" dirty="0">
                <a:latin typeface="Courier"/>
              </a:rPr>
              <a:t> </a:t>
            </a:r>
            <a:r>
              <a:rPr sz="2000" b="1" dirty="0">
                <a:solidFill>
                  <a:srgbClr val="204A87"/>
                </a:solidFill>
                <a:latin typeface="Courier"/>
              </a:rPr>
              <a:t>BY</a:t>
            </a:r>
            <a:r>
              <a:rPr sz="2000" dirty="0">
                <a:latin typeface="Courier"/>
              </a:rPr>
              <a:t> </a:t>
            </a:r>
            <a:r>
              <a:rPr sz="2000" dirty="0" err="1">
                <a:latin typeface="Courier"/>
              </a:rPr>
              <a:t>deptno</a:t>
            </a:r>
            <a:r>
              <a:rPr sz="2000" dirty="0">
                <a:latin typeface="Courier"/>
              </a:rPr>
              <a:t> </a:t>
            </a:r>
            <a:r>
              <a:rPr sz="2000" b="1" dirty="0">
                <a:solidFill>
                  <a:srgbClr val="204A87"/>
                </a:solidFill>
                <a:latin typeface="Courier"/>
              </a:rPr>
              <a:t>ASC</a:t>
            </a:r>
            <a:r>
              <a:rPr sz="2000" dirty="0">
                <a:latin typeface="Courier"/>
              </a:rPr>
              <a:t>, </a:t>
            </a:r>
            <a:r>
              <a:rPr sz="2000" dirty="0" err="1">
                <a:latin typeface="Courier"/>
              </a:rPr>
              <a:t>sal</a:t>
            </a:r>
            <a:r>
              <a:rPr sz="2000" dirty="0">
                <a:latin typeface="Courier"/>
              </a:rPr>
              <a:t> </a:t>
            </a:r>
            <a:r>
              <a:rPr sz="2000" b="1" dirty="0">
                <a:solidFill>
                  <a:srgbClr val="204A87"/>
                </a:solidFill>
                <a:latin typeface="Courier"/>
              </a:rPr>
              <a:t>DESC</a:t>
            </a:r>
            <a:r>
              <a:rPr sz="2000" dirty="0">
                <a:latin typeface="Courier"/>
              </a:rPr>
              <a:t>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6955B2F-DBB8-853B-014C-9BFF48EAFD3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ORDER BY Clause: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E60F24-B553-B038-6424-153CC9921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FAA87BF-FF6F-D70A-29C4-64CFF5C68C9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rmAutofit/>
          </a:bodyPr>
          <a:lstStyle/>
          <a:p>
            <a:pPr lvl="0"/>
            <a:r>
              <a:rPr sz="1800" dirty="0"/>
              <a:t>The TOP clause is used to limit the number of rows returned by a query.</a:t>
            </a:r>
            <a:endParaRPr sz="1900" dirty="0"/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Retrieve the first 5 employees by employee number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TOP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5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*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br/>
            <a:r>
              <a:rPr sz="1400" dirty="0">
                <a:latin typeface="Courier"/>
              </a:rPr>
              <a:t>ORDER BY empno;</a:t>
            </a:r>
            <a:br>
              <a:rPr sz="1400" dirty="0"/>
            </a:br>
            <a:br>
              <a:rPr sz="1400" dirty="0"/>
            </a:br>
            <a:r>
              <a:rPr sz="1400" i="1" dirty="0">
                <a:solidFill>
                  <a:srgbClr val="8F5902"/>
                </a:solidFill>
                <a:latin typeface="Courier"/>
              </a:rPr>
              <a:t>-- Retrieve the employees with the top 10 highest salaries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TOP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10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*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ORDER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BY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sal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DESC</a:t>
            </a:r>
            <a:r>
              <a:rPr sz="1400" dirty="0">
                <a:latin typeface="Courier"/>
              </a:rPr>
              <a:t>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E02C276-4B66-8F0C-4126-DEB92D7AE13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TOP Clause: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A78D3B-7A73-665B-0844-D18D4CA4F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32D7548-16C9-06AD-4FF2-9C373E05383C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0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824</Words>
  <Application>Microsoft Office PowerPoint</Application>
  <PresentationFormat>On-screen Show (16:9)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2025-08-01T09:43:52Z</dcterms:created>
  <dcterms:modified xsi:type="dcterms:W3CDTF">2025-08-12T09:09:41Z</dcterms:modified>
</cp:coreProperties>
</file>