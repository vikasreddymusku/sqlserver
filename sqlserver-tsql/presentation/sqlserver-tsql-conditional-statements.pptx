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33" d="100"/>
          <a:sy n="133" d="100"/>
        </p:scale>
        <p:origin x="906" y="12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6" name="Picture 5" descr="sqlserver.png">
            <a:extLst>
              <a:ext uri="{FF2B5EF4-FFF2-40B4-BE49-F238E27FC236}">
                <a16:creationId xmlns:a16="http://schemas.microsoft.com/office/drawing/2014/main" id="{E22D4D80-7BCC-2911-0C52-7356D19B1E72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l="2193" t="4481" r="3658" b="6674"/>
          <a:stretch>
            <a:fillRect/>
          </a:stretch>
        </p:blipFill>
        <p:spPr bwMode="auto">
          <a:xfrm>
            <a:off x="131736" y="1619573"/>
            <a:ext cx="6540285" cy="16663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T-SQL uses IF...ELSE for control-of-flow. CASE and IIF are conditional expressions that return values; they do not execute arbitrary statement blocks.</a:t>
            </a:r>
            <a:r>
              <a:rPr sz="1800" dirty="0">
                <a:latin typeface="Courier"/>
              </a:rPr>
              <a:t/>
            </a:r>
            <a:r>
              <a:rPr sz="1800" dirty="0"/>
              <a:t/>
            </a:r>
            <a:r>
              <a:rPr sz="1800" dirty="0">
                <a:latin typeface="Courier"/>
              </a:rPr>
              <a:t/>
            </a:r>
            <a:r>
              <a:rPr sz="1800" dirty="0"/>
              <a:t/>
            </a:r>
            <a:r>
              <a:rPr sz="1800" dirty="0">
                <a:latin typeface="Courier"/>
              </a:rPr>
              <a:t/>
            </a:r>
            <a:r>
              <a:rPr sz="1800" dirty="0"/>
              <a:t/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7E6CF0F-EC60-8451-1ED7-E37A2FD8D22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Conditional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D32DE0-9174-2871-3424-96C8CF0E3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B2F683D-35EA-16AA-57D9-9AC632272DDC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906286"/>
          </a:xfrm>
        </p:spPr>
        <p:txBody>
          <a:bodyPr>
            <a:normAutofit lnSpcReduction="10000"/>
          </a:bodyPr>
          <a:lstStyle/>
          <a:p>
            <a:pPr lvl="0"/>
            <a:r>
              <a:rPr sz="1800" dirty="0"/>
              <a:t>The </a:t>
            </a:r>
            <a:r>
              <a:rPr sz="1800" dirty="0">
                <a:latin typeface="Courier"/>
              </a:rPr>
              <a:t>IF...ELSE</a:t>
            </a:r>
            <a:r>
              <a:rPr sz="1800" dirty="0"/>
              <a:t> statement allows you to execute a block of SQL statements if a condition is true, and another block if the condition is false.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Check if a Department Exists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DECLARE</a:t>
            </a:r>
            <a:r>
              <a:rPr sz="1400" dirty="0">
                <a:latin typeface="Courier"/>
              </a:rPr>
              <a:t> @DeptName </a:t>
            </a:r>
            <a:r>
              <a:rPr sz="14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sz="1400" dirty="0">
                <a:latin typeface="Courier"/>
              </a:rPr>
              <a:t>(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100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'accounting'</a:t>
            </a:r>
            <a:r>
              <a:rPr sz="1400" dirty="0">
                <a:latin typeface="Courier"/>
              </a:rPr>
              <a:t>;</a:t>
            </a:r>
            <a:br>
              <a:rPr sz="1400" dirty="0"/>
            </a:b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IF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EXISTS</a:t>
            </a:r>
            <a:r>
              <a:rPr sz="1400" dirty="0">
                <a:latin typeface="Courier"/>
              </a:rPr>
              <a:t> (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employees.dept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dname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@DeptName)</a:t>
            </a:r>
            <a:br>
              <a:rPr sz="1400" dirty="0"/>
            </a:br>
            <a:r>
              <a:rPr sz="1400" dirty="0">
                <a:latin typeface="Courier"/>
              </a:rPr>
              <a:t>  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sz="1400" dirty="0"/>
            </a:br>
            <a:r>
              <a:rPr sz="1400" dirty="0">
                <a:latin typeface="Courier"/>
              </a:rPr>
              <a:t>        PRINT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'The department exists.'</a:t>
            </a:r>
            <a:r>
              <a:rPr sz="1400" dirty="0">
                <a:latin typeface="Courier"/>
              </a:rPr>
              <a:t>;</a:t>
            </a:r>
            <a:br>
              <a:rPr sz="1400" dirty="0"/>
            </a:br>
            <a:r>
              <a:rPr sz="1400" dirty="0">
                <a:latin typeface="Courier"/>
              </a:rPr>
              <a:t>  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END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ELSE</a:t>
            </a:r>
            <a:br>
              <a:rPr sz="1400" dirty="0"/>
            </a:br>
            <a:r>
              <a:rPr sz="1400" dirty="0">
                <a:latin typeface="Courier"/>
              </a:rPr>
              <a:t>  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sz="1400" dirty="0"/>
            </a:br>
            <a:r>
              <a:rPr sz="1400" dirty="0">
                <a:latin typeface="Courier"/>
              </a:rPr>
              <a:t>        PRINT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'The department does not exist.'</a:t>
            </a:r>
            <a:r>
              <a:rPr sz="1400" dirty="0">
                <a:latin typeface="Courier"/>
              </a:rPr>
              <a:t>;</a:t>
            </a:r>
            <a:br>
              <a:rPr sz="1400" dirty="0"/>
            </a:br>
            <a:r>
              <a:rPr sz="1400" dirty="0">
                <a:latin typeface="Courier"/>
              </a:rPr>
              <a:t>  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END</a:t>
            </a:r>
          </a:p>
          <a:p>
            <a:pPr lvl="0"/>
            <a:r>
              <a:rPr sz="1800" dirty="0"/>
              <a:t>In this example, we check if there is a department named ‘accounting’ in the dept table. If it exists, we print a message indicating that the department exists. Otherwise, we print a message indicating that it does not exist.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9D3468-B8AF-B4F5-17ED-BF58CC6BA1F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IF…ELSE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BB2062-FCC8-A5B6-AA3C-D2F205D11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53F720C-0333-C767-87EF-3E50EC4168AD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932413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The CASE expression provides conditional logic within a query. It evaluates conditions and returns the result for the first condition that is true.</a:t>
            </a:r>
            <a:r>
              <a:rPr sz="1800" dirty="0">
                <a:latin typeface="Courier"/>
              </a:rPr>
              <a:t/>
            </a:r>
            <a:r>
              <a:rPr sz="1800" dirty="0"/>
              <a:t/>
            </a:r>
          </a:p>
          <a:p>
            <a:pPr lvl="0" indent="0">
              <a:buNone/>
            </a:pP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dirty="0">
                <a:latin typeface="Courier"/>
              </a:rPr>
              <a:t>   </a:t>
            </a:r>
            <a:r>
              <a:rPr sz="1400" dirty="0" err="1">
                <a:latin typeface="Courier"/>
              </a:rPr>
              <a:t>ename</a:t>
            </a:r>
            <a:r>
              <a:rPr sz="1400" dirty="0">
                <a:latin typeface="Courier"/>
              </a:rPr>
              <a:t>,</a:t>
            </a:r>
            <a:br>
              <a:rPr sz="1400" dirty="0"/>
            </a:br>
            <a:r>
              <a:rPr sz="1400" dirty="0">
                <a:latin typeface="Courier"/>
              </a:rPr>
              <a:t> 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CASE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dirty="0">
                <a:latin typeface="Courier"/>
              </a:rPr>
              <a:t>     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WHEN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sal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&lt;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1500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THEN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'Low'</a:t>
            </a:r>
            <a:br>
              <a:rPr sz="1400" dirty="0"/>
            </a:br>
            <a:r>
              <a:rPr sz="1400" dirty="0">
                <a:latin typeface="Courier"/>
              </a:rPr>
              <a:t>     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WHEN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sal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BETWEEN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1500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AND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3000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THEN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'Medium'</a:t>
            </a:r>
            <a:br>
              <a:rPr sz="1400" dirty="0"/>
            </a:br>
            <a:r>
              <a:rPr sz="1400" dirty="0">
                <a:latin typeface="Courier"/>
              </a:rPr>
              <a:t>     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ELSE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'High'</a:t>
            </a:r>
            <a:br>
              <a:rPr sz="1400" dirty="0"/>
            </a:br>
            <a:r>
              <a:rPr sz="1400" dirty="0">
                <a:latin typeface="Courier"/>
              </a:rPr>
              <a:t> 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END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SalaryCategory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;</a:t>
            </a:r>
          </a:p>
          <a:p>
            <a:pPr lvl="0"/>
            <a:r>
              <a:rPr sz="1800" dirty="0"/>
              <a:t>In this example, we categorize employees into ‘Low’, ‘Medium’, and ‘High’ salary groups based on their salary in the emp table.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979478A-08A6-C9D3-5788-2302D172608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CASE Expression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42FB24-8FD9-9DD9-AECE-5CDEEFEAF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A2759A2-EDD7-16FF-21B5-CF3FA9BC5D9A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984204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The IIF function is shorthand for a CASE expression with three arguments: a condition, a true value, and a false value.</a:t>
            </a:r>
            <a:r>
              <a:rPr sz="1800" dirty="0">
                <a:latin typeface="Courier"/>
              </a:rPr>
              <a:t/>
            </a:r>
            <a:r>
              <a:rPr sz="1800" dirty="0"/>
              <a:t/>
            </a:r>
          </a:p>
          <a:p>
            <a:pPr lvl="0" indent="0">
              <a:buNone/>
            </a:pP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dirty="0">
                <a:latin typeface="Courier"/>
              </a:rPr>
              <a:t>    </a:t>
            </a:r>
            <a:r>
              <a:rPr sz="1400" dirty="0" err="1">
                <a:latin typeface="Courier"/>
              </a:rPr>
              <a:t>ename</a:t>
            </a:r>
            <a:r>
              <a:rPr sz="1400" dirty="0">
                <a:latin typeface="Courier"/>
              </a:rPr>
              <a:t>,</a:t>
            </a:r>
            <a:br>
              <a:rPr sz="1400" dirty="0"/>
            </a:br>
            <a:r>
              <a:rPr sz="1400" dirty="0">
                <a:latin typeface="Courier"/>
              </a:rPr>
              <a:t>    </a:t>
            </a:r>
            <a:r>
              <a:rPr sz="1400" dirty="0" err="1">
                <a:latin typeface="Courier"/>
              </a:rPr>
              <a:t>sal</a:t>
            </a:r>
            <a:r>
              <a:rPr sz="1400" dirty="0">
                <a:latin typeface="Courier"/>
              </a:rPr>
              <a:t>,</a:t>
            </a:r>
            <a:br>
              <a:rPr sz="1400" dirty="0"/>
            </a:br>
            <a:r>
              <a:rPr sz="1400" dirty="0">
                <a:latin typeface="Courier"/>
              </a:rPr>
              <a:t>    IIF(</a:t>
            </a:r>
            <a:r>
              <a:rPr sz="1400" dirty="0" err="1">
                <a:latin typeface="Courier"/>
              </a:rPr>
              <a:t>sal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&gt;</a:t>
            </a:r>
            <a:r>
              <a:rPr sz="1400" dirty="0">
                <a:latin typeface="Courier"/>
              </a:rPr>
              <a:t> (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AVG</a:t>
            </a:r>
            <a:r>
              <a:rPr sz="1400" dirty="0">
                <a:latin typeface="Courier"/>
              </a:rPr>
              <a:t>(</a:t>
            </a:r>
            <a:r>
              <a:rPr sz="1400" dirty="0" err="1">
                <a:latin typeface="Courier"/>
              </a:rPr>
              <a:t>sal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),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'Above Average'</a:t>
            </a:r>
            <a:r>
              <a:rPr sz="1400" dirty="0">
                <a:latin typeface="Courier"/>
              </a:rPr>
              <a:t>,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'Below Average'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SalaryStatus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;</a:t>
            </a:r>
          </a:p>
          <a:p>
            <a:pPr lvl="0"/>
            <a:r>
              <a:rPr sz="1800" dirty="0"/>
              <a:t>In this example, we use the </a:t>
            </a:r>
            <a:r>
              <a:rPr sz="1800" dirty="0">
                <a:latin typeface="Courier"/>
              </a:rPr>
              <a:t>IIF</a:t>
            </a:r>
            <a:r>
              <a:rPr sz="1800" dirty="0"/>
              <a:t> function to check if each employee’s salary is above the average salary in the emp table. The result is a column that indicates whether each employee’s salary is ‘Above Average’ or ‘Below Average’.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9E570B-BFD6-B1FA-95BB-F89D3990A11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IIF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59975E-CEC2-6BF4-826C-3081FEE75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FC2A346-7613-C5B7-7223-D65B45BA8005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6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</Words>
  <Application>Microsoft Office PowerPoint</Application>
  <PresentationFormat>On-screen Show (16:9)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1</cp:revision>
  <dcterms:created xsi:type="dcterms:W3CDTF">2025-08-13T12:16:52Z</dcterms:created>
  <dcterms:modified xsi:type="dcterms:W3CDTF">2025-08-13T12:19:42Z</dcterms:modified>
</cp:coreProperties>
</file>