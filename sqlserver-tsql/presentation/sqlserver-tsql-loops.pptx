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33" d="100"/>
          <a:sy n="133" d="100"/>
        </p:scale>
        <p:origin x="906" y="12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6" name="Picture 5" descr="sqlserver.png">
            <a:extLst>
              <a:ext uri="{FF2B5EF4-FFF2-40B4-BE49-F238E27FC236}">
                <a16:creationId xmlns:a16="http://schemas.microsoft.com/office/drawing/2014/main" id="{929B5092-9D96-30FA-8D50-8150D2C2A4FD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rcRect l="2193" t="4481" r="3658" b="6674"/>
          <a:stretch>
            <a:fillRect/>
          </a:stretch>
        </p:blipFill>
        <p:spPr bwMode="auto">
          <a:xfrm>
            <a:off x="131736" y="1619573"/>
            <a:ext cx="6540285" cy="166636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rmAutofit/>
          </a:bodyPr>
          <a:lstStyle/>
          <a:p>
            <a:pPr lvl="0"/>
            <a:r>
              <a:rPr sz="1800" dirty="0"/>
              <a:t>Loops are used to execute a block of code repeatedly based on a condition.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C05E14B-4171-F9D1-16C3-3F7E555B382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Loops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F87C71-8CAE-4BC3-A427-A683568D8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FDCF1B1-2A36-9E0E-F6A8-770D1DAA249C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932414"/>
          </a:xfrm>
        </p:spPr>
        <p:txBody>
          <a:bodyPr>
            <a:normAutofit/>
          </a:bodyPr>
          <a:lstStyle/>
          <a:p>
            <a:pPr lvl="0"/>
            <a:r>
              <a:rPr sz="1800" dirty="0"/>
              <a:t>The </a:t>
            </a:r>
            <a:r>
              <a:rPr sz="1800" dirty="0">
                <a:latin typeface="Courier"/>
              </a:rPr>
              <a:t>WHILE</a:t>
            </a:r>
            <a:r>
              <a:rPr sz="1800" dirty="0"/>
              <a:t> loop executes a block of code repeatedly as long as a specified condition is true.</a:t>
            </a:r>
          </a:p>
          <a:p>
            <a:pPr lvl="0" indent="0">
              <a:buNone/>
            </a:pPr>
            <a:r>
              <a:rPr sz="1100" i="1" dirty="0">
                <a:solidFill>
                  <a:srgbClr val="8F5902"/>
                </a:solidFill>
                <a:latin typeface="Courier"/>
              </a:rPr>
              <a:t>-- Increase salaries of employees by 10%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DECLARE</a:t>
            </a:r>
            <a:r>
              <a:rPr sz="1100" dirty="0">
                <a:latin typeface="Courier"/>
              </a:rPr>
              <a:t> @EmpID </a:t>
            </a:r>
            <a:r>
              <a:rPr sz="1100" dirty="0">
                <a:solidFill>
                  <a:srgbClr val="204A87"/>
                </a:solidFill>
                <a:latin typeface="Courier"/>
              </a:rPr>
              <a:t>INT</a:t>
            </a:r>
            <a:r>
              <a:rPr sz="1100" dirty="0">
                <a:latin typeface="Courier"/>
              </a:rPr>
              <a:t>;</a:t>
            </a:r>
            <a:br>
              <a:rPr sz="1100" dirty="0"/>
            </a:br>
            <a:br>
              <a:rPr sz="1100" dirty="0"/>
            </a:br>
            <a:r>
              <a:rPr sz="1100" i="1" dirty="0">
                <a:solidFill>
                  <a:srgbClr val="8F5902"/>
                </a:solidFill>
                <a:latin typeface="Courier"/>
              </a:rPr>
              <a:t>-- Get the first Employee ID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100" dirty="0">
                <a:latin typeface="Courier"/>
              </a:rPr>
              <a:t> @EmpID </a:t>
            </a:r>
            <a:r>
              <a:rPr sz="11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MIN</a:t>
            </a:r>
            <a:r>
              <a:rPr sz="1100" dirty="0">
                <a:latin typeface="Courier"/>
              </a:rPr>
              <a:t>(</a:t>
            </a:r>
            <a:r>
              <a:rPr sz="1100" dirty="0" err="1">
                <a:latin typeface="Courier"/>
              </a:rPr>
              <a:t>empno</a:t>
            </a:r>
            <a:r>
              <a:rPr sz="1100" dirty="0">
                <a:latin typeface="Courier"/>
              </a:rPr>
              <a:t>)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employees.emp</a:t>
            </a:r>
            <a:r>
              <a:rPr sz="1100" dirty="0">
                <a:latin typeface="Courier"/>
              </a:rPr>
              <a:t>;</a:t>
            </a:r>
            <a:br>
              <a:rPr sz="1100" dirty="0"/>
            </a:b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WHILE</a:t>
            </a:r>
            <a:r>
              <a:rPr sz="1100" dirty="0">
                <a:latin typeface="Courier"/>
              </a:rPr>
              <a:t> @EmpID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IS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NOT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NULL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BEGIN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i="1" dirty="0">
                <a:solidFill>
                  <a:srgbClr val="8F5902"/>
                </a:solidFill>
                <a:latin typeface="Courier"/>
              </a:rPr>
              <a:t>-- Increase salaries by 10%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UPDATE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employees.emp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SET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sal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sal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CE5C00"/>
                </a:solidFill>
                <a:latin typeface="Courier"/>
              </a:rPr>
              <a:t>*</a:t>
            </a:r>
            <a:r>
              <a:rPr sz="1100" dirty="0">
                <a:latin typeface="Courier"/>
              </a:rPr>
              <a:t> </a:t>
            </a:r>
            <a:r>
              <a:rPr sz="1100" dirty="0">
                <a:solidFill>
                  <a:srgbClr val="0000CF"/>
                </a:solidFill>
                <a:latin typeface="Courier"/>
              </a:rPr>
              <a:t>1.10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empno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100" dirty="0">
                <a:latin typeface="Courier"/>
              </a:rPr>
              <a:t> @EmpID;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i="1" dirty="0">
                <a:solidFill>
                  <a:srgbClr val="8F5902"/>
                </a:solidFill>
                <a:latin typeface="Courier"/>
              </a:rPr>
              <a:t>-- Get the next Part ID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100" dirty="0">
                <a:latin typeface="Courier"/>
              </a:rPr>
              <a:t> @EmpID </a:t>
            </a:r>
            <a:r>
              <a:rPr sz="11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MIN</a:t>
            </a:r>
            <a:r>
              <a:rPr sz="1100" dirty="0">
                <a:latin typeface="Courier"/>
              </a:rPr>
              <a:t>(</a:t>
            </a:r>
            <a:r>
              <a:rPr sz="1100" dirty="0" err="1">
                <a:latin typeface="Courier"/>
              </a:rPr>
              <a:t>empno</a:t>
            </a:r>
            <a:r>
              <a:rPr sz="1100" dirty="0">
                <a:latin typeface="Courier"/>
              </a:rPr>
              <a:t>)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employees.emp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empno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CE5C00"/>
                </a:solidFill>
                <a:latin typeface="Courier"/>
              </a:rPr>
              <a:t>&gt;</a:t>
            </a:r>
            <a:r>
              <a:rPr sz="1100" dirty="0">
                <a:latin typeface="Courier"/>
              </a:rPr>
              <a:t> @EmpID;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END</a:t>
            </a:r>
          </a:p>
          <a:p>
            <a:pPr lvl="0"/>
            <a:r>
              <a:rPr sz="1800" dirty="0"/>
              <a:t>In this example, we use a </a:t>
            </a:r>
            <a:r>
              <a:rPr sz="1800" dirty="0">
                <a:latin typeface="Courier"/>
              </a:rPr>
              <a:t>WHILE</a:t>
            </a:r>
            <a:r>
              <a:rPr sz="1800" dirty="0"/>
              <a:t> loop to increase the salaries of all employees in the emp table by 10%. The loop continues until there are no more employees to update.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19FC446-2E62-E29B-AD22-7A77894C116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WHILE Loop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868F05-E9B6-8A94-8CE7-AE0EDD157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3ED502A-9571-15F2-43BC-5C28560295A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932413"/>
          </a:xfrm>
        </p:spPr>
        <p:txBody>
          <a:bodyPr>
            <a:normAutofit/>
          </a:bodyPr>
          <a:lstStyle/>
          <a:p>
            <a:pPr lvl="0"/>
            <a:r>
              <a:rPr sz="1800" dirty="0">
                <a:latin typeface="Courier"/>
              </a:rPr>
              <a:t>FOR</a:t>
            </a:r>
            <a:r>
              <a:rPr sz="1800" dirty="0"/>
              <a:t> loop executes a block of code a specific number of times.</a:t>
            </a:r>
          </a:p>
          <a:p>
            <a:pPr lvl="0"/>
            <a:r>
              <a:rPr sz="1800" dirty="0"/>
              <a:t>SQL Server does not have a traditional </a:t>
            </a:r>
            <a:r>
              <a:rPr sz="1800" dirty="0">
                <a:latin typeface="Courier"/>
              </a:rPr>
              <a:t>FOR</a:t>
            </a:r>
            <a:r>
              <a:rPr sz="1800" dirty="0"/>
              <a:t> loop like some other programming languages. However, you can achieve similar functionality using a </a:t>
            </a:r>
            <a:r>
              <a:rPr sz="1800" dirty="0">
                <a:latin typeface="Courier"/>
              </a:rPr>
              <a:t>WHILE</a:t>
            </a:r>
            <a:r>
              <a:rPr sz="1800" dirty="0"/>
              <a:t> loop with a counter variable.</a:t>
            </a:r>
          </a:p>
          <a:p>
            <a:pPr lvl="0" indent="0">
              <a:buNone/>
            </a:pPr>
            <a:r>
              <a:rPr sz="1100" i="1" dirty="0">
                <a:solidFill>
                  <a:srgbClr val="8F5902"/>
                </a:solidFill>
                <a:latin typeface="Courier"/>
              </a:rPr>
              <a:t>-- Print Names of First 3 Projects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DECLARE</a:t>
            </a:r>
            <a:r>
              <a:rPr sz="1100" dirty="0">
                <a:latin typeface="Courier"/>
              </a:rPr>
              <a:t> @Counter </a:t>
            </a:r>
            <a:r>
              <a:rPr sz="1100" dirty="0">
                <a:solidFill>
                  <a:srgbClr val="204A87"/>
                </a:solidFill>
                <a:latin typeface="Courier"/>
              </a:rPr>
              <a:t>INT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100" dirty="0">
                <a:latin typeface="Courier"/>
              </a:rPr>
              <a:t> </a:t>
            </a:r>
            <a:r>
              <a:rPr sz="1100" dirty="0">
                <a:solidFill>
                  <a:srgbClr val="0000CF"/>
                </a:solidFill>
                <a:latin typeface="Courier"/>
              </a:rPr>
              <a:t>1</a:t>
            </a:r>
            <a:r>
              <a:rPr sz="1100" dirty="0">
                <a:latin typeface="Courier"/>
              </a:rPr>
              <a:t>;</a:t>
            </a:r>
            <a:br>
              <a:rPr sz="1100" dirty="0"/>
            </a:b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WHILE</a:t>
            </a:r>
            <a:r>
              <a:rPr sz="1100" dirty="0">
                <a:latin typeface="Courier"/>
              </a:rPr>
              <a:t> @Counter </a:t>
            </a:r>
            <a:r>
              <a:rPr sz="1100" b="1" dirty="0">
                <a:solidFill>
                  <a:srgbClr val="CE5C00"/>
                </a:solidFill>
                <a:latin typeface="Courier"/>
              </a:rPr>
              <a:t>&lt;=</a:t>
            </a:r>
            <a:r>
              <a:rPr sz="1100" dirty="0">
                <a:latin typeface="Courier"/>
              </a:rPr>
              <a:t> </a:t>
            </a:r>
            <a:r>
              <a:rPr sz="1100" dirty="0">
                <a:solidFill>
                  <a:srgbClr val="0000CF"/>
                </a:solidFill>
                <a:latin typeface="Courier"/>
              </a:rPr>
              <a:t>3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BEGIN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project_name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employees.projects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projectno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100" dirty="0">
                <a:latin typeface="Courier"/>
              </a:rPr>
              <a:t> @Counter;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SET</a:t>
            </a:r>
            <a:r>
              <a:rPr sz="1100" dirty="0">
                <a:latin typeface="Courier"/>
              </a:rPr>
              <a:t> @Counter </a:t>
            </a:r>
            <a:r>
              <a:rPr sz="11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100" dirty="0">
                <a:latin typeface="Courier"/>
              </a:rPr>
              <a:t> @Counter </a:t>
            </a:r>
            <a:r>
              <a:rPr sz="1100" b="1" dirty="0">
                <a:solidFill>
                  <a:srgbClr val="CE5C00"/>
                </a:solidFill>
                <a:latin typeface="Courier"/>
              </a:rPr>
              <a:t>+</a:t>
            </a:r>
            <a:r>
              <a:rPr sz="1100" dirty="0">
                <a:latin typeface="Courier"/>
              </a:rPr>
              <a:t> </a:t>
            </a:r>
            <a:r>
              <a:rPr sz="1100" dirty="0">
                <a:solidFill>
                  <a:srgbClr val="0000CF"/>
                </a:solidFill>
                <a:latin typeface="Courier"/>
              </a:rPr>
              <a:t>1</a:t>
            </a:r>
            <a:r>
              <a:rPr sz="1100" dirty="0">
                <a:latin typeface="Courier"/>
              </a:rPr>
              <a:t>;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END</a:t>
            </a:r>
          </a:p>
          <a:p>
            <a:pPr lvl="0"/>
            <a:r>
              <a:rPr sz="1800" dirty="0"/>
              <a:t>In this example, we use a </a:t>
            </a:r>
            <a:r>
              <a:rPr sz="1800" dirty="0">
                <a:latin typeface="Courier"/>
              </a:rPr>
              <a:t>WHILE</a:t>
            </a:r>
            <a:r>
              <a:rPr sz="1800" dirty="0"/>
              <a:t> loop to print the names of the first 3 projects from the projects table. The loop runs as long as the @Counter variable is less than or equal to 3.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F65C1FF-2011-5D1C-0554-9213E31BDB7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FOR Loop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E9E573-320A-7503-EB5F-627FD3332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2337042-530B-D22A-E17A-852F0CFA8EE5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932413"/>
          </a:xfrm>
        </p:spPr>
        <p:txBody>
          <a:bodyPr>
            <a:normAutofit/>
          </a:bodyPr>
          <a:lstStyle/>
          <a:p>
            <a:pPr lvl="0"/>
            <a:r>
              <a:rPr sz="1800" dirty="0"/>
              <a:t>SQL Server does not have a built-in DO WHILE loop. To simulate post-test behavior, execute the work first and check the exit condition at the end of an unconditional WHILE loop.</a:t>
            </a:r>
            <a:r>
              <a:rPr sz="1800" dirty="0">
                <a:latin typeface="Courier"/>
              </a:rPr>
              <a:t/>
            </a:r>
            <a:r>
              <a:rPr sz="1800" dirty="0"/>
              <a:t/>
            </a:r>
            <a:r>
              <a:rPr sz="1800" dirty="0">
                <a:latin typeface="Courier"/>
              </a:rPr>
              <a:t/>
            </a:r>
            <a:r>
              <a:rPr sz="1800" dirty="0"/>
              <a:t/>
            </a:r>
            <a:r>
              <a:rPr sz="1800" dirty="0">
                <a:latin typeface="Courier"/>
              </a:rPr>
              <a:t/>
            </a:r>
            <a:r>
              <a:rPr sz="1800" dirty="0"/>
              <a:t/>
            </a:r>
          </a:p>
          <a:p>
            <a:pPr lvl="0" indent="0">
              <a:buNone/>
            </a:pPr>
            <a:r>
              <a:rPr sz="1100" i="1" dirty="0">
                <a:solidFill>
                  <a:srgbClr val="8F5902"/>
                </a:solidFill>
                <a:latin typeface="Courier"/>
              </a:rPr>
              <a:t>-- Demonstrate post-test behavior while adding projects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DECLARE</a:t>
            </a:r>
            <a:r>
              <a:rPr sz="1100" dirty="0">
                <a:latin typeface="Courier"/>
              </a:rPr>
              <a:t> @Count </a:t>
            </a:r>
            <a:r>
              <a:rPr sz="1100" dirty="0">
                <a:solidFill>
                  <a:srgbClr val="204A87"/>
                </a:solidFill>
                <a:latin typeface="Courier"/>
              </a:rPr>
              <a:t>INT</a:t>
            </a:r>
            <a:r>
              <a:rPr sz="1100" dirty="0">
                <a:latin typeface="Courier"/>
              </a:rPr>
              <a:t>;</a:t>
            </a:r>
            <a:br>
              <a:rPr sz="1100" dirty="0"/>
            </a:b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100" dirty="0">
                <a:latin typeface="Courier"/>
              </a:rPr>
              <a:t> @Count </a:t>
            </a:r>
            <a:r>
              <a:rPr sz="11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COUNT</a:t>
            </a:r>
            <a:r>
              <a:rPr sz="1100" dirty="0">
                <a:latin typeface="Courier"/>
              </a:rPr>
              <a:t>(</a:t>
            </a:r>
            <a:r>
              <a:rPr sz="1100" b="1" dirty="0">
                <a:solidFill>
                  <a:srgbClr val="CE5C00"/>
                </a:solidFill>
                <a:latin typeface="Courier"/>
              </a:rPr>
              <a:t>*</a:t>
            </a:r>
            <a:r>
              <a:rPr sz="1100" dirty="0">
                <a:latin typeface="Courier"/>
              </a:rPr>
              <a:t>)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employees.projects</a:t>
            </a:r>
            <a:r>
              <a:rPr sz="1100" dirty="0">
                <a:latin typeface="Courier"/>
              </a:rPr>
              <a:t>;</a:t>
            </a:r>
            <a:br>
              <a:rPr sz="1100" dirty="0"/>
            </a:b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WHILE 1 = 1</a:t>
            </a:r>
            <a:r>
              <a:rPr sz="1100" dirty="0">
                <a:latin typeface="Courier"/>
              </a:rPr>
              <a:t/>
            </a:r>
            <a:r>
              <a:rPr sz="1100" b="1" dirty="0">
                <a:solidFill>
                  <a:srgbClr val="CE5C00"/>
                </a:solidFill>
                <a:latin typeface="Courier"/>
              </a:rPr>
              <a:t/>
            </a:r>
            <a:r>
              <a:rPr sz="1100" dirty="0">
                <a:latin typeface="Courier"/>
              </a:rPr>
              <a:t/>
            </a:r>
            <a:r>
              <a:rPr sz="1100" dirty="0">
                <a:solidFill>
                  <a:srgbClr val="0000CF"/>
                </a:solidFill>
                <a:latin typeface="Courier"/>
              </a:rPr>
              <a:t/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BEGIN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INSERT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INTO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employees.projects</a:t>
            </a:r>
            <a:r>
              <a:rPr sz="1100" dirty="0">
                <a:latin typeface="Courier"/>
              </a:rPr>
              <a:t> (</a:t>
            </a:r>
            <a:r>
              <a:rPr sz="1100" dirty="0" err="1">
                <a:latin typeface="Courier"/>
              </a:rPr>
              <a:t>projectno</a:t>
            </a:r>
            <a:r>
              <a:rPr sz="1100" dirty="0">
                <a:latin typeface="Courier"/>
              </a:rPr>
              <a:t>, </a:t>
            </a:r>
            <a:r>
              <a:rPr sz="1100" dirty="0" err="1">
                <a:latin typeface="Courier"/>
              </a:rPr>
              <a:t>project_name</a:t>
            </a:r>
            <a:r>
              <a:rPr sz="1100" dirty="0">
                <a:latin typeface="Courier"/>
              </a:rPr>
              <a:t>, budget)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VALUES</a:t>
            </a:r>
            <a:r>
              <a:rPr sz="1100" dirty="0">
                <a:latin typeface="Courier"/>
              </a:rPr>
              <a:t> (@Count</a:t>
            </a:r>
            <a:r>
              <a:rPr sz="1100" b="1" dirty="0">
                <a:solidFill>
                  <a:srgbClr val="CE5C00"/>
                </a:solidFill>
                <a:latin typeface="Courier"/>
              </a:rPr>
              <a:t>+</a:t>
            </a:r>
            <a:r>
              <a:rPr sz="1100" dirty="0">
                <a:solidFill>
                  <a:srgbClr val="0000CF"/>
                </a:solidFill>
                <a:latin typeface="Courier"/>
              </a:rPr>
              <a:t>1</a:t>
            </a:r>
            <a:r>
              <a:rPr sz="1100" dirty="0">
                <a:latin typeface="Courier"/>
              </a:rPr>
              <a:t>, </a:t>
            </a:r>
            <a:r>
              <a:rPr sz="1100" dirty="0">
                <a:solidFill>
                  <a:srgbClr val="4E9A06"/>
                </a:solidFill>
                <a:latin typeface="Courier"/>
              </a:rPr>
              <a:t>'New Project'</a:t>
            </a:r>
            <a:r>
              <a:rPr sz="1100" dirty="0">
                <a:latin typeface="Courier"/>
              </a:rPr>
              <a:t>, </a:t>
            </a:r>
            <a:r>
              <a:rPr sz="1100" dirty="0">
                <a:solidFill>
                  <a:srgbClr val="0000CF"/>
                </a:solidFill>
                <a:latin typeface="Courier"/>
              </a:rPr>
              <a:t>50000.00</a:t>
            </a:r>
            <a:r>
              <a:rPr sz="1100" dirty="0">
                <a:latin typeface="Courier"/>
              </a:rPr>
              <a:t>);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100" dirty="0">
                <a:latin typeface="Courier"/>
              </a:rPr>
              <a:t> @Count </a:t>
            </a:r>
            <a:r>
              <a:rPr sz="11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COUNT</a:t>
            </a:r>
            <a:r>
              <a:rPr sz="1100" dirty="0">
                <a:latin typeface="Courier"/>
              </a:rPr>
              <a:t>(</a:t>
            </a:r>
            <a:r>
              <a:rPr sz="1100" b="1" dirty="0">
                <a:solidFill>
                  <a:srgbClr val="CE5C00"/>
                </a:solidFill>
                <a:latin typeface="Courier"/>
              </a:rPr>
              <a:t>*</a:t>
            </a:r>
            <a:r>
              <a:rPr sz="1100" dirty="0">
                <a:latin typeface="Courier"/>
              </a:rPr>
              <a:t>)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employees.projects</a:t>
            </a:r>
            <a:r>
              <a:rPr sz="1100" dirty="0">
                <a:latin typeface="Courier"/>
              </a:rPr>
              <a:t>;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IF @Count &gt;= 10 BREAK;</a:t>
            </a:r>
            <a:br/>
            <a:r>
              <a:rPr sz="1100" b="1" dirty="0">
                <a:solidFill>
                  <a:srgbClr val="204A87"/>
                </a:solidFill>
                <a:latin typeface="Courier"/>
              </a:rPr>
              <a:t>END</a:t>
            </a:r>
          </a:p>
          <a:p>
            <a:pPr lvl="0"/>
            <a:r>
              <a:rPr sz="1800" dirty="0"/>
              <a:t>In this example, the WHILE loop adds a project and then checks the exit condition at the end of the iteration. This simulates post-test behavior, so the loop body executes at least once.</a:t>
            </a:r>
            <a:r>
              <a:rPr sz="1800" dirty="0">
                <a:latin typeface="Courier"/>
              </a:rPr>
              <a:t/>
            </a:r>
            <a:r>
              <a:rPr sz="1800" dirty="0"/>
              <a:t/>
            </a:r>
            <a:r>
              <a:rPr sz="1800" dirty="0">
                <a:latin typeface="Courier"/>
              </a:rPr>
              <a:t/>
            </a:r>
            <a:r>
              <a:rPr sz="1800" dirty="0"/>
              <a:t/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7F0A1D6-A16A-66A3-0DF4-5C2C673F530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DO WHILE Loop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493F66-F1AE-82AF-74DB-A43F0B2AD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58FBA26-2131-86B2-1EAB-88F97FE8A35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1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492</Words>
  <Application>Microsoft Office PowerPoint</Application>
  <PresentationFormat>On-screen Show (16:9)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1</cp:revision>
  <dcterms:created xsi:type="dcterms:W3CDTF">2025-08-12T12:05:40Z</dcterms:created>
  <dcterms:modified xsi:type="dcterms:W3CDTF">2025-08-12T12:09:58Z</dcterms:modified>
</cp:coreProperties>
</file>