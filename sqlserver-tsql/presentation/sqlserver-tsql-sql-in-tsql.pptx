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app0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33" d="100"/>
          <a:sy n="133" d="100"/>
        </p:scale>
        <p:origin x="906" y="12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8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954691" cy="51435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70420" y="806391"/>
            <a:ext cx="1171701" cy="879729"/>
            <a:chOff x="9160561" y="1075188"/>
            <a:chExt cx="1562267" cy="117297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6" name="Picture 5" descr="sqlserver.png">
            <a:extLst>
              <a:ext uri="{FF2B5EF4-FFF2-40B4-BE49-F238E27FC236}">
                <a16:creationId xmlns:a16="http://schemas.microsoft.com/office/drawing/2014/main" id="{33F7BC9A-0D9F-84D0-615F-2B2010E55FD6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rcRect l="2193" t="4481" r="3658" b="6674"/>
          <a:stretch>
            <a:fillRect/>
          </a:stretch>
        </p:blipFill>
        <p:spPr bwMode="auto">
          <a:xfrm>
            <a:off x="131736" y="1619573"/>
            <a:ext cx="6540285" cy="166636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932413"/>
          </a:xfrm>
        </p:spPr>
        <p:txBody>
          <a:bodyPr>
            <a:normAutofit/>
          </a:bodyPr>
          <a:lstStyle/>
          <a:p>
            <a:pPr lvl="0"/>
            <a:r>
              <a:rPr sz="1800" dirty="0"/>
              <a:t>Embedding SQL in TSQL, here we demonstrate DQL and DML in TSQL</a:t>
            </a:r>
          </a:p>
          <a:p>
            <a:pPr lvl="0" indent="0">
              <a:buNone/>
            </a:pPr>
            <a:r>
              <a:rPr sz="1100" b="1" dirty="0">
                <a:solidFill>
                  <a:srgbClr val="204A87"/>
                </a:solidFill>
                <a:latin typeface="Courier"/>
              </a:rPr>
              <a:t>BEGIN</a:t>
            </a:r>
            <a:br>
              <a:rPr sz="1100" dirty="0"/>
            </a:br>
            <a:r>
              <a:rPr sz="1100" dirty="0">
                <a:latin typeface="Courier"/>
              </a:rPr>
              <a:t>    </a:t>
            </a:r>
            <a:r>
              <a:rPr sz="1100" i="1" dirty="0">
                <a:solidFill>
                  <a:srgbClr val="8F5902"/>
                </a:solidFill>
                <a:latin typeface="Courier"/>
              </a:rPr>
              <a:t>-- Data Input Variables</a:t>
            </a:r>
            <a:br>
              <a:rPr sz="1100" dirty="0"/>
            </a:br>
            <a:r>
              <a:rPr sz="1100" dirty="0">
                <a:latin typeface="Courier"/>
              </a:rPr>
              <a:t>    </a:t>
            </a:r>
            <a:r>
              <a:rPr sz="1100" i="1" dirty="0">
                <a:solidFill>
                  <a:srgbClr val="8F5902"/>
                </a:solidFill>
                <a:latin typeface="Courier"/>
              </a:rPr>
              <a:t>-- -------------------------------------------------</a:t>
            </a:r>
            <a:br>
              <a:rPr sz="1100" dirty="0"/>
            </a:br>
            <a:r>
              <a:rPr sz="1100" dirty="0">
                <a:latin typeface="Courier"/>
              </a:rPr>
              <a:t>   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DECLARE</a:t>
            </a:r>
            <a:r>
              <a:rPr sz="1100" dirty="0">
                <a:latin typeface="Courier"/>
              </a:rPr>
              <a:t> @l_in_product_id </a:t>
            </a:r>
            <a:r>
              <a:rPr sz="1100" dirty="0">
                <a:solidFill>
                  <a:srgbClr val="204A87"/>
                </a:solidFill>
                <a:latin typeface="Courier"/>
              </a:rPr>
              <a:t>INT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CE5C00"/>
                </a:solidFill>
                <a:latin typeface="Courier"/>
              </a:rPr>
              <a:t>=</a:t>
            </a:r>
            <a:r>
              <a:rPr sz="1100" dirty="0">
                <a:latin typeface="Courier"/>
              </a:rPr>
              <a:t> </a:t>
            </a:r>
            <a:r>
              <a:rPr sz="1100" dirty="0">
                <a:solidFill>
                  <a:srgbClr val="0000CF"/>
                </a:solidFill>
                <a:latin typeface="Courier"/>
              </a:rPr>
              <a:t>6</a:t>
            </a:r>
            <a:r>
              <a:rPr sz="1100" dirty="0">
                <a:latin typeface="Courier"/>
              </a:rPr>
              <a:t>;</a:t>
            </a:r>
            <a:br>
              <a:rPr sz="1100" dirty="0"/>
            </a:br>
            <a:r>
              <a:rPr sz="1100" dirty="0">
                <a:latin typeface="Courier"/>
              </a:rPr>
              <a:t>   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DECLARE</a:t>
            </a:r>
            <a:r>
              <a:rPr sz="1100" dirty="0">
                <a:latin typeface="Courier"/>
              </a:rPr>
              <a:t> @l_in_product_category </a:t>
            </a:r>
            <a:r>
              <a:rPr sz="1100" dirty="0">
                <a:solidFill>
                  <a:srgbClr val="204A87"/>
                </a:solidFill>
                <a:latin typeface="Courier"/>
              </a:rPr>
              <a:t>VARCHAR</a:t>
            </a:r>
            <a:r>
              <a:rPr sz="1100" dirty="0">
                <a:latin typeface="Courier"/>
              </a:rPr>
              <a:t>(</a:t>
            </a:r>
            <a:r>
              <a:rPr sz="1100" dirty="0">
                <a:solidFill>
                  <a:srgbClr val="0000CF"/>
                </a:solidFill>
                <a:latin typeface="Courier"/>
              </a:rPr>
              <a:t>100</a:t>
            </a:r>
            <a:r>
              <a:rPr sz="1100" dirty="0">
                <a:latin typeface="Courier"/>
              </a:rPr>
              <a:t>) </a:t>
            </a:r>
            <a:r>
              <a:rPr sz="1100" b="1" dirty="0">
                <a:solidFill>
                  <a:srgbClr val="CE5C00"/>
                </a:solidFill>
                <a:latin typeface="Courier"/>
              </a:rPr>
              <a:t>=</a:t>
            </a:r>
            <a:r>
              <a:rPr sz="1100" dirty="0">
                <a:latin typeface="Courier"/>
              </a:rPr>
              <a:t> </a:t>
            </a:r>
            <a:r>
              <a:rPr sz="1100" dirty="0">
                <a:solidFill>
                  <a:srgbClr val="4E9A06"/>
                </a:solidFill>
                <a:latin typeface="Courier"/>
              </a:rPr>
              <a:t>'kitchen'</a:t>
            </a:r>
            <a:r>
              <a:rPr sz="1100" dirty="0">
                <a:latin typeface="Courier"/>
              </a:rPr>
              <a:t>;</a:t>
            </a:r>
            <a:br>
              <a:rPr sz="1100" dirty="0"/>
            </a:br>
            <a:r>
              <a:rPr sz="1100" dirty="0">
                <a:latin typeface="Courier"/>
              </a:rPr>
              <a:t>   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DECLARE</a:t>
            </a:r>
            <a:r>
              <a:rPr sz="1100" dirty="0">
                <a:latin typeface="Courier"/>
              </a:rPr>
              <a:t> @l_in_product_name </a:t>
            </a:r>
            <a:r>
              <a:rPr sz="1100" dirty="0">
                <a:solidFill>
                  <a:srgbClr val="204A87"/>
                </a:solidFill>
                <a:latin typeface="Courier"/>
              </a:rPr>
              <a:t>VARCHAR</a:t>
            </a:r>
            <a:r>
              <a:rPr sz="1100" dirty="0">
                <a:latin typeface="Courier"/>
              </a:rPr>
              <a:t>(</a:t>
            </a:r>
            <a:r>
              <a:rPr sz="1100" dirty="0">
                <a:solidFill>
                  <a:srgbClr val="0000CF"/>
                </a:solidFill>
                <a:latin typeface="Courier"/>
              </a:rPr>
              <a:t>25</a:t>
            </a:r>
            <a:r>
              <a:rPr sz="1100" dirty="0">
                <a:latin typeface="Courier"/>
              </a:rPr>
              <a:t>) </a:t>
            </a:r>
            <a:r>
              <a:rPr sz="1100" b="1" dirty="0">
                <a:solidFill>
                  <a:srgbClr val="CE5C00"/>
                </a:solidFill>
                <a:latin typeface="Courier"/>
              </a:rPr>
              <a:t>=</a:t>
            </a:r>
            <a:r>
              <a:rPr sz="1100" dirty="0">
                <a:latin typeface="Courier"/>
              </a:rPr>
              <a:t> </a:t>
            </a:r>
            <a:r>
              <a:rPr sz="1100" dirty="0">
                <a:solidFill>
                  <a:srgbClr val="4E9A06"/>
                </a:solidFill>
                <a:latin typeface="Courier"/>
              </a:rPr>
              <a:t>'Milk'</a:t>
            </a:r>
            <a:r>
              <a:rPr sz="1100" dirty="0">
                <a:latin typeface="Courier"/>
              </a:rPr>
              <a:t>;</a:t>
            </a:r>
            <a:br>
              <a:rPr sz="1100" dirty="0"/>
            </a:br>
            <a:r>
              <a:rPr sz="1100" dirty="0">
                <a:latin typeface="Courier"/>
              </a:rPr>
              <a:t>   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DECLARE @l_in_product_unit_price DECIMAL(10, 2) = 1.17;</a:t>
            </a:r>
            <a:r>
              <a:rPr sz="1100" dirty="0">
                <a:latin typeface="Courier"/>
              </a:rPr>
              <a:t/>
            </a:r>
            <a:r>
              <a:rPr sz="1100" dirty="0">
                <a:solidFill>
                  <a:srgbClr val="204A87"/>
                </a:solidFill>
                <a:latin typeface="Courier"/>
              </a:rPr>
              <a:t/>
            </a:r>
            <a:r>
              <a:rPr sz="1100" dirty="0">
                <a:latin typeface="Courier"/>
              </a:rPr>
              <a:t/>
            </a:r>
            <a:r>
              <a:rPr sz="1100" b="1" dirty="0">
                <a:solidFill>
                  <a:srgbClr val="CE5C00"/>
                </a:solidFill>
                <a:latin typeface="Courier"/>
              </a:rPr>
              <a:t/>
            </a:r>
            <a:r>
              <a:rPr sz="1100" dirty="0">
                <a:latin typeface="Courier"/>
              </a:rPr>
              <a:t/>
            </a:r>
            <a:r>
              <a:rPr sz="1100" dirty="0">
                <a:solidFill>
                  <a:srgbClr val="0000CF"/>
                </a:solidFill>
                <a:latin typeface="Courier"/>
              </a:rPr>
              <a:t/>
            </a:r>
            <a:r>
              <a:rPr sz="1100" dirty="0">
                <a:latin typeface="Courier"/>
              </a:rPr>
              <a:t/>
            </a:r>
            <a:br>
              <a:rPr sz="1100" dirty="0"/>
            </a:br>
            <a:br>
              <a:rPr sz="1100" dirty="0"/>
            </a:br>
            <a:r>
              <a:rPr sz="1100" dirty="0">
                <a:latin typeface="Courier"/>
              </a:rPr>
              <a:t>    </a:t>
            </a:r>
            <a:r>
              <a:rPr sz="1100" i="1" dirty="0">
                <a:solidFill>
                  <a:srgbClr val="8F5902"/>
                </a:solidFill>
                <a:latin typeface="Courier"/>
              </a:rPr>
              <a:t>-- Code Variables</a:t>
            </a:r>
            <a:br>
              <a:rPr sz="1100" dirty="0"/>
            </a:br>
            <a:r>
              <a:rPr sz="1100" dirty="0">
                <a:latin typeface="Courier"/>
              </a:rPr>
              <a:t>    </a:t>
            </a:r>
            <a:r>
              <a:rPr sz="1100" i="1" dirty="0">
                <a:solidFill>
                  <a:srgbClr val="8F5902"/>
                </a:solidFill>
                <a:latin typeface="Courier"/>
              </a:rPr>
              <a:t>-- -------------------------------------------------</a:t>
            </a:r>
            <a:br>
              <a:rPr sz="1100" dirty="0"/>
            </a:br>
            <a:r>
              <a:rPr sz="1100" dirty="0">
                <a:latin typeface="Courier"/>
              </a:rPr>
              <a:t>   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DECLARE</a:t>
            </a:r>
            <a:r>
              <a:rPr sz="1100" dirty="0">
                <a:latin typeface="Courier"/>
              </a:rPr>
              <a:t> @l_product_id </a:t>
            </a:r>
            <a:r>
              <a:rPr sz="1100" dirty="0">
                <a:solidFill>
                  <a:srgbClr val="204A87"/>
                </a:solidFill>
                <a:latin typeface="Courier"/>
              </a:rPr>
              <a:t>INT</a:t>
            </a:r>
            <a:br>
              <a:rPr sz="1100" dirty="0"/>
            </a:br>
            <a:r>
              <a:rPr sz="1100" dirty="0">
                <a:latin typeface="Courier"/>
              </a:rPr>
              <a:t>   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DECLARE</a:t>
            </a:r>
            <a:r>
              <a:rPr sz="1100" dirty="0">
                <a:latin typeface="Courier"/>
              </a:rPr>
              <a:t> @product_count </a:t>
            </a:r>
            <a:r>
              <a:rPr sz="1100" dirty="0">
                <a:solidFill>
                  <a:srgbClr val="204A87"/>
                </a:solidFill>
                <a:latin typeface="Courier"/>
              </a:rPr>
              <a:t>INT</a:t>
            </a:r>
            <a:endParaRPr lang="en-US" sz="1100" dirty="0">
              <a:solidFill>
                <a:srgbClr val="204A87"/>
              </a:solidFill>
              <a:latin typeface="Courier"/>
            </a:endParaRPr>
          </a:p>
          <a:p>
            <a:pPr lvl="0" indent="0">
              <a:buNone/>
            </a:pPr>
            <a:endParaRPr kumimoji="0" lang="en-IN" sz="1100" b="0" i="1" u="none" strike="noStrike" kern="1200" cap="none" spc="0" normalizeH="0" baseline="0" noProof="0" dirty="0">
              <a:ln>
                <a:noFill/>
              </a:ln>
              <a:solidFill>
                <a:srgbClr val="8F5902"/>
              </a:solidFill>
              <a:effectLst/>
              <a:uLnTx/>
              <a:uFillTx/>
              <a:latin typeface="Courier"/>
              <a:ea typeface="+mn-ea"/>
              <a:cs typeface="+mn-cs"/>
            </a:endParaRPr>
          </a:p>
          <a:p>
            <a:pPr lvl="0" indent="0">
              <a:buNone/>
            </a:pPr>
            <a:endParaRPr lang="en-IN" sz="1100" i="1" dirty="0">
              <a:solidFill>
                <a:srgbClr val="8F5902"/>
              </a:solidFill>
              <a:latin typeface="Courier"/>
            </a:endParaRPr>
          </a:p>
          <a:p>
            <a:pPr lvl="0" indent="0">
              <a:buNone/>
            </a:pPr>
            <a:endParaRPr kumimoji="0" lang="en-IN" sz="1100" b="0" i="1" u="none" strike="noStrike" kern="1200" cap="none" spc="0" normalizeH="0" baseline="0" noProof="0" dirty="0">
              <a:ln>
                <a:noFill/>
              </a:ln>
              <a:solidFill>
                <a:srgbClr val="8F5902"/>
              </a:solidFill>
              <a:effectLst/>
              <a:uLnTx/>
              <a:uFillTx/>
              <a:latin typeface="Courier"/>
              <a:ea typeface="+mn-ea"/>
              <a:cs typeface="+mn-cs"/>
            </a:endParaRPr>
          </a:p>
          <a:p>
            <a:pPr lvl="0" indent="0">
              <a:buNone/>
            </a:pPr>
            <a:endParaRPr lang="en-IN" sz="1100" i="1" dirty="0">
              <a:solidFill>
                <a:srgbClr val="8F5902"/>
              </a:solidFill>
              <a:latin typeface="Courier"/>
            </a:endParaRPr>
          </a:p>
          <a:p>
            <a:pPr lvl="0" indent="0">
              <a:buNone/>
            </a:pPr>
            <a:endParaRPr kumimoji="0" lang="en-IN" sz="1100" b="0" i="1" u="none" strike="noStrike" kern="1200" cap="none" spc="0" normalizeH="0" baseline="0" noProof="0" dirty="0">
              <a:ln>
                <a:noFill/>
              </a:ln>
              <a:solidFill>
                <a:srgbClr val="8F5902"/>
              </a:solidFill>
              <a:effectLst/>
              <a:uLnTx/>
              <a:uFillTx/>
              <a:latin typeface="Courier"/>
              <a:ea typeface="+mn-ea"/>
              <a:cs typeface="+mn-cs"/>
            </a:endParaRPr>
          </a:p>
          <a:p>
            <a:pPr lvl="0" indent="0">
              <a:buNone/>
            </a:pPr>
            <a:endParaRPr lang="en-IN" sz="1100" i="1" dirty="0">
              <a:solidFill>
                <a:srgbClr val="8F5902"/>
              </a:solidFill>
              <a:latin typeface="Courier"/>
            </a:endParaRPr>
          </a:p>
          <a:p>
            <a:pPr lvl="0" indent="0" algn="r">
              <a:buNone/>
            </a:pPr>
            <a:r>
              <a:rPr kumimoji="0" lang="en-IN" sz="1100" b="0" i="1" u="none" strike="noStrike" kern="1200" cap="none" spc="0" normalizeH="0" baseline="0" noProof="0" dirty="0">
                <a:ln>
                  <a:noFill/>
                </a:ln>
                <a:solidFill>
                  <a:srgbClr val="8F5902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-- Continued...</a:t>
            </a:r>
            <a:endParaRPr sz="1800" dirty="0">
              <a:latin typeface="Courier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DACB5EA-71C5-D8CB-BCE3-C460B7F9B7E7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SQL in TSQL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24E35B-128B-D536-D361-5D8EC4317A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2D01284-0DEC-76AC-522D-1FB92EDA0DD1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DD506-4DA3-8A7E-8DD0-CD2169188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8D1B6F-C366-BC6B-784D-5AA32912B6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927886"/>
          </a:xfrm>
        </p:spPr>
        <p:txBody>
          <a:bodyPr>
            <a:normAutofit lnSpcReduction="10000"/>
          </a:bodyPr>
          <a:lstStyle/>
          <a:p>
            <a:pPr lvl="0" indent="0">
              <a:buNone/>
            </a:pPr>
            <a:r>
              <a:rPr lang="en-IN" sz="1100" dirty="0">
                <a:latin typeface="Courier"/>
              </a:rPr>
              <a:t>    </a:t>
            </a:r>
            <a:r>
              <a:rPr lang="en-IN" sz="1100" i="1" dirty="0">
                <a:solidFill>
                  <a:srgbClr val="8F5902"/>
                </a:solidFill>
                <a:latin typeface="Courier"/>
              </a:rPr>
              <a:t>-- -------------------------------------------------</a:t>
            </a:r>
            <a:br>
              <a:rPr lang="en-IN" sz="1100" dirty="0"/>
            </a:br>
            <a:r>
              <a:rPr lang="en-IN" sz="1100" dirty="0">
                <a:latin typeface="Courier"/>
              </a:rPr>
              <a:t>    </a:t>
            </a:r>
            <a:r>
              <a:rPr lang="en-IN" sz="1100" i="1" dirty="0">
                <a:solidFill>
                  <a:srgbClr val="8F5902"/>
                </a:solidFill>
                <a:latin typeface="Courier"/>
              </a:rPr>
              <a:t>-- DQL</a:t>
            </a:r>
            <a:br>
              <a:rPr lang="en-IN" sz="1100" dirty="0"/>
            </a:br>
            <a:r>
              <a:rPr lang="en-IN" sz="1100" dirty="0">
                <a:latin typeface="Courier"/>
              </a:rPr>
              <a:t>    </a:t>
            </a:r>
            <a:r>
              <a:rPr lang="en-IN" sz="1100" i="1" dirty="0">
                <a:solidFill>
                  <a:srgbClr val="8F5902"/>
                </a:solidFill>
                <a:latin typeface="Courier"/>
              </a:rPr>
              <a:t>-- -------------------------------------------------</a:t>
            </a:r>
            <a:br>
              <a:rPr lang="en-IN" sz="1100" dirty="0"/>
            </a:br>
            <a:r>
              <a:rPr lang="en-IN" sz="1100" dirty="0">
                <a:latin typeface="Courier"/>
              </a:rPr>
              <a:t>    </a:t>
            </a:r>
            <a:r>
              <a:rPr lang="en-IN" sz="1100" i="1" dirty="0">
                <a:solidFill>
                  <a:srgbClr val="8F5902"/>
                </a:solidFill>
                <a:latin typeface="Courier"/>
              </a:rPr>
              <a:t>-- 1. SQL Select: Get product count and print it</a:t>
            </a:r>
            <a:br>
              <a:rPr lang="en-IN" sz="1100" dirty="0"/>
            </a:br>
            <a:r>
              <a:rPr lang="en-IN" sz="1100" dirty="0">
                <a:latin typeface="Courier"/>
              </a:rPr>
              <a:t>    </a:t>
            </a:r>
            <a:r>
              <a:rPr lang="en-IN" sz="1100" i="1" dirty="0">
                <a:solidFill>
                  <a:srgbClr val="8F5902"/>
                </a:solidFill>
                <a:latin typeface="Courier"/>
              </a:rPr>
              <a:t>-- -------------------------------------------------</a:t>
            </a:r>
            <a:br>
              <a:rPr lang="en-IN" sz="1100" dirty="0"/>
            </a:br>
            <a:r>
              <a:rPr lang="en-IN" sz="1100" dirty="0">
                <a:latin typeface="Courier"/>
              </a:rPr>
              <a:t>    </a:t>
            </a:r>
            <a:r>
              <a:rPr lang="en-IN" sz="11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lang="en-IN" sz="1100" dirty="0">
                <a:latin typeface="Courier"/>
              </a:rPr>
              <a:t> @product_count </a:t>
            </a:r>
            <a:r>
              <a:rPr lang="en-IN" sz="1100" b="1" dirty="0">
                <a:solidFill>
                  <a:srgbClr val="CE5C00"/>
                </a:solidFill>
                <a:latin typeface="Courier"/>
              </a:rPr>
              <a:t>=</a:t>
            </a:r>
            <a:r>
              <a:rPr lang="en-IN" sz="1100" dirty="0">
                <a:latin typeface="Courier"/>
              </a:rPr>
              <a:t> </a:t>
            </a:r>
            <a:r>
              <a:rPr lang="en-IN" sz="1100" b="1" dirty="0">
                <a:solidFill>
                  <a:srgbClr val="204A87"/>
                </a:solidFill>
                <a:latin typeface="Courier"/>
              </a:rPr>
              <a:t>COUNT</a:t>
            </a:r>
            <a:r>
              <a:rPr lang="en-IN" sz="1100" dirty="0">
                <a:latin typeface="Courier"/>
              </a:rPr>
              <a:t>(</a:t>
            </a:r>
            <a:r>
              <a:rPr lang="en-IN" sz="1100" b="1" dirty="0">
                <a:solidFill>
                  <a:srgbClr val="CE5C00"/>
                </a:solidFill>
                <a:latin typeface="Courier"/>
              </a:rPr>
              <a:t>*</a:t>
            </a:r>
            <a:r>
              <a:rPr lang="en-IN" sz="1100" dirty="0">
                <a:latin typeface="Courier"/>
              </a:rPr>
              <a:t>) </a:t>
            </a:r>
            <a:br>
              <a:rPr lang="en-IN" sz="1100" dirty="0"/>
            </a:br>
            <a:r>
              <a:rPr lang="en-IN" sz="1100" dirty="0">
                <a:latin typeface="Courier"/>
              </a:rPr>
              <a:t>    </a:t>
            </a:r>
            <a:r>
              <a:rPr lang="en-IN" sz="11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lang="en-IN" sz="1100" dirty="0">
                <a:latin typeface="Courier"/>
              </a:rPr>
              <a:t>  </a:t>
            </a:r>
            <a:r>
              <a:rPr lang="en-IN" sz="1100" dirty="0" err="1">
                <a:latin typeface="Courier"/>
              </a:rPr>
              <a:t>tinitiate.invoicing.products</a:t>
            </a:r>
            <a:r>
              <a:rPr lang="en-IN" sz="1100" dirty="0">
                <a:latin typeface="Courier"/>
              </a:rPr>
              <a:t>;</a:t>
            </a:r>
            <a:br>
              <a:rPr lang="en-IN" sz="1100" dirty="0"/>
            </a:br>
            <a:br>
              <a:rPr lang="en-IN" sz="1100" dirty="0"/>
            </a:br>
            <a:r>
              <a:rPr lang="en-IN" sz="1100" dirty="0">
                <a:latin typeface="Courier"/>
              </a:rPr>
              <a:t>    PRINT </a:t>
            </a:r>
            <a:r>
              <a:rPr lang="en-IN" sz="1100" b="1" dirty="0">
                <a:solidFill>
                  <a:srgbClr val="204A87"/>
                </a:solidFill>
                <a:latin typeface="Courier"/>
              </a:rPr>
              <a:t>CONCAT</a:t>
            </a:r>
            <a:r>
              <a:rPr lang="en-IN" sz="1100" dirty="0">
                <a:latin typeface="Courier"/>
              </a:rPr>
              <a:t>(</a:t>
            </a:r>
            <a:r>
              <a:rPr lang="en-IN" sz="1100" dirty="0">
                <a:solidFill>
                  <a:srgbClr val="4E9A06"/>
                </a:solidFill>
                <a:latin typeface="Courier"/>
              </a:rPr>
              <a:t>'Number of Products: '</a:t>
            </a:r>
            <a:r>
              <a:rPr lang="en-IN" sz="1100" dirty="0">
                <a:latin typeface="Courier"/>
              </a:rPr>
              <a:t>,@</a:t>
            </a:r>
            <a:r>
              <a:rPr lang="en-IN" sz="1100" dirty="0" err="1">
                <a:latin typeface="Courier"/>
              </a:rPr>
              <a:t>product_count</a:t>
            </a:r>
            <a:r>
              <a:rPr lang="en-IN" sz="1100" dirty="0">
                <a:latin typeface="Courier"/>
              </a:rPr>
              <a:t>)</a:t>
            </a:r>
            <a:br>
              <a:rPr lang="en-IN" sz="1100" dirty="0"/>
            </a:br>
            <a:br>
              <a:rPr lang="en-IN" sz="1100" dirty="0"/>
            </a:br>
            <a:r>
              <a:rPr lang="en-IN" sz="1100" dirty="0">
                <a:latin typeface="Courier"/>
              </a:rPr>
              <a:t>    </a:t>
            </a:r>
            <a:r>
              <a:rPr lang="en-IN" sz="1100" i="1" dirty="0">
                <a:solidFill>
                  <a:srgbClr val="8F5902"/>
                </a:solidFill>
                <a:latin typeface="Courier"/>
              </a:rPr>
              <a:t>-- -------------------------------------------------</a:t>
            </a:r>
            <a:br>
              <a:rPr lang="en-IN" sz="1100" dirty="0"/>
            </a:br>
            <a:r>
              <a:rPr lang="en-IN" sz="1100" dirty="0">
                <a:latin typeface="Courier"/>
              </a:rPr>
              <a:t>    </a:t>
            </a:r>
            <a:r>
              <a:rPr lang="en-IN" sz="1100" i="1" dirty="0">
                <a:solidFill>
                  <a:srgbClr val="8F5902"/>
                </a:solidFill>
                <a:latin typeface="Courier"/>
              </a:rPr>
              <a:t>-- DML</a:t>
            </a:r>
            <a:br>
              <a:rPr lang="en-IN" sz="1100" dirty="0"/>
            </a:br>
            <a:r>
              <a:rPr lang="en-IN" sz="1100" dirty="0">
                <a:latin typeface="Courier"/>
              </a:rPr>
              <a:t>    </a:t>
            </a:r>
            <a:r>
              <a:rPr lang="en-IN" sz="1100" i="1" dirty="0">
                <a:solidFill>
                  <a:srgbClr val="8F5902"/>
                </a:solidFill>
                <a:latin typeface="Courier"/>
              </a:rPr>
              <a:t>-- -------------------------------------------------</a:t>
            </a:r>
            <a:br>
              <a:rPr lang="en-IN" sz="1100" dirty="0"/>
            </a:br>
            <a:r>
              <a:rPr lang="en-IN" sz="1100" dirty="0">
                <a:latin typeface="Courier"/>
              </a:rPr>
              <a:t>    </a:t>
            </a:r>
            <a:r>
              <a:rPr lang="en-IN" sz="1100" i="1" dirty="0">
                <a:solidFill>
                  <a:srgbClr val="8F5902"/>
                </a:solidFill>
                <a:latin typeface="Courier"/>
              </a:rPr>
              <a:t>-- 1. Insert product data if that product is missing</a:t>
            </a:r>
            <a:br>
              <a:rPr lang="en-IN" sz="1100" dirty="0"/>
            </a:br>
            <a:r>
              <a:rPr lang="en-IN" sz="1100" dirty="0">
                <a:latin typeface="Courier"/>
              </a:rPr>
              <a:t>    </a:t>
            </a:r>
            <a:r>
              <a:rPr lang="en-IN" sz="1100" i="1" dirty="0">
                <a:solidFill>
                  <a:srgbClr val="8F5902"/>
                </a:solidFill>
                <a:latin typeface="Courier"/>
              </a:rPr>
              <a:t>-- 2. Update the Column values if supplied input PK exists</a:t>
            </a:r>
            <a:br>
              <a:rPr lang="en-IN" sz="1100" dirty="0"/>
            </a:br>
            <a:r>
              <a:rPr lang="en-IN" sz="1100" dirty="0">
                <a:latin typeface="Courier"/>
              </a:rPr>
              <a:t>    </a:t>
            </a:r>
            <a:r>
              <a:rPr lang="en-IN" sz="1100" i="1" dirty="0">
                <a:solidFill>
                  <a:srgbClr val="8F5902"/>
                </a:solidFill>
                <a:latin typeface="Courier"/>
              </a:rPr>
              <a:t>-- -------------------------------------------------</a:t>
            </a:r>
            <a:br>
              <a:rPr lang="en-IN" sz="1100" dirty="0"/>
            </a:br>
            <a:r>
              <a:rPr lang="en-IN" sz="1100" dirty="0">
                <a:latin typeface="Courier"/>
              </a:rPr>
              <a:t>    </a:t>
            </a:r>
            <a:r>
              <a:rPr lang="en-IN" sz="11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lang="en-IN" sz="1100" dirty="0">
                <a:latin typeface="Courier"/>
              </a:rPr>
              <a:t> @l_product_id </a:t>
            </a:r>
            <a:r>
              <a:rPr lang="en-IN" sz="1100" b="1" dirty="0">
                <a:solidFill>
                  <a:srgbClr val="CE5C00"/>
                </a:solidFill>
                <a:latin typeface="Courier"/>
              </a:rPr>
              <a:t>=</a:t>
            </a:r>
            <a:r>
              <a:rPr lang="en-IN" sz="1100" dirty="0">
                <a:latin typeface="Courier"/>
              </a:rPr>
              <a:t> </a:t>
            </a:r>
            <a:r>
              <a:rPr lang="en-IN" sz="1100" dirty="0" err="1">
                <a:latin typeface="Courier"/>
              </a:rPr>
              <a:t>product_id</a:t>
            </a:r>
            <a:br>
              <a:rPr lang="en-IN" sz="1100" dirty="0"/>
            </a:br>
            <a:r>
              <a:rPr lang="en-IN" sz="1100" dirty="0">
                <a:latin typeface="Courier"/>
              </a:rPr>
              <a:t>    </a:t>
            </a:r>
            <a:r>
              <a:rPr lang="en-IN" sz="11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lang="en-IN" sz="1100" dirty="0">
                <a:latin typeface="Courier"/>
              </a:rPr>
              <a:t>   </a:t>
            </a:r>
            <a:r>
              <a:rPr lang="en-IN" sz="1100" dirty="0" err="1">
                <a:latin typeface="Courier"/>
              </a:rPr>
              <a:t>tinitiate.invoicing.products</a:t>
            </a:r>
            <a:br>
              <a:rPr lang="en-IN" sz="1100" dirty="0"/>
            </a:br>
            <a:r>
              <a:rPr lang="en-IN" sz="1100" dirty="0">
                <a:latin typeface="Courier"/>
              </a:rPr>
              <a:t>    </a:t>
            </a:r>
            <a:r>
              <a:rPr lang="en-IN" sz="1100" b="1" dirty="0">
                <a:solidFill>
                  <a:srgbClr val="204A87"/>
                </a:solidFill>
                <a:latin typeface="Courier"/>
              </a:rPr>
              <a:t>WHERE</a:t>
            </a:r>
            <a:r>
              <a:rPr lang="en-IN" sz="1100" dirty="0">
                <a:latin typeface="Courier"/>
              </a:rPr>
              <a:t>   </a:t>
            </a:r>
            <a:r>
              <a:rPr lang="en-IN" sz="1100" dirty="0" err="1">
                <a:latin typeface="Courier"/>
              </a:rPr>
              <a:t>product_id</a:t>
            </a:r>
            <a:r>
              <a:rPr lang="en-IN" sz="1100" dirty="0">
                <a:latin typeface="Courier"/>
              </a:rPr>
              <a:t> </a:t>
            </a:r>
            <a:r>
              <a:rPr lang="en-IN" sz="1100" b="1" dirty="0">
                <a:solidFill>
                  <a:srgbClr val="CE5C00"/>
                </a:solidFill>
                <a:latin typeface="Courier"/>
              </a:rPr>
              <a:t>=</a:t>
            </a:r>
            <a:r>
              <a:rPr lang="en-IN" sz="1100" dirty="0">
                <a:latin typeface="Courier"/>
              </a:rPr>
              <a:t> @l_in_product_id;</a:t>
            </a:r>
            <a:br>
              <a:rPr lang="en-IN" sz="1100" dirty="0"/>
            </a:br>
            <a:br>
              <a:rPr lang="en-IN" sz="1100" dirty="0"/>
            </a:br>
            <a:r>
              <a:rPr lang="en-IN" sz="1100" dirty="0">
                <a:latin typeface="Courier"/>
              </a:rPr>
              <a:t>    </a:t>
            </a:r>
            <a:r>
              <a:rPr lang="en-IN" sz="11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lang="en-IN" sz="1100" dirty="0">
                <a:latin typeface="Courier"/>
              </a:rPr>
              <a:t> @product_count </a:t>
            </a:r>
            <a:r>
              <a:rPr lang="en-IN" sz="1100" b="1" dirty="0">
                <a:solidFill>
                  <a:srgbClr val="CE5C00"/>
                </a:solidFill>
                <a:latin typeface="Courier"/>
              </a:rPr>
              <a:t>=</a:t>
            </a:r>
            <a:r>
              <a:rPr lang="en-IN" sz="1100" dirty="0">
                <a:latin typeface="Courier"/>
              </a:rPr>
              <a:t> </a:t>
            </a:r>
            <a:r>
              <a:rPr lang="en-IN" sz="1100" b="1" dirty="0">
                <a:solidFill>
                  <a:srgbClr val="204A87"/>
                </a:solidFill>
                <a:latin typeface="Courier"/>
              </a:rPr>
              <a:t>COUNT</a:t>
            </a:r>
            <a:r>
              <a:rPr lang="en-IN" sz="1100" dirty="0">
                <a:latin typeface="Courier"/>
              </a:rPr>
              <a:t>(</a:t>
            </a:r>
            <a:r>
              <a:rPr lang="en-IN" sz="1100" b="1" dirty="0">
                <a:solidFill>
                  <a:srgbClr val="CE5C00"/>
                </a:solidFill>
                <a:latin typeface="Courier"/>
              </a:rPr>
              <a:t>*</a:t>
            </a:r>
            <a:r>
              <a:rPr lang="en-IN" sz="1100" dirty="0">
                <a:latin typeface="Courier"/>
              </a:rPr>
              <a:t>)</a:t>
            </a:r>
            <a:br>
              <a:rPr lang="en-IN" sz="1100" dirty="0"/>
            </a:br>
            <a:r>
              <a:rPr lang="en-IN" sz="1100" dirty="0">
                <a:latin typeface="Courier"/>
              </a:rPr>
              <a:t>    </a:t>
            </a:r>
            <a:r>
              <a:rPr lang="en-IN" sz="11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lang="en-IN" sz="1100" dirty="0">
                <a:latin typeface="Courier"/>
              </a:rPr>
              <a:t>   </a:t>
            </a:r>
            <a:r>
              <a:rPr lang="en-IN" sz="1100" dirty="0" err="1">
                <a:latin typeface="Courier"/>
              </a:rPr>
              <a:t>tinitiate.invoicing.products</a:t>
            </a:r>
            <a:br>
              <a:rPr lang="en-IN" sz="1100" dirty="0"/>
            </a:br>
            <a:r>
              <a:rPr lang="en-IN" sz="1100" dirty="0">
                <a:latin typeface="Courier"/>
              </a:rPr>
              <a:t>    </a:t>
            </a:r>
            <a:r>
              <a:rPr lang="en-IN" sz="1100" b="1" dirty="0">
                <a:solidFill>
                  <a:srgbClr val="204A87"/>
                </a:solidFill>
                <a:latin typeface="Courier"/>
              </a:rPr>
              <a:t>WHERE</a:t>
            </a:r>
            <a:r>
              <a:rPr lang="en-IN" sz="1100" dirty="0">
                <a:latin typeface="Courier"/>
              </a:rPr>
              <a:t>   </a:t>
            </a:r>
            <a:r>
              <a:rPr lang="en-IN" sz="1100" dirty="0" err="1">
                <a:latin typeface="Courier"/>
              </a:rPr>
              <a:t>product_id</a:t>
            </a:r>
            <a:r>
              <a:rPr lang="en-IN" sz="1100" dirty="0">
                <a:latin typeface="Courier"/>
              </a:rPr>
              <a:t> </a:t>
            </a:r>
            <a:r>
              <a:rPr lang="en-IN" sz="1100" b="1" dirty="0">
                <a:solidFill>
                  <a:srgbClr val="CE5C00"/>
                </a:solidFill>
                <a:latin typeface="Courier"/>
              </a:rPr>
              <a:t>=</a:t>
            </a:r>
            <a:r>
              <a:rPr lang="en-IN" sz="1100" dirty="0">
                <a:latin typeface="Courier"/>
              </a:rPr>
              <a:t> @l_in_product_id;</a:t>
            </a:r>
          </a:p>
          <a:p>
            <a:pPr marL="342900" marR="0" lvl="0" indent="0" algn="r" defTabSz="3429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IN" sz="1100" b="0" i="1" u="none" strike="noStrike" kern="1200" cap="none" spc="0" normalizeH="0" baseline="0" noProof="0" dirty="0">
                <a:ln>
                  <a:noFill/>
                </a:ln>
                <a:solidFill>
                  <a:srgbClr val="8F5902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-- Continued...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Courier"/>
              <a:ea typeface="+mn-ea"/>
              <a:cs typeface="+mn-cs"/>
            </a:endParaRPr>
          </a:p>
          <a:p>
            <a:pPr lvl="0" indent="0">
              <a:buNone/>
            </a:pPr>
            <a:endParaRPr lang="en-IN" sz="1800" dirty="0">
              <a:latin typeface="Courier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CC20B95-63F7-80C9-B5BE-1174D5FDAE8A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SQL in TSQL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2F8CD8-9296-1726-0AF9-F2262BC161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FB4A4467-CE0A-0170-DA82-FEA1BDE81A6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4532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BF9CF-0D5A-520F-437F-7850B8F3C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75E70-B5E3-3627-061B-06169ED22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3"/>
            <a:ext cx="8229600" cy="3932414"/>
          </a:xfrm>
        </p:spPr>
        <p:txBody>
          <a:bodyPr>
            <a:normAutofit lnSpcReduction="10000"/>
          </a:bodyPr>
          <a:lstStyle/>
          <a:p>
            <a:pPr lvl="0" indent="0">
              <a:buNone/>
            </a:pPr>
            <a:r>
              <a:rPr sz="1000" dirty="0">
                <a:latin typeface="Courier"/>
              </a:rPr>
              <a:t>    </a:t>
            </a:r>
            <a:r>
              <a:rPr sz="1000" b="1" dirty="0">
                <a:solidFill>
                  <a:srgbClr val="204A87"/>
                </a:solidFill>
                <a:latin typeface="Courier"/>
              </a:rPr>
              <a:t>IF</a:t>
            </a:r>
            <a:r>
              <a:rPr sz="1000" dirty="0">
                <a:latin typeface="Courier"/>
              </a:rPr>
              <a:t> @l_product_id </a:t>
            </a:r>
            <a:r>
              <a:rPr sz="1000" b="1" dirty="0">
                <a:solidFill>
                  <a:srgbClr val="204A87"/>
                </a:solidFill>
                <a:latin typeface="Courier"/>
              </a:rPr>
              <a:t>IS</a:t>
            </a:r>
            <a:r>
              <a:rPr sz="1000" dirty="0">
                <a:latin typeface="Courier"/>
              </a:rPr>
              <a:t> </a:t>
            </a:r>
            <a:r>
              <a:rPr sz="1000" b="1" dirty="0">
                <a:solidFill>
                  <a:srgbClr val="204A87"/>
                </a:solidFill>
                <a:latin typeface="Courier"/>
              </a:rPr>
              <a:t>NULL</a:t>
            </a:r>
            <a:br>
              <a:rPr sz="1000" dirty="0"/>
            </a:br>
            <a:r>
              <a:rPr sz="1000" dirty="0">
                <a:latin typeface="Courier"/>
              </a:rPr>
              <a:t>        </a:t>
            </a:r>
            <a:r>
              <a:rPr sz="1000" b="1" dirty="0">
                <a:solidFill>
                  <a:srgbClr val="204A87"/>
                </a:solidFill>
                <a:latin typeface="Courier"/>
              </a:rPr>
              <a:t>BEGIN</a:t>
            </a:r>
            <a:br>
              <a:rPr sz="1000" dirty="0"/>
            </a:br>
            <a:r>
              <a:rPr sz="1000" dirty="0">
                <a:latin typeface="Courier"/>
              </a:rPr>
              <a:t>            PRINT </a:t>
            </a:r>
            <a:r>
              <a:rPr sz="1000" b="1" dirty="0">
                <a:solidFill>
                  <a:srgbClr val="204A87"/>
                </a:solidFill>
                <a:latin typeface="Courier"/>
              </a:rPr>
              <a:t>CONCAT</a:t>
            </a:r>
            <a:r>
              <a:rPr sz="1000" dirty="0">
                <a:latin typeface="Courier"/>
              </a:rPr>
              <a:t>(</a:t>
            </a:r>
            <a:r>
              <a:rPr sz="1000" dirty="0">
                <a:solidFill>
                  <a:srgbClr val="4E9A06"/>
                </a:solidFill>
                <a:latin typeface="Courier"/>
              </a:rPr>
              <a:t>'Product: '</a:t>
            </a:r>
            <a:r>
              <a:rPr sz="1000" dirty="0">
                <a:latin typeface="Courier"/>
              </a:rPr>
              <a:t>,@</a:t>
            </a:r>
            <a:r>
              <a:rPr sz="1000" dirty="0" err="1">
                <a:latin typeface="Courier"/>
              </a:rPr>
              <a:t>l_in_product_id</a:t>
            </a:r>
            <a:r>
              <a:rPr sz="1000" dirty="0">
                <a:latin typeface="Courier"/>
              </a:rPr>
              <a:t>,</a:t>
            </a:r>
            <a:r>
              <a:rPr sz="1000" dirty="0">
                <a:solidFill>
                  <a:srgbClr val="4E9A06"/>
                </a:solidFill>
                <a:latin typeface="Courier"/>
              </a:rPr>
              <a:t>' </a:t>
            </a:r>
            <a:r>
              <a:rPr sz="1000" dirty="0" err="1">
                <a:solidFill>
                  <a:srgbClr val="4E9A06"/>
                </a:solidFill>
                <a:latin typeface="Courier"/>
              </a:rPr>
              <a:t>doesnt</a:t>
            </a:r>
            <a:r>
              <a:rPr sz="1000" dirty="0">
                <a:solidFill>
                  <a:srgbClr val="4E9A06"/>
                </a:solidFill>
                <a:latin typeface="Courier"/>
              </a:rPr>
              <a:t> exists, Adding it NOW!'</a:t>
            </a:r>
            <a:r>
              <a:rPr sz="1000" dirty="0">
                <a:latin typeface="Courier"/>
              </a:rPr>
              <a:t>)</a:t>
            </a:r>
            <a:br>
              <a:rPr sz="1000" dirty="0"/>
            </a:br>
            <a:br>
              <a:rPr sz="1000" dirty="0"/>
            </a:br>
            <a:r>
              <a:rPr sz="1000" dirty="0">
                <a:latin typeface="Courier"/>
              </a:rPr>
              <a:t>            </a:t>
            </a:r>
            <a:r>
              <a:rPr sz="1000" b="1" dirty="0">
                <a:solidFill>
                  <a:srgbClr val="204A87"/>
                </a:solidFill>
                <a:latin typeface="Courier"/>
              </a:rPr>
              <a:t>INSERT</a:t>
            </a:r>
            <a:r>
              <a:rPr sz="1000" dirty="0">
                <a:latin typeface="Courier"/>
              </a:rPr>
              <a:t> </a:t>
            </a:r>
            <a:r>
              <a:rPr sz="1000" b="1" dirty="0">
                <a:solidFill>
                  <a:srgbClr val="204A87"/>
                </a:solidFill>
                <a:latin typeface="Courier"/>
              </a:rPr>
              <a:t>INTO</a:t>
            </a:r>
            <a:r>
              <a:rPr sz="1000" dirty="0">
                <a:latin typeface="Courier"/>
              </a:rPr>
              <a:t> </a:t>
            </a:r>
            <a:r>
              <a:rPr sz="1000" dirty="0" err="1">
                <a:latin typeface="Courier"/>
              </a:rPr>
              <a:t>tinitiate.invoicing.products</a:t>
            </a:r>
            <a:br>
              <a:rPr sz="1000" dirty="0"/>
            </a:br>
            <a:r>
              <a:rPr sz="1000" dirty="0">
                <a:latin typeface="Courier"/>
              </a:rPr>
              <a:t>            </a:t>
            </a:r>
            <a:r>
              <a:rPr sz="1000" b="1" dirty="0">
                <a:solidFill>
                  <a:srgbClr val="204A87"/>
                </a:solidFill>
                <a:latin typeface="Courier"/>
              </a:rPr>
              <a:t>VALUES</a:t>
            </a:r>
            <a:r>
              <a:rPr sz="1000" dirty="0">
                <a:latin typeface="Courier"/>
              </a:rPr>
              <a:t> ( @l_in_product_id</a:t>
            </a:r>
            <a:br>
              <a:rPr sz="1000" dirty="0"/>
            </a:br>
            <a:r>
              <a:rPr sz="1000" dirty="0">
                <a:latin typeface="Courier"/>
              </a:rPr>
              <a:t>                    ,@</a:t>
            </a:r>
            <a:r>
              <a:rPr sz="1000" dirty="0" err="1">
                <a:latin typeface="Courier"/>
              </a:rPr>
              <a:t>l_in_product_category</a:t>
            </a:r>
            <a:br>
              <a:rPr sz="1000" dirty="0"/>
            </a:br>
            <a:r>
              <a:rPr sz="1000" dirty="0">
                <a:latin typeface="Courier"/>
              </a:rPr>
              <a:t>                    ,@</a:t>
            </a:r>
            <a:r>
              <a:rPr sz="1000" dirty="0" err="1">
                <a:latin typeface="Courier"/>
              </a:rPr>
              <a:t>l_in_product_name</a:t>
            </a:r>
            <a:br>
              <a:rPr sz="1000" dirty="0"/>
            </a:br>
            <a:r>
              <a:rPr sz="1000" dirty="0">
                <a:latin typeface="Courier"/>
              </a:rPr>
              <a:t>                    ,@</a:t>
            </a:r>
            <a:r>
              <a:rPr sz="1000" dirty="0" err="1">
                <a:latin typeface="Courier"/>
              </a:rPr>
              <a:t>l_in_product_unit_price</a:t>
            </a:r>
            <a:r>
              <a:rPr sz="1000" dirty="0">
                <a:latin typeface="Courier"/>
              </a:rPr>
              <a:t>);</a:t>
            </a:r>
            <a:br>
              <a:rPr sz="1000" dirty="0"/>
            </a:br>
            <a:br>
              <a:rPr sz="1000" dirty="0"/>
            </a:br>
            <a:r>
              <a:rPr sz="1000" dirty="0">
                <a:latin typeface="Courier"/>
              </a:rPr>
              <a:t>            PRINT </a:t>
            </a:r>
            <a:r>
              <a:rPr sz="1000" b="1" dirty="0">
                <a:solidFill>
                  <a:srgbClr val="204A87"/>
                </a:solidFill>
                <a:latin typeface="Courier"/>
              </a:rPr>
              <a:t>CONCAT</a:t>
            </a:r>
            <a:r>
              <a:rPr sz="1000" dirty="0">
                <a:latin typeface="Courier"/>
              </a:rPr>
              <a:t>(</a:t>
            </a:r>
            <a:r>
              <a:rPr sz="1000" dirty="0">
                <a:solidFill>
                  <a:srgbClr val="4E9A06"/>
                </a:solidFill>
                <a:latin typeface="Courier"/>
              </a:rPr>
              <a:t>'Rows Inserted '</a:t>
            </a:r>
            <a:r>
              <a:rPr sz="1000" dirty="0">
                <a:latin typeface="Courier"/>
              </a:rPr>
              <a:t>,@@</a:t>
            </a:r>
            <a:r>
              <a:rPr sz="1000" dirty="0" err="1">
                <a:latin typeface="Courier"/>
              </a:rPr>
              <a:t>rowcount</a:t>
            </a:r>
            <a:r>
              <a:rPr sz="1000" dirty="0">
                <a:latin typeface="Courier"/>
              </a:rPr>
              <a:t>)                         </a:t>
            </a:r>
            <a:br>
              <a:rPr sz="1000" dirty="0"/>
            </a:br>
            <a:r>
              <a:rPr sz="1000" dirty="0">
                <a:latin typeface="Courier"/>
              </a:rPr>
              <a:t>        </a:t>
            </a:r>
            <a:r>
              <a:rPr sz="1000" b="1" dirty="0">
                <a:solidFill>
                  <a:srgbClr val="204A87"/>
                </a:solidFill>
                <a:latin typeface="Courier"/>
              </a:rPr>
              <a:t>END</a:t>
            </a:r>
            <a:br>
              <a:rPr sz="1000" dirty="0"/>
            </a:br>
            <a:r>
              <a:rPr sz="1000" dirty="0">
                <a:latin typeface="Courier"/>
              </a:rPr>
              <a:t>    </a:t>
            </a:r>
            <a:r>
              <a:rPr sz="1000" b="1" dirty="0">
                <a:solidFill>
                  <a:srgbClr val="204A87"/>
                </a:solidFill>
                <a:latin typeface="Courier"/>
              </a:rPr>
              <a:t>ELSE</a:t>
            </a:r>
            <a:br>
              <a:rPr sz="1000" dirty="0"/>
            </a:br>
            <a:r>
              <a:rPr sz="1000" dirty="0">
                <a:latin typeface="Courier"/>
              </a:rPr>
              <a:t>        </a:t>
            </a:r>
            <a:r>
              <a:rPr sz="1000" b="1" dirty="0">
                <a:solidFill>
                  <a:srgbClr val="204A87"/>
                </a:solidFill>
                <a:latin typeface="Courier"/>
              </a:rPr>
              <a:t>BEGIN</a:t>
            </a:r>
            <a:br>
              <a:rPr sz="1000" dirty="0"/>
            </a:br>
            <a:r>
              <a:rPr sz="1000" dirty="0">
                <a:latin typeface="Courier"/>
              </a:rPr>
              <a:t>            PRINT </a:t>
            </a:r>
            <a:r>
              <a:rPr sz="1000" b="1" dirty="0">
                <a:solidFill>
                  <a:srgbClr val="204A87"/>
                </a:solidFill>
                <a:latin typeface="Courier"/>
              </a:rPr>
              <a:t>CONCAT</a:t>
            </a:r>
            <a:r>
              <a:rPr sz="1000" dirty="0">
                <a:latin typeface="Courier"/>
              </a:rPr>
              <a:t>(</a:t>
            </a:r>
            <a:r>
              <a:rPr sz="1000" dirty="0">
                <a:solidFill>
                  <a:srgbClr val="4E9A06"/>
                </a:solidFill>
                <a:latin typeface="Courier"/>
              </a:rPr>
              <a:t>'Product: '</a:t>
            </a:r>
            <a:r>
              <a:rPr sz="1000" dirty="0">
                <a:latin typeface="Courier"/>
              </a:rPr>
              <a:t>,@</a:t>
            </a:r>
            <a:r>
              <a:rPr sz="1000" dirty="0" err="1">
                <a:latin typeface="Courier"/>
              </a:rPr>
              <a:t>l_in_product_id</a:t>
            </a:r>
            <a:r>
              <a:rPr sz="1000" dirty="0">
                <a:latin typeface="Courier"/>
              </a:rPr>
              <a:t>,</a:t>
            </a:r>
            <a:r>
              <a:rPr sz="1000" dirty="0">
                <a:solidFill>
                  <a:srgbClr val="4E9A06"/>
                </a:solidFill>
                <a:latin typeface="Courier"/>
              </a:rPr>
              <a:t>' exists!, Updating the new values'</a:t>
            </a:r>
            <a:r>
              <a:rPr sz="1000" dirty="0">
                <a:latin typeface="Courier"/>
              </a:rPr>
              <a:t>)</a:t>
            </a:r>
            <a:br>
              <a:rPr sz="1000" dirty="0"/>
            </a:br>
            <a:r>
              <a:rPr sz="1000" dirty="0">
                <a:latin typeface="Courier"/>
              </a:rPr>
              <a:t>    </a:t>
            </a:r>
            <a:br>
              <a:rPr sz="1000" dirty="0"/>
            </a:br>
            <a:r>
              <a:rPr sz="1000" dirty="0">
                <a:latin typeface="Courier"/>
              </a:rPr>
              <a:t>            </a:t>
            </a:r>
            <a:r>
              <a:rPr sz="1000" b="1" dirty="0">
                <a:solidFill>
                  <a:srgbClr val="204A87"/>
                </a:solidFill>
                <a:latin typeface="Courier"/>
              </a:rPr>
              <a:t>UPDATE</a:t>
            </a:r>
            <a:r>
              <a:rPr sz="1000" dirty="0">
                <a:latin typeface="Courier"/>
              </a:rPr>
              <a:t> </a:t>
            </a:r>
            <a:r>
              <a:rPr sz="1000" dirty="0" err="1">
                <a:latin typeface="Courier"/>
              </a:rPr>
              <a:t>tinitiate.invoicing.products</a:t>
            </a:r>
            <a:br>
              <a:rPr sz="1000" dirty="0"/>
            </a:br>
            <a:r>
              <a:rPr sz="1000" dirty="0">
                <a:latin typeface="Courier"/>
              </a:rPr>
              <a:t>            </a:t>
            </a:r>
            <a:r>
              <a:rPr sz="1000" b="1" dirty="0">
                <a:solidFill>
                  <a:srgbClr val="204A87"/>
                </a:solidFill>
                <a:latin typeface="Courier"/>
              </a:rPr>
              <a:t>SET</a:t>
            </a:r>
            <a:r>
              <a:rPr sz="1000" dirty="0">
                <a:latin typeface="Courier"/>
              </a:rPr>
              <a:t>    </a:t>
            </a:r>
            <a:r>
              <a:rPr sz="1000" dirty="0" err="1">
                <a:latin typeface="Courier"/>
              </a:rPr>
              <a:t>product_category</a:t>
            </a:r>
            <a:r>
              <a:rPr sz="1000" dirty="0">
                <a:latin typeface="Courier"/>
              </a:rPr>
              <a:t>   </a:t>
            </a:r>
            <a:r>
              <a:rPr sz="1000" b="1" dirty="0">
                <a:solidFill>
                  <a:srgbClr val="CE5C00"/>
                </a:solidFill>
                <a:latin typeface="Courier"/>
              </a:rPr>
              <a:t>=</a:t>
            </a:r>
            <a:r>
              <a:rPr sz="1000" dirty="0">
                <a:latin typeface="Courier"/>
              </a:rPr>
              <a:t> @l_in_product_category</a:t>
            </a:r>
            <a:br>
              <a:rPr sz="1000" dirty="0"/>
            </a:br>
            <a:r>
              <a:rPr sz="1000" dirty="0">
                <a:latin typeface="Courier"/>
              </a:rPr>
              <a:t>                  ,</a:t>
            </a:r>
            <a:r>
              <a:rPr sz="1000" dirty="0" err="1">
                <a:latin typeface="Courier"/>
              </a:rPr>
              <a:t>product_name</a:t>
            </a:r>
            <a:r>
              <a:rPr sz="1000" dirty="0">
                <a:latin typeface="Courier"/>
              </a:rPr>
              <a:t>       </a:t>
            </a:r>
            <a:r>
              <a:rPr sz="1000" b="1" dirty="0">
                <a:solidFill>
                  <a:srgbClr val="CE5C00"/>
                </a:solidFill>
                <a:latin typeface="Courier"/>
              </a:rPr>
              <a:t>=</a:t>
            </a:r>
            <a:r>
              <a:rPr sz="1000" dirty="0">
                <a:latin typeface="Courier"/>
              </a:rPr>
              <a:t> @l_in_product_name</a:t>
            </a:r>
            <a:br>
              <a:rPr sz="1000" dirty="0"/>
            </a:br>
            <a:r>
              <a:rPr sz="1000" dirty="0">
                <a:latin typeface="Courier"/>
              </a:rPr>
              <a:t>                  ,</a:t>
            </a:r>
            <a:r>
              <a:rPr sz="1000" dirty="0" err="1">
                <a:latin typeface="Courier"/>
              </a:rPr>
              <a:t>product_unit_price</a:t>
            </a:r>
            <a:r>
              <a:rPr sz="1000" dirty="0">
                <a:latin typeface="Courier"/>
              </a:rPr>
              <a:t> </a:t>
            </a:r>
            <a:r>
              <a:rPr sz="1000" b="1" dirty="0">
                <a:solidFill>
                  <a:srgbClr val="CE5C00"/>
                </a:solidFill>
                <a:latin typeface="Courier"/>
              </a:rPr>
              <a:t>=</a:t>
            </a:r>
            <a:r>
              <a:rPr sz="1000" dirty="0">
                <a:latin typeface="Courier"/>
              </a:rPr>
              <a:t> @l_in_product_unit_price</a:t>
            </a:r>
            <a:br>
              <a:rPr sz="1000" dirty="0"/>
            </a:br>
            <a:r>
              <a:rPr sz="1000" dirty="0">
                <a:latin typeface="Courier"/>
              </a:rPr>
              <a:t>            </a:t>
            </a:r>
            <a:r>
              <a:rPr sz="1000" b="1" dirty="0">
                <a:solidFill>
                  <a:srgbClr val="204A87"/>
                </a:solidFill>
                <a:latin typeface="Courier"/>
              </a:rPr>
              <a:t>WHERE</a:t>
            </a:r>
            <a:r>
              <a:rPr sz="1000" dirty="0">
                <a:latin typeface="Courier"/>
              </a:rPr>
              <a:t>  </a:t>
            </a:r>
            <a:r>
              <a:rPr sz="1000" dirty="0" err="1">
                <a:latin typeface="Courier"/>
              </a:rPr>
              <a:t>product_id</a:t>
            </a:r>
            <a:r>
              <a:rPr sz="1000" dirty="0">
                <a:latin typeface="Courier"/>
              </a:rPr>
              <a:t> </a:t>
            </a:r>
            <a:r>
              <a:rPr sz="1000" b="1" dirty="0">
                <a:solidFill>
                  <a:srgbClr val="CE5C00"/>
                </a:solidFill>
                <a:latin typeface="Courier"/>
              </a:rPr>
              <a:t>=</a:t>
            </a:r>
            <a:r>
              <a:rPr sz="1000" dirty="0">
                <a:latin typeface="Courier"/>
              </a:rPr>
              <a:t> @l_in_product_id;</a:t>
            </a:r>
            <a:br>
              <a:rPr sz="1000" dirty="0"/>
            </a:br>
            <a:r>
              <a:rPr sz="1000" dirty="0">
                <a:latin typeface="Courier"/>
              </a:rPr>
              <a:t>        </a:t>
            </a:r>
            <a:r>
              <a:rPr sz="1000" b="1" dirty="0">
                <a:solidFill>
                  <a:srgbClr val="204A87"/>
                </a:solidFill>
                <a:latin typeface="Courier"/>
              </a:rPr>
              <a:t>END</a:t>
            </a:r>
            <a:br>
              <a:rPr sz="1000" dirty="0"/>
            </a:br>
            <a:r>
              <a:rPr sz="1000" b="1" dirty="0" err="1">
                <a:solidFill>
                  <a:srgbClr val="204A87"/>
                </a:solidFill>
                <a:latin typeface="Courier"/>
              </a:rPr>
              <a:t>END</a:t>
            </a:r>
            <a:r>
              <a:rPr sz="1000" dirty="0">
                <a:latin typeface="Courier"/>
              </a:rPr>
              <a:t>;</a:t>
            </a:r>
            <a:br>
              <a:rPr sz="1000" dirty="0"/>
            </a:br>
            <a:br>
              <a:rPr sz="1000" dirty="0"/>
            </a:br>
            <a:r>
              <a:rPr sz="1000" i="1" dirty="0">
                <a:solidFill>
                  <a:srgbClr val="8F5902"/>
                </a:solidFill>
                <a:latin typeface="Courier"/>
              </a:rPr>
              <a:t>-- Test Query</a:t>
            </a:r>
            <a:br>
              <a:rPr sz="1000" dirty="0"/>
            </a:br>
            <a:r>
              <a:rPr sz="10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000" dirty="0">
                <a:latin typeface="Courier"/>
              </a:rPr>
              <a:t> </a:t>
            </a:r>
            <a:r>
              <a:rPr sz="1000" b="1" dirty="0">
                <a:solidFill>
                  <a:srgbClr val="CE5C00"/>
                </a:solidFill>
                <a:latin typeface="Courier"/>
              </a:rPr>
              <a:t>*</a:t>
            </a:r>
            <a:r>
              <a:rPr sz="1000" dirty="0">
                <a:latin typeface="Courier"/>
              </a:rPr>
              <a:t> </a:t>
            </a:r>
            <a:r>
              <a:rPr sz="10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000" dirty="0">
                <a:latin typeface="Courier"/>
              </a:rPr>
              <a:t> </a:t>
            </a:r>
            <a:r>
              <a:rPr sz="1000" dirty="0" err="1">
                <a:latin typeface="Courier"/>
              </a:rPr>
              <a:t>tinitiate.invoicing.products</a:t>
            </a:r>
            <a:r>
              <a:rPr sz="1000" dirty="0">
                <a:latin typeface="Courier"/>
              </a:rPr>
              <a:t>;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87E7500-C392-FAF9-4C86-1CD030ED5B1B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SQL in TSQL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8F8FEB-BC99-2BB9-914D-D9AF3FB321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390BFDB-F41E-9DA4-C9E7-62A8A626EA32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1495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9">
      <a:dk1>
        <a:srgbClr val="1F497D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556</Words>
  <Application>Microsoft Office PowerPoint</Application>
  <PresentationFormat>On-screen Show (16:9)</PresentationFormat>
  <Paragraphs>18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Courier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Rohit K</cp:lastModifiedBy>
  <cp:revision>1</cp:revision>
  <dcterms:created xsi:type="dcterms:W3CDTF">2025-08-14T10:41:27Z</dcterms:created>
  <dcterms:modified xsi:type="dcterms:W3CDTF">2025-08-14T10:49:23Z</dcterms:modified>
</cp:coreProperties>
</file>