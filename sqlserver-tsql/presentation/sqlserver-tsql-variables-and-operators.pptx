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7E4EFB36-A7A5-3F9D-4C02-EA4EEEA08F5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8054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Variables are named placeholders that store single values of a specific data type.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Step 1: Declare Variables</a:t>
            </a:r>
          </a:p>
          <a:p>
            <a:pPr lvl="0"/>
            <a:r>
              <a:rPr sz="1800" dirty="0"/>
              <a:t>First, we declare two variables to store the department name and the minimum salary for the query.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400" dirty="0">
                <a:latin typeface="Courier"/>
              </a:rPr>
              <a:t> @DeptName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400" dirty="0">
                <a:latin typeface="Courier"/>
              </a:rPr>
              <a:t>);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400" dirty="0">
                <a:latin typeface="Courier"/>
              </a:rPr>
              <a:t> @MinSalary </a:t>
            </a:r>
            <a:r>
              <a:rPr sz="1400" dirty="0">
                <a:solidFill>
                  <a:srgbClr val="204A87"/>
                </a:solidFill>
                <a:latin typeface="Courier"/>
              </a:rPr>
              <a:t>DECIMAL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2</a:t>
            </a:r>
            <a:r>
              <a:rPr sz="1400" dirty="0">
                <a:latin typeface="Courier"/>
              </a:rPr>
              <a:t>);</a:t>
            </a:r>
          </a:p>
          <a:p>
            <a:pPr lvl="0"/>
            <a:r>
              <a:rPr sz="1800" dirty="0">
                <a:latin typeface="Courier"/>
              </a:rPr>
              <a:t>@DeptName</a:t>
            </a:r>
            <a:r>
              <a:rPr sz="1800" dirty="0"/>
              <a:t> is a variable of type </a:t>
            </a:r>
            <a:r>
              <a:rPr sz="1800" dirty="0">
                <a:latin typeface="Courier"/>
              </a:rPr>
              <a:t>VARCHAR</a:t>
            </a:r>
            <a:r>
              <a:rPr sz="1800" dirty="0"/>
              <a:t> that will hold the name of the department.</a:t>
            </a:r>
          </a:p>
          <a:p>
            <a:pPr lvl="0"/>
            <a:r>
              <a:rPr sz="1800" dirty="0">
                <a:latin typeface="Courier"/>
              </a:rPr>
              <a:t>@MinSalary</a:t>
            </a:r>
            <a:r>
              <a:rPr sz="1800" dirty="0"/>
              <a:t> is a variable of type </a:t>
            </a:r>
            <a:r>
              <a:rPr sz="1800" dirty="0">
                <a:latin typeface="Courier"/>
              </a:rPr>
              <a:t>DECIMAL</a:t>
            </a:r>
            <a:r>
              <a:rPr sz="1800" dirty="0"/>
              <a:t> that will hold the minimum salary threshold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5C18BE-9B89-8BBB-452B-F2F8E0EE2D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342BE-6E50-ADA5-285B-36DA8604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4048E57-7C3E-FD42-B536-578F445307A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3ED1-75B8-5547-4B43-65D16B16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23D6-CA4D-6EBC-3E9A-151768A66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Step 2: Assign Values to Variables</a:t>
            </a:r>
          </a:p>
          <a:p>
            <a:pPr lvl="0"/>
            <a:r>
              <a:rPr sz="1800" dirty="0"/>
              <a:t>Next, we assign values to these variables. These values will be used in the query to filter the results.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400" dirty="0">
                <a:latin typeface="Courier"/>
              </a:rPr>
              <a:t> @DeptName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'sales'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400" dirty="0">
                <a:latin typeface="Courier"/>
              </a:rPr>
              <a:t> @MinSalary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1500.00</a:t>
            </a:r>
            <a:r>
              <a:rPr sz="1400" dirty="0">
                <a:latin typeface="Courier"/>
              </a:rPr>
              <a:t>;</a:t>
            </a:r>
          </a:p>
          <a:p>
            <a:pPr lvl="0"/>
            <a:r>
              <a:rPr sz="1800" dirty="0"/>
              <a:t>We set </a:t>
            </a:r>
            <a:r>
              <a:rPr sz="1800" dirty="0">
                <a:latin typeface="Courier"/>
              </a:rPr>
              <a:t>@DeptName</a:t>
            </a:r>
            <a:r>
              <a:rPr sz="1800" dirty="0"/>
              <a:t> to ‘sales’ to filter employees who work in the Sales department.</a:t>
            </a:r>
          </a:p>
          <a:p>
            <a:pPr lvl="0"/>
            <a:r>
              <a:rPr sz="1800" dirty="0"/>
              <a:t>We set </a:t>
            </a:r>
            <a:r>
              <a:rPr sz="1800" dirty="0">
                <a:latin typeface="Courier"/>
              </a:rPr>
              <a:t>@MinSalary</a:t>
            </a:r>
            <a:r>
              <a:rPr sz="1800" dirty="0"/>
              <a:t> to 1500.00 to filter employees who earn more than $1,500.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D62C5D-5CF7-D1D8-1443-A8D67FE482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F77A5-A226-0D78-32ED-F1C690E01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91A21A6-880B-0586-2DD7-F35285E31C5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7425-AC94-4A91-86D1-98384012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85AA-C182-4ACA-6990-EF41D6EF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69028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Step 3: Use Variables in a SELECT Statement</a:t>
            </a:r>
          </a:p>
          <a:p>
            <a:pPr lvl="0"/>
            <a:r>
              <a:rPr sz="1800" dirty="0"/>
              <a:t>We use a SELECT statement to retrieve employee details from the emp and dept tables, using the variables </a:t>
            </a:r>
            <a:r>
              <a:rPr sz="1800" dirty="0">
                <a:latin typeface="Courier"/>
              </a:rPr>
              <a:t>@DeptName</a:t>
            </a:r>
            <a:r>
              <a:rPr sz="1800" dirty="0"/>
              <a:t> and </a:t>
            </a:r>
            <a:r>
              <a:rPr sz="1800" dirty="0">
                <a:latin typeface="Courier"/>
              </a:rPr>
              <a:t>@MinSalary</a:t>
            </a:r>
            <a:r>
              <a:rPr sz="1800" dirty="0"/>
              <a:t> with the </a:t>
            </a:r>
            <a:r>
              <a:rPr sz="1800" dirty="0">
                <a:latin typeface="Courier"/>
              </a:rPr>
              <a:t>WHERE</a:t>
            </a:r>
            <a:r>
              <a:rPr sz="1800" dirty="0"/>
              <a:t> clause to apply the filters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e.ename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e.job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e.sal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INNER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JOIN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 d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e.deptno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d.deptno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d.dname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@DeptName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@MinSalary;</a:t>
            </a:r>
          </a:p>
          <a:p>
            <a:pPr lvl="0"/>
            <a:r>
              <a:rPr sz="1800" dirty="0"/>
              <a:t>We join the emp and dept tables using an </a:t>
            </a:r>
            <a:r>
              <a:rPr sz="1800" dirty="0">
                <a:latin typeface="Courier"/>
              </a:rPr>
              <a:t>INNER JOIN</a:t>
            </a:r>
            <a:r>
              <a:rPr sz="1800" dirty="0"/>
              <a:t> on the </a:t>
            </a:r>
            <a:r>
              <a:rPr sz="1800" dirty="0" err="1"/>
              <a:t>deptno</a:t>
            </a:r>
            <a:r>
              <a:rPr sz="1800" dirty="0"/>
              <a:t> field to associate employees with their departments.</a:t>
            </a:r>
          </a:p>
          <a:p>
            <a:pPr lvl="0"/>
            <a:r>
              <a:rPr sz="1800" dirty="0"/>
              <a:t>We use the </a:t>
            </a:r>
            <a:r>
              <a:rPr sz="1800" dirty="0">
                <a:latin typeface="Courier"/>
              </a:rPr>
              <a:t>WHERE</a:t>
            </a:r>
            <a:r>
              <a:rPr sz="1800" dirty="0"/>
              <a:t> clause to filter the results based on the department name (</a:t>
            </a:r>
            <a:r>
              <a:rPr sz="1800" dirty="0" err="1"/>
              <a:t>d.dname</a:t>
            </a:r>
            <a:r>
              <a:rPr sz="1800" dirty="0"/>
              <a:t> = @DeptName) and the minimum salary (</a:t>
            </a:r>
            <a:r>
              <a:rPr sz="1800" dirty="0" err="1"/>
              <a:t>e.sal</a:t>
            </a:r>
            <a:r>
              <a:rPr sz="1800" dirty="0"/>
              <a:t> &gt; @MinSalary).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0E7DC6-EF9D-0589-DF20-72496D70841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9FB54-BD03-B810-EB19-48B7E499B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D258C2-A3D2-8D4D-6026-647523F5000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95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2DFC-E817-65EB-0E5B-D1BE7E78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C1F0-C19E-C6D7-1CEF-BC77CF3F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23294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&gt; operator is used to compare the employee’s salary with the minimum salary stored in the @MinSalary variable.</a:t>
            </a:r>
          </a:p>
          <a:p>
            <a:pPr lvl="0"/>
            <a:r>
              <a:rPr sz="1800" dirty="0"/>
              <a:t>This query will return a list of employees who work in the Sales department and whose salary is greater than $1,500, displaying their names, job titles, and salaries.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302B9E-62D4-8479-29B5-0908013319F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5F849-068F-9EA3-7FF2-EA95FE619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D98228-D953-AB3D-14A5-01A80EF7573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41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Arithmetic Operators</a:t>
            </a:r>
          </a:p>
          <a:p>
            <a:pPr lvl="0"/>
            <a:r>
              <a:rPr sz="1800" b="1" dirty="0"/>
              <a:t>Addition</a:t>
            </a:r>
            <a:r>
              <a:rPr sz="1800" dirty="0"/>
              <a:t>: Adds two numbers</a:t>
            </a:r>
          </a:p>
          <a:p>
            <a:pPr lvl="0" indent="0">
              <a:buNone/>
            </a:pPr>
            <a:r>
              <a:rPr sz="1800" dirty="0">
                <a:latin typeface="Courier"/>
              </a:rPr>
              <a:t>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-- Result: 15</a:t>
            </a:r>
          </a:p>
          <a:p>
            <a:pPr lvl="0"/>
            <a:r>
              <a:rPr sz="1800" b="1" dirty="0"/>
              <a:t>Multiplication</a:t>
            </a:r>
            <a:r>
              <a:rPr sz="1800" dirty="0"/>
              <a:t>: Multiplies one number times another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-- Result: 50</a:t>
            </a:r>
          </a:p>
          <a:p>
            <a:pPr lvl="0"/>
            <a:r>
              <a:rPr sz="1800" b="1" dirty="0"/>
              <a:t>Division</a:t>
            </a:r>
            <a:r>
              <a:rPr sz="1800" dirty="0"/>
              <a:t>: Divides one number by another.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/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-- Result: 2</a:t>
            </a:r>
          </a:p>
          <a:p>
            <a:pPr lvl="0"/>
            <a:r>
              <a:rPr sz="1800" b="1" dirty="0"/>
              <a:t>Modulo</a:t>
            </a:r>
            <a:r>
              <a:rPr sz="1800" dirty="0"/>
              <a:t>: Returns the remainder of one number divided by another.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%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-- Result: 1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335A2-20EA-6CD8-D941-DCA7240B3C9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AAB63-E76D-8303-907C-4C346A26D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267D6D-2C11-F3B8-8297-A207307E463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2EB9-2EF9-82D4-358F-28690657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EB16-F66A-C659-D655-076808E0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690286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Comparison Operators :</a:t>
            </a:r>
          </a:p>
          <a:p>
            <a:pPr lvl="0"/>
            <a:r>
              <a:rPr sz="1800" b="1" dirty="0"/>
              <a:t>Equal to</a:t>
            </a:r>
            <a:r>
              <a:rPr sz="1800" dirty="0"/>
              <a:t>: Checks if two values are equal.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</a:p>
          <a:p>
            <a:pPr lvl="0"/>
            <a:r>
              <a:rPr sz="1800" b="1" dirty="0"/>
              <a:t>Greater than</a:t>
            </a:r>
            <a:r>
              <a:rPr sz="1800" dirty="0"/>
              <a:t>: Checks if the left value is greater than the right value.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</a:p>
          <a:p>
            <a:pPr lvl="0"/>
            <a:r>
              <a:rPr sz="1800" b="1" dirty="0"/>
              <a:t>Less than</a:t>
            </a:r>
            <a:r>
              <a:rPr sz="1800" dirty="0"/>
              <a:t>: Checks if the left value is less than the right value.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</a:t>
            </a:r>
          </a:p>
          <a:p>
            <a:pPr lvl="0"/>
            <a:r>
              <a:rPr sz="1800" b="1" dirty="0"/>
              <a:t>Greater than or equal to</a:t>
            </a:r>
            <a:r>
              <a:rPr sz="1800" dirty="0"/>
              <a:t>: Checks if the left value is greater than or equal to the right value.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040A7C-6967-DEFE-5DCE-BA62F3752C6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EA4D8-A140-EFAD-C488-88942BA1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68CB206-5C8C-5399-178C-5AF62E33ADD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15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7D7C-77F1-BECA-E7A4-ECD4A694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D284-468D-77FC-EAB0-C94EF5C84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632686"/>
          </a:xfrm>
        </p:spPr>
        <p:txBody>
          <a:bodyPr>
            <a:normAutofit/>
          </a:bodyPr>
          <a:lstStyle/>
          <a:p>
            <a:pPr lvl="0"/>
            <a:r>
              <a:rPr sz="1800" b="1" dirty="0"/>
              <a:t>Less than or equal to</a:t>
            </a:r>
            <a:r>
              <a:rPr sz="1800" dirty="0"/>
              <a:t>: Checks if the left value is less than or equal to the right value.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 </a:t>
            </a:r>
          </a:p>
          <a:p>
            <a:pPr lvl="0"/>
            <a:r>
              <a:rPr sz="1800" b="1" dirty="0"/>
              <a:t>&lt;&gt; or != (Not equal to)</a:t>
            </a:r>
            <a:r>
              <a:rPr sz="1800" dirty="0"/>
              <a:t>: Checks if two values are not equal.</a:t>
            </a:r>
          </a:p>
          <a:p>
            <a:pPr lvl="0" indent="0">
              <a:buNone/>
            </a:pP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!=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'True'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'False'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Result;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7980FB-5313-1BBF-9EAA-2C700AD7ED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07C51-229C-A199-C373-DB837C14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C2281E2-637E-F252-D293-2C7C6632589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37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7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On-screen Show (16:9)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2025-08-12T10:14:37Z</dcterms:created>
  <dcterms:modified xsi:type="dcterms:W3CDTF">2025-08-12T10:22:59Z</dcterms:modified>
</cp:coreProperties>
</file>